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664" r:id="rId2"/>
  </p:sldMasterIdLst>
  <p:notesMasterIdLst>
    <p:notesMasterId r:id="rId51"/>
  </p:notesMasterIdLst>
  <p:sldIdLst>
    <p:sldId id="1177" r:id="rId3"/>
    <p:sldId id="1105" r:id="rId4"/>
    <p:sldId id="1106" r:id="rId5"/>
    <p:sldId id="1110" r:id="rId6"/>
    <p:sldId id="1111" r:id="rId7"/>
    <p:sldId id="1154" r:id="rId8"/>
    <p:sldId id="1138" r:id="rId9"/>
    <p:sldId id="1109" r:id="rId10"/>
    <p:sldId id="1153" r:id="rId11"/>
    <p:sldId id="1113" r:id="rId12"/>
    <p:sldId id="1140" r:id="rId13"/>
    <p:sldId id="1115" r:id="rId14"/>
    <p:sldId id="1116" r:id="rId15"/>
    <p:sldId id="1129" r:id="rId16"/>
    <p:sldId id="1135" r:id="rId17"/>
    <p:sldId id="1123" r:id="rId18"/>
    <p:sldId id="1139" r:id="rId19"/>
    <p:sldId id="1117" r:id="rId20"/>
    <p:sldId id="1118" r:id="rId21"/>
    <p:sldId id="1124" r:id="rId22"/>
    <p:sldId id="1130" r:id="rId23"/>
    <p:sldId id="1131" r:id="rId24"/>
    <p:sldId id="1141" r:id="rId25"/>
    <p:sldId id="1155" r:id="rId26"/>
    <p:sldId id="1156" r:id="rId27"/>
    <p:sldId id="1157" r:id="rId28"/>
    <p:sldId id="1158" r:id="rId29"/>
    <p:sldId id="1159" r:id="rId30"/>
    <p:sldId id="1160" r:id="rId31"/>
    <p:sldId id="1161" r:id="rId32"/>
    <p:sldId id="1162" r:id="rId33"/>
    <p:sldId id="1163" r:id="rId34"/>
    <p:sldId id="1164" r:id="rId35"/>
    <p:sldId id="1165" r:id="rId36"/>
    <p:sldId id="1166" r:id="rId37"/>
    <p:sldId id="1167" r:id="rId38"/>
    <p:sldId id="1168" r:id="rId39"/>
    <p:sldId id="1169" r:id="rId40"/>
    <p:sldId id="1170" r:id="rId41"/>
    <p:sldId id="1171" r:id="rId42"/>
    <p:sldId id="1172" r:id="rId43"/>
    <p:sldId id="1173" r:id="rId44"/>
    <p:sldId id="1174" r:id="rId45"/>
    <p:sldId id="1175" r:id="rId46"/>
    <p:sldId id="1176" r:id="rId47"/>
    <p:sldId id="1179" r:id="rId48"/>
    <p:sldId id="1181" r:id="rId49"/>
    <p:sldId id="1182" r:id="rId50"/>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Arial" charset="0"/>
        <a:ea typeface="ＭＳ Ｐゴシック"/>
        <a:cs typeface="ＭＳ Ｐゴシック"/>
      </a:defRPr>
    </a:lvl1pPr>
    <a:lvl2pPr marL="457200" algn="l" rtl="0" fontAlgn="base">
      <a:spcBef>
        <a:spcPct val="0"/>
      </a:spcBef>
      <a:spcAft>
        <a:spcPct val="0"/>
      </a:spcAft>
      <a:defRPr sz="2400" kern="1200">
        <a:solidFill>
          <a:schemeClr val="tx1"/>
        </a:solidFill>
        <a:latin typeface="Arial" charset="0"/>
        <a:ea typeface="ＭＳ Ｐゴシック"/>
        <a:cs typeface="ＭＳ Ｐゴシック"/>
      </a:defRPr>
    </a:lvl2pPr>
    <a:lvl3pPr marL="914400" algn="l" rtl="0" fontAlgn="base">
      <a:spcBef>
        <a:spcPct val="0"/>
      </a:spcBef>
      <a:spcAft>
        <a:spcPct val="0"/>
      </a:spcAft>
      <a:defRPr sz="2400" kern="1200">
        <a:solidFill>
          <a:schemeClr val="tx1"/>
        </a:solidFill>
        <a:latin typeface="Arial" charset="0"/>
        <a:ea typeface="ＭＳ Ｐゴシック"/>
        <a:cs typeface="ＭＳ Ｐゴシック"/>
      </a:defRPr>
    </a:lvl3pPr>
    <a:lvl4pPr marL="1371600" algn="l" rtl="0" fontAlgn="base">
      <a:spcBef>
        <a:spcPct val="0"/>
      </a:spcBef>
      <a:spcAft>
        <a:spcPct val="0"/>
      </a:spcAft>
      <a:defRPr sz="2400" kern="1200">
        <a:solidFill>
          <a:schemeClr val="tx1"/>
        </a:solidFill>
        <a:latin typeface="Arial" charset="0"/>
        <a:ea typeface="ＭＳ Ｐゴシック"/>
        <a:cs typeface="ＭＳ Ｐゴシック"/>
      </a:defRPr>
    </a:lvl4pPr>
    <a:lvl5pPr marL="1828800" algn="l" rtl="0" fontAlgn="base">
      <a:spcBef>
        <a:spcPct val="0"/>
      </a:spcBef>
      <a:spcAft>
        <a:spcPct val="0"/>
      </a:spcAft>
      <a:defRPr sz="2400" kern="1200">
        <a:solidFill>
          <a:schemeClr val="tx1"/>
        </a:solidFill>
        <a:latin typeface="Arial" charset="0"/>
        <a:ea typeface="ＭＳ Ｐゴシック"/>
        <a:cs typeface="ＭＳ Ｐゴシック"/>
      </a:defRPr>
    </a:lvl5pPr>
    <a:lvl6pPr marL="2286000" algn="l" defTabSz="914400" rtl="0" eaLnBrk="1" latinLnBrk="0" hangingPunct="1">
      <a:defRPr sz="2400" kern="1200">
        <a:solidFill>
          <a:schemeClr val="tx1"/>
        </a:solidFill>
        <a:latin typeface="Arial" charset="0"/>
        <a:ea typeface="ＭＳ Ｐゴシック"/>
        <a:cs typeface="ＭＳ Ｐゴシック"/>
      </a:defRPr>
    </a:lvl6pPr>
    <a:lvl7pPr marL="2743200" algn="l" defTabSz="914400" rtl="0" eaLnBrk="1" latinLnBrk="0" hangingPunct="1">
      <a:defRPr sz="2400" kern="1200">
        <a:solidFill>
          <a:schemeClr val="tx1"/>
        </a:solidFill>
        <a:latin typeface="Arial" charset="0"/>
        <a:ea typeface="ＭＳ Ｐゴシック"/>
        <a:cs typeface="ＭＳ Ｐゴシック"/>
      </a:defRPr>
    </a:lvl7pPr>
    <a:lvl8pPr marL="3200400" algn="l" defTabSz="914400" rtl="0" eaLnBrk="1" latinLnBrk="0" hangingPunct="1">
      <a:defRPr sz="2400" kern="1200">
        <a:solidFill>
          <a:schemeClr val="tx1"/>
        </a:solidFill>
        <a:latin typeface="Arial" charset="0"/>
        <a:ea typeface="ＭＳ Ｐゴシック"/>
        <a:cs typeface="ＭＳ Ｐゴシック"/>
      </a:defRPr>
    </a:lvl8pPr>
    <a:lvl9pPr marL="3657600" algn="l" defTabSz="914400" rtl="0" eaLnBrk="1" latinLnBrk="0" hangingPunct="1">
      <a:defRPr sz="2400" kern="1200">
        <a:solidFill>
          <a:schemeClr val="tx1"/>
        </a:solidFill>
        <a:latin typeface="Arial" charset="0"/>
        <a:ea typeface="ＭＳ Ｐゴシック"/>
        <a:cs typeface="ＭＳ Ｐゴシック"/>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FF"/>
    <a:srgbClr val="66CCFF"/>
    <a:srgbClr val="CCFFFF"/>
    <a:srgbClr val="990099"/>
    <a:srgbClr val="CCFF99"/>
    <a:srgbClr val="333399"/>
    <a:srgbClr val="CC0000"/>
    <a:srgbClr val="FFCC6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5" d="100"/>
          <a:sy n="85" d="100"/>
        </p:scale>
        <p:origin x="-18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41" d="100"/>
          <a:sy n="41" d="100"/>
        </p:scale>
        <p:origin x="-1470" y="-120"/>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5" Type="http://schemas.openxmlformats.org/officeDocument/2006/relationships/image" Target="../media/image25.wmf"/><Relationship Id="rId4"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mn-ea"/>
                <a:cs typeface="+mn-cs"/>
              </a:defRPr>
            </a:lvl1pPr>
          </a:lstStyle>
          <a:p>
            <a:pPr>
              <a:defRPr/>
            </a:pPr>
            <a:endParaRPr lang="en-US"/>
          </a:p>
        </p:txBody>
      </p:sp>
      <p:sp>
        <p:nvSpPr>
          <p:cNvPr id="2560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mn-ea"/>
                <a:cs typeface="+mn-cs"/>
              </a:defRPr>
            </a:lvl1pPr>
          </a:lstStyle>
          <a:p>
            <a:pPr>
              <a:defRPr/>
            </a:pPr>
            <a:endParaRPr lang="en-US"/>
          </a:p>
        </p:txBody>
      </p:sp>
      <p:sp>
        <p:nvSpPr>
          <p:cNvPr id="184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560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60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mn-ea"/>
                <a:cs typeface="+mn-cs"/>
              </a:defRPr>
            </a:lvl1pPr>
          </a:lstStyle>
          <a:p>
            <a:pPr>
              <a:defRPr/>
            </a:pPr>
            <a:endParaRPr lang="en-US"/>
          </a:p>
        </p:txBody>
      </p:sp>
      <p:sp>
        <p:nvSpPr>
          <p:cNvPr id="2560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mn-ea"/>
                <a:cs typeface="+mn-cs"/>
              </a:defRPr>
            </a:lvl1pPr>
          </a:lstStyle>
          <a:p>
            <a:pPr>
              <a:defRPr/>
            </a:pPr>
            <a:fld id="{3B0C8F29-4A37-4084-9011-DAC0DC4716AE}"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a:ln/>
        </p:spPr>
      </p:sp>
      <p:sp>
        <p:nvSpPr>
          <p:cNvPr id="20482" name="Notes Placeholder 2"/>
          <p:cNvSpPr>
            <a:spLocks noGrp="1"/>
          </p:cNvSpPr>
          <p:nvPr>
            <p:ph type="body" idx="1"/>
          </p:nvPr>
        </p:nvSpPr>
        <p:spPr>
          <a:noFill/>
          <a:ln/>
        </p:spPr>
        <p:txBody>
          <a:bodyPr/>
          <a:lstStyle/>
          <a:p>
            <a:pPr eaLnBrk="1" hangingPunct="1"/>
            <a:r>
              <a:rPr lang="en-US" smtClean="0">
                <a:ea typeface="ＭＳ Ｐゴシック"/>
                <a:cs typeface="ＭＳ Ｐゴシック"/>
              </a:rPr>
              <a:t>Alternate to slide 1</a:t>
            </a:r>
          </a:p>
        </p:txBody>
      </p:sp>
      <p:sp>
        <p:nvSpPr>
          <p:cNvPr id="20483" name="Slide Number Placeholder 3"/>
          <p:cNvSpPr>
            <a:spLocks noGrp="1"/>
          </p:cNvSpPr>
          <p:nvPr>
            <p:ph type="sldNum" sz="quarter" idx="5"/>
          </p:nvPr>
        </p:nvSpPr>
        <p:spPr>
          <a:noFill/>
        </p:spPr>
        <p:txBody>
          <a:bodyPr/>
          <a:lstStyle/>
          <a:p>
            <a:fld id="{6EDF0CC4-A358-408C-A6B7-F233B04E0106}" type="slidenum">
              <a:rPr lang="en-US" smtClean="0">
                <a:solidFill>
                  <a:srgbClr val="000000"/>
                </a:solidFill>
                <a:ea typeface="ＭＳ Ｐゴシック"/>
                <a:cs typeface="ＭＳ Ｐゴシック"/>
              </a:rPr>
              <a:pPr/>
              <a:t>1</a:t>
            </a:fld>
            <a:endParaRPr lang="en-US" smtClean="0">
              <a:solidFill>
                <a:srgbClr val="000000"/>
              </a:solidFill>
              <a:ea typeface="ＭＳ Ｐゴシック"/>
              <a:cs typeface="ＭＳ Ｐゴシック"/>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Rot="1" noChangeAspect="1" noChangeArrowheads="1" noTextEdit="1"/>
          </p:cNvSpPr>
          <p:nvPr>
            <p:ph type="sldImg"/>
          </p:nvPr>
        </p:nvSpPr>
        <p:spPr>
          <a:ln/>
        </p:spPr>
      </p:sp>
      <p:sp>
        <p:nvSpPr>
          <p:cNvPr id="22530"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Rot="1" noChangeAspect="1" noChangeArrowheads="1" noTextEdit="1"/>
          </p:cNvSpPr>
          <p:nvPr>
            <p:ph type="sldImg"/>
          </p:nvPr>
        </p:nvSpPr>
        <p:spPr>
          <a:ln/>
        </p:spPr>
      </p:sp>
      <p:sp>
        <p:nvSpPr>
          <p:cNvPr id="24578"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Rot="1" noChangeAspect="1" noChangeArrowheads="1" noTextEdit="1"/>
          </p:cNvSpPr>
          <p:nvPr>
            <p:ph type="sldImg"/>
          </p:nvPr>
        </p:nvSpPr>
        <p:spPr>
          <a:ln/>
        </p:spPr>
      </p:sp>
      <p:sp>
        <p:nvSpPr>
          <p:cNvPr id="26626"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Rot="1" noChangeAspect="1" noChangeArrowheads="1" noTextEdit="1"/>
          </p:cNvSpPr>
          <p:nvPr>
            <p:ph type="sldImg"/>
          </p:nvPr>
        </p:nvSpPr>
        <p:spPr>
          <a:ln/>
        </p:spPr>
      </p:sp>
      <p:sp>
        <p:nvSpPr>
          <p:cNvPr id="28674"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Rot="1" noChangeAspect="1" noChangeArrowheads="1" noTextEdit="1"/>
          </p:cNvSpPr>
          <p:nvPr>
            <p:ph type="sldImg"/>
          </p:nvPr>
        </p:nvSpPr>
        <p:spPr>
          <a:ln/>
        </p:spPr>
      </p:sp>
      <p:sp>
        <p:nvSpPr>
          <p:cNvPr id="45058"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Rot="1" noChangeAspect="1" noChangeArrowheads="1" noTextEdit="1"/>
          </p:cNvSpPr>
          <p:nvPr>
            <p:ph type="sldImg"/>
          </p:nvPr>
        </p:nvSpPr>
        <p:spPr>
          <a:ln/>
        </p:spPr>
      </p:sp>
      <p:sp>
        <p:nvSpPr>
          <p:cNvPr id="50178"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p:cNvSpPr>
          <p:nvPr>
            <p:ph type="sldImg"/>
          </p:nvPr>
        </p:nvSpPr>
        <p:spPr>
          <a:ln/>
        </p:spPr>
      </p:sp>
      <p:sp>
        <p:nvSpPr>
          <p:cNvPr id="36866" name="Notes Placeholder 2"/>
          <p:cNvSpPr>
            <a:spLocks noGrp="1"/>
          </p:cNvSpPr>
          <p:nvPr>
            <p:ph type="body" idx="1"/>
          </p:nvPr>
        </p:nvSpPr>
        <p:spPr>
          <a:noFill/>
          <a:ln/>
        </p:spPr>
        <p:txBody>
          <a:bodyPr/>
          <a:lstStyle/>
          <a:p>
            <a:r>
              <a:rPr lang="en-US" smtClean="0">
                <a:ea typeface="ＭＳ Ｐゴシック"/>
                <a:cs typeface="ＭＳ Ｐゴシック"/>
              </a:rPr>
              <a:t>Any attempt to modify the 3.2, the third seedling for 10,000 nematodes whitens the background.</a:t>
            </a:r>
          </a:p>
        </p:txBody>
      </p:sp>
      <p:sp>
        <p:nvSpPr>
          <p:cNvPr id="36867" name="Slide Number Placeholder 3"/>
          <p:cNvSpPr>
            <a:spLocks noGrp="1"/>
          </p:cNvSpPr>
          <p:nvPr>
            <p:ph type="sldNum" sz="quarter" idx="5"/>
          </p:nvPr>
        </p:nvSpPr>
        <p:spPr>
          <a:noFill/>
        </p:spPr>
        <p:txBody>
          <a:bodyPr/>
          <a:lstStyle/>
          <a:p>
            <a:fld id="{764DBE61-CD82-4D87-B27C-8339B4151EAD}" type="slidenum">
              <a:rPr lang="en-US" smtClean="0">
                <a:ea typeface="ＭＳ Ｐゴシック"/>
                <a:cs typeface="ＭＳ Ｐゴシック"/>
              </a:rPr>
              <a:pPr/>
              <a:t>8</a:t>
            </a:fld>
            <a:endParaRPr lang="en-US" smtClean="0">
              <a:ea typeface="ＭＳ Ｐゴシック"/>
              <a:cs typeface="ＭＳ Ｐゴシック"/>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Rot="1" noChangeAspect="1" noChangeArrowheads="1" noTextEdit="1"/>
          </p:cNvSpPr>
          <p:nvPr>
            <p:ph type="sldImg"/>
          </p:nvPr>
        </p:nvSpPr>
        <p:spPr>
          <a:ln/>
        </p:spPr>
      </p:sp>
      <p:sp>
        <p:nvSpPr>
          <p:cNvPr id="38914"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Rot="1" noChangeAspect="1" noChangeArrowheads="1" noTextEdit="1"/>
          </p:cNvSpPr>
          <p:nvPr>
            <p:ph type="sldImg"/>
          </p:nvPr>
        </p:nvSpPr>
        <p:spPr>
          <a:ln/>
        </p:spPr>
      </p:sp>
      <p:sp>
        <p:nvSpPr>
          <p:cNvPr id="73730"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Rot="1" noChangeAspect="1" noChangeArrowheads="1" noTextEdit="1"/>
          </p:cNvSpPr>
          <p:nvPr>
            <p:ph type="sldImg"/>
          </p:nvPr>
        </p:nvSpPr>
        <p:spPr>
          <a:ln/>
        </p:spPr>
      </p:sp>
      <p:sp>
        <p:nvSpPr>
          <p:cNvPr id="46082"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Rot="1" noChangeAspect="1" noChangeArrowheads="1" noTextEdit="1"/>
          </p:cNvSpPr>
          <p:nvPr>
            <p:ph type="sldImg"/>
          </p:nvPr>
        </p:nvSpPr>
        <p:spPr>
          <a:ln/>
        </p:spPr>
      </p:sp>
      <p:sp>
        <p:nvSpPr>
          <p:cNvPr id="48130"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noRot="1" noChangeAspect="1" noChangeArrowheads="1" noTextEdit="1"/>
          </p:cNvSpPr>
          <p:nvPr>
            <p:ph type="sldImg"/>
          </p:nvPr>
        </p:nvSpPr>
        <p:spPr>
          <a:ln/>
        </p:spPr>
      </p:sp>
      <p:sp>
        <p:nvSpPr>
          <p:cNvPr id="91138"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Rot="1" noChangeAspect="1" noChangeArrowheads="1" noTextEdit="1"/>
          </p:cNvSpPr>
          <p:nvPr>
            <p:ph type="sldImg"/>
          </p:nvPr>
        </p:nvSpPr>
        <p:spPr>
          <a:ln/>
        </p:spPr>
      </p:sp>
      <p:sp>
        <p:nvSpPr>
          <p:cNvPr id="53250"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Rot="1" noChangeAspect="1" noChangeArrowheads="1" noTextEdit="1"/>
          </p:cNvSpPr>
          <p:nvPr>
            <p:ph type="sldImg"/>
          </p:nvPr>
        </p:nvSpPr>
        <p:spPr>
          <a:ln/>
        </p:spPr>
      </p:sp>
      <p:sp>
        <p:nvSpPr>
          <p:cNvPr id="103426"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Rot="1" noChangeAspect="1" noChangeArrowheads="1" noTextEdit="1"/>
          </p:cNvSpPr>
          <p:nvPr>
            <p:ph type="sldImg"/>
          </p:nvPr>
        </p:nvSpPr>
        <p:spPr>
          <a:ln/>
        </p:spPr>
      </p:sp>
      <p:sp>
        <p:nvSpPr>
          <p:cNvPr id="59394"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Rot="1" noChangeAspect="1" noChangeArrowheads="1" noTextEdit="1"/>
          </p:cNvSpPr>
          <p:nvPr>
            <p:ph type="sldImg"/>
          </p:nvPr>
        </p:nvSpPr>
        <p:spPr>
          <a:ln/>
        </p:spPr>
      </p:sp>
      <p:sp>
        <p:nvSpPr>
          <p:cNvPr id="61442"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Rot="1" noChangeAspect="1" noChangeArrowheads="1" noTextEdit="1"/>
          </p:cNvSpPr>
          <p:nvPr>
            <p:ph type="sldImg"/>
          </p:nvPr>
        </p:nvSpPr>
        <p:spPr>
          <a:ln/>
        </p:spPr>
      </p:sp>
      <p:sp>
        <p:nvSpPr>
          <p:cNvPr id="63490"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Rot="1" noChangeAspect="1" noChangeArrowheads="1" noTextEdit="1"/>
          </p:cNvSpPr>
          <p:nvPr>
            <p:ph type="sldImg"/>
          </p:nvPr>
        </p:nvSpPr>
        <p:spPr>
          <a:ln/>
        </p:spPr>
      </p:sp>
      <p:sp>
        <p:nvSpPr>
          <p:cNvPr id="65538"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Rot="1" noChangeAspect="1" noChangeArrowheads="1" noTextEdit="1"/>
          </p:cNvSpPr>
          <p:nvPr>
            <p:ph type="sldImg"/>
          </p:nvPr>
        </p:nvSpPr>
        <p:spPr>
          <a:ln/>
        </p:spPr>
      </p:sp>
      <p:sp>
        <p:nvSpPr>
          <p:cNvPr id="67586"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Rot="1" noChangeAspect="1" noChangeArrowheads="1" noTextEdit="1"/>
          </p:cNvSpPr>
          <p:nvPr>
            <p:ph type="sldImg"/>
          </p:nvPr>
        </p:nvSpPr>
        <p:spPr>
          <a:ln/>
        </p:spPr>
      </p:sp>
      <p:sp>
        <p:nvSpPr>
          <p:cNvPr id="69634"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Rot="1" noChangeAspect="1" noChangeArrowheads="1" noTextEdit="1"/>
          </p:cNvSpPr>
          <p:nvPr>
            <p:ph type="sldImg"/>
          </p:nvPr>
        </p:nvSpPr>
        <p:spPr>
          <a:ln/>
        </p:spPr>
      </p:sp>
      <p:sp>
        <p:nvSpPr>
          <p:cNvPr id="71682"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Rot="1" noChangeAspect="1" noChangeArrowheads="1" noTextEdit="1"/>
          </p:cNvSpPr>
          <p:nvPr>
            <p:ph type="sldImg"/>
          </p:nvPr>
        </p:nvSpPr>
        <p:spPr>
          <a:ln/>
        </p:spPr>
      </p:sp>
      <p:sp>
        <p:nvSpPr>
          <p:cNvPr id="74754"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Rot="1" noChangeAspect="1" noChangeArrowheads="1" noTextEdit="1"/>
          </p:cNvSpPr>
          <p:nvPr>
            <p:ph type="sldImg"/>
          </p:nvPr>
        </p:nvSpPr>
        <p:spPr>
          <a:ln/>
        </p:spPr>
      </p:sp>
      <p:sp>
        <p:nvSpPr>
          <p:cNvPr id="76802"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Rot="1" noChangeAspect="1" noChangeArrowheads="1" noTextEdit="1"/>
          </p:cNvSpPr>
          <p:nvPr>
            <p:ph type="sldImg"/>
          </p:nvPr>
        </p:nvSpPr>
        <p:spPr>
          <a:ln/>
        </p:spPr>
      </p:sp>
      <p:sp>
        <p:nvSpPr>
          <p:cNvPr id="78850"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Rot="1" noChangeAspect="1" noChangeArrowheads="1" noTextEdit="1"/>
          </p:cNvSpPr>
          <p:nvPr>
            <p:ph type="sldImg"/>
          </p:nvPr>
        </p:nvSpPr>
        <p:spPr>
          <a:ln/>
        </p:spPr>
      </p:sp>
      <p:sp>
        <p:nvSpPr>
          <p:cNvPr id="80898"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Rot="1" noChangeAspect="1" noChangeArrowheads="1" noTextEdit="1"/>
          </p:cNvSpPr>
          <p:nvPr>
            <p:ph type="sldImg"/>
          </p:nvPr>
        </p:nvSpPr>
        <p:spPr>
          <a:ln/>
        </p:spPr>
      </p:sp>
      <p:sp>
        <p:nvSpPr>
          <p:cNvPr id="82946"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noRot="1" noChangeAspect="1" noChangeArrowheads="1" noTextEdit="1"/>
          </p:cNvSpPr>
          <p:nvPr>
            <p:ph type="sldImg"/>
          </p:nvPr>
        </p:nvSpPr>
        <p:spPr>
          <a:ln/>
        </p:spPr>
      </p:sp>
      <p:sp>
        <p:nvSpPr>
          <p:cNvPr id="84994"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noRot="1" noChangeAspect="1" noChangeArrowheads="1" noTextEdit="1"/>
          </p:cNvSpPr>
          <p:nvPr>
            <p:ph type="sldImg"/>
          </p:nvPr>
        </p:nvSpPr>
        <p:spPr>
          <a:ln/>
        </p:spPr>
      </p:sp>
      <p:sp>
        <p:nvSpPr>
          <p:cNvPr id="87042"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noRot="1" noChangeAspect="1" noChangeArrowheads="1" noTextEdit="1"/>
          </p:cNvSpPr>
          <p:nvPr>
            <p:ph type="sldImg"/>
          </p:nvPr>
        </p:nvSpPr>
        <p:spPr>
          <a:ln/>
        </p:spPr>
      </p:sp>
      <p:sp>
        <p:nvSpPr>
          <p:cNvPr id="89090"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p:cNvSpPr>
            <a:spLocks noGrp="1" noRot="1" noChangeAspect="1" noChangeArrowheads="1" noTextEdit="1"/>
          </p:cNvSpPr>
          <p:nvPr>
            <p:ph type="sldImg"/>
          </p:nvPr>
        </p:nvSpPr>
        <p:spPr>
          <a:ln/>
        </p:spPr>
      </p:sp>
      <p:sp>
        <p:nvSpPr>
          <p:cNvPr id="92162"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a:spLocks noGrp="1" noRot="1" noChangeAspect="1" noChangeArrowheads="1" noTextEdit="1"/>
          </p:cNvSpPr>
          <p:nvPr>
            <p:ph type="sldImg"/>
          </p:nvPr>
        </p:nvSpPr>
        <p:spPr>
          <a:ln/>
        </p:spPr>
      </p:sp>
      <p:sp>
        <p:nvSpPr>
          <p:cNvPr id="95234"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noRot="1" noChangeAspect="1" noChangeArrowheads="1" noTextEdit="1"/>
          </p:cNvSpPr>
          <p:nvPr>
            <p:ph type="sldImg"/>
          </p:nvPr>
        </p:nvSpPr>
        <p:spPr>
          <a:ln/>
        </p:spPr>
      </p:sp>
      <p:sp>
        <p:nvSpPr>
          <p:cNvPr id="97282"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noRot="1" noChangeAspect="1" noChangeArrowheads="1" noTextEdit="1"/>
          </p:cNvSpPr>
          <p:nvPr>
            <p:ph type="sldImg"/>
          </p:nvPr>
        </p:nvSpPr>
        <p:spPr>
          <a:ln/>
        </p:spPr>
      </p:sp>
      <p:sp>
        <p:nvSpPr>
          <p:cNvPr id="99330"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noRot="1" noChangeAspect="1" noChangeArrowheads="1" noTextEdit="1"/>
          </p:cNvSpPr>
          <p:nvPr>
            <p:ph type="sldImg"/>
          </p:nvPr>
        </p:nvSpPr>
        <p:spPr>
          <a:ln/>
        </p:spPr>
      </p:sp>
      <p:sp>
        <p:nvSpPr>
          <p:cNvPr id="101378"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p:cNvSpPr>
            <a:spLocks noGrp="1" noRot="1" noChangeAspect="1" noChangeArrowheads="1" noTextEdit="1"/>
          </p:cNvSpPr>
          <p:nvPr>
            <p:ph type="sldImg"/>
          </p:nvPr>
        </p:nvSpPr>
        <p:spPr>
          <a:ln/>
        </p:spPr>
      </p:sp>
      <p:sp>
        <p:nvSpPr>
          <p:cNvPr id="104450"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noRot="1" noChangeAspect="1" noChangeArrowheads="1" noTextEdit="1"/>
          </p:cNvSpPr>
          <p:nvPr>
            <p:ph type="sldImg"/>
          </p:nvPr>
        </p:nvSpPr>
        <p:spPr>
          <a:ln/>
        </p:spPr>
      </p:sp>
      <p:sp>
        <p:nvSpPr>
          <p:cNvPr id="106498"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a:spLocks noGrp="1" noRot="1" noChangeAspect="1" noChangeArrowheads="1" noTextEdit="1"/>
          </p:cNvSpPr>
          <p:nvPr>
            <p:ph type="sldImg"/>
          </p:nvPr>
        </p:nvSpPr>
        <p:spPr>
          <a:ln/>
        </p:spPr>
      </p:sp>
      <p:sp>
        <p:nvSpPr>
          <p:cNvPr id="108546"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a:spLocks noGrp="1" noRot="1" noChangeAspect="1" noChangeArrowheads="1" noTextEdit="1"/>
          </p:cNvSpPr>
          <p:nvPr>
            <p:ph type="sldImg"/>
          </p:nvPr>
        </p:nvSpPr>
        <p:spPr>
          <a:ln/>
        </p:spPr>
      </p:sp>
      <p:sp>
        <p:nvSpPr>
          <p:cNvPr id="110594"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noRot="1" noChangeAspect="1" noChangeArrowheads="1" noTextEdit="1"/>
          </p:cNvSpPr>
          <p:nvPr>
            <p:ph type="sldImg"/>
          </p:nvPr>
        </p:nvSpPr>
        <p:spPr>
          <a:ln/>
        </p:spPr>
      </p:sp>
      <p:sp>
        <p:nvSpPr>
          <p:cNvPr id="112642"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a:spLocks noGrp="1" noRot="1" noChangeAspect="1" noChangeArrowheads="1" noTextEdit="1"/>
          </p:cNvSpPr>
          <p:nvPr>
            <p:ph type="sldImg"/>
          </p:nvPr>
        </p:nvSpPr>
        <p:spPr>
          <a:ln/>
        </p:spPr>
      </p:sp>
      <p:sp>
        <p:nvSpPr>
          <p:cNvPr id="114690"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p:cNvSpPr>
            <a:spLocks noGrp="1" noRot="1" noChangeAspect="1" noChangeArrowheads="1" noTextEdit="1"/>
          </p:cNvSpPr>
          <p:nvPr>
            <p:ph type="sldImg"/>
          </p:nvPr>
        </p:nvSpPr>
        <p:spPr>
          <a:ln/>
        </p:spPr>
      </p:sp>
      <p:sp>
        <p:nvSpPr>
          <p:cNvPr id="116738"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p:cNvSpPr>
            <a:spLocks noGrp="1" noRot="1" noChangeAspect="1" noChangeArrowheads="1" noTextEdit="1"/>
          </p:cNvSpPr>
          <p:nvPr>
            <p:ph type="sldImg"/>
          </p:nvPr>
        </p:nvSpPr>
        <p:spPr>
          <a:ln/>
        </p:spPr>
      </p:sp>
      <p:sp>
        <p:nvSpPr>
          <p:cNvPr id="118786"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p:cNvSpPr>
            <a:spLocks noGrp="1" noRot="1" noChangeAspect="1" noChangeArrowheads="1" noTextEdit="1"/>
          </p:cNvSpPr>
          <p:nvPr>
            <p:ph type="sldImg"/>
          </p:nvPr>
        </p:nvSpPr>
        <p:spPr>
          <a:ln/>
        </p:spPr>
      </p:sp>
      <p:sp>
        <p:nvSpPr>
          <p:cNvPr id="120834"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p:cNvSpPr>
            <a:spLocks noGrp="1" noRot="1" noChangeAspect="1" noChangeArrowheads="1" noTextEdit="1"/>
          </p:cNvSpPr>
          <p:nvPr>
            <p:ph type="sldImg"/>
          </p:nvPr>
        </p:nvSpPr>
        <p:spPr>
          <a:ln/>
        </p:spPr>
      </p:sp>
      <p:sp>
        <p:nvSpPr>
          <p:cNvPr id="122882" name="Rectangle 3"/>
          <p:cNvSpPr>
            <a:spLocks noGrp="1" noChangeArrowheads="1"/>
          </p:cNvSpPr>
          <p:nvPr>
            <p:ph type="body" idx="1"/>
          </p:nvPr>
        </p:nvSpPr>
        <p:spPr>
          <a:noFill/>
          <a:ln/>
        </p:spPr>
        <p:txBody>
          <a:bodyPr/>
          <a:lstStyle/>
          <a:p>
            <a:endParaRPr lang="en-US" smtClean="0">
              <a:ea typeface="ＭＳ Ｐゴシック"/>
              <a:cs typeface="ＭＳ Ｐゴシック"/>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p:cNvSpPr>
            <a:spLocks noGrp="1" noRot="1" noChangeAspect="1" noTextEdit="1"/>
          </p:cNvSpPr>
          <p:nvPr>
            <p:ph type="sldImg"/>
          </p:nvPr>
        </p:nvSpPr>
        <p:spPr>
          <a:ln/>
        </p:spPr>
      </p:sp>
      <p:sp>
        <p:nvSpPr>
          <p:cNvPr id="130051" name="Notes Placeholder 2"/>
          <p:cNvSpPr>
            <a:spLocks noGrp="1"/>
          </p:cNvSpPr>
          <p:nvPr>
            <p:ph type="body" idx="1"/>
          </p:nvPr>
        </p:nvSpPr>
        <p:spPr>
          <a:noFill/>
          <a:ln/>
        </p:spPr>
        <p:txBody>
          <a:bodyPr/>
          <a:lstStyle/>
          <a:p>
            <a:pPr defTabSz="457200" eaLnBrk="1" hangingPunct="1">
              <a:spcBef>
                <a:spcPct val="0"/>
              </a:spcBef>
            </a:pPr>
            <a:r>
              <a:rPr lang="en-US" smtClean="0">
                <a:ea typeface="ＭＳ Ｐゴシック"/>
                <a:cs typeface="ＭＳ Ｐゴシック"/>
              </a:rPr>
              <a:t>Alternate to slide 16 using </a:t>
            </a:r>
            <a:r>
              <a:rPr lang="en-US" i="1" smtClean="0">
                <a:solidFill>
                  <a:srgbClr val="000090"/>
                </a:solidFill>
                <a:ea typeface="ＭＳ Ｐゴシック"/>
                <a:cs typeface="ＭＳ Ｐゴシック"/>
              </a:rPr>
              <a:t>JMP</a:t>
            </a:r>
            <a:r>
              <a:rPr lang="en-US" smtClean="0">
                <a:solidFill>
                  <a:srgbClr val="000090"/>
                </a:solidFill>
                <a:ea typeface="ＭＳ Ｐゴシック"/>
                <a:cs typeface="ＭＳ Ｐゴシック"/>
              </a:rPr>
              <a:t>.</a:t>
            </a:r>
            <a:endParaRPr lang="en-US" smtClean="0">
              <a:ea typeface="ＭＳ Ｐゴシック"/>
              <a:cs typeface="ＭＳ Ｐゴシック"/>
            </a:endParaRPr>
          </a:p>
        </p:txBody>
      </p:sp>
      <p:sp>
        <p:nvSpPr>
          <p:cNvPr id="61443"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defTabSz="457200">
              <a:defRPr/>
            </a:pPr>
            <a:fld id="{E3468665-9A1C-453C-8627-6712C6C47177}" type="slidenum">
              <a:rPr lang="en-US" sz="1200">
                <a:latin typeface="+mn-lt"/>
                <a:ea typeface="ＭＳ Ｐゴシック" pitchFamily="-72" charset="-128"/>
                <a:cs typeface="ＭＳ Ｐゴシック" pitchFamily="-72" charset="-128"/>
              </a:rPr>
              <a:pPr algn="r" defTabSz="457200">
                <a:defRPr/>
              </a:pPr>
              <a:t>47</a:t>
            </a:fld>
            <a:endParaRPr lang="en-US" sz="1200">
              <a:latin typeface="+mn-lt"/>
              <a:ea typeface="ＭＳ Ｐゴシック" pitchFamily="-72" charset="-128"/>
              <a:cs typeface="ＭＳ Ｐゴシック" pitchFamily="-72" charset="-128"/>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ln/>
        </p:spPr>
      </p:sp>
      <p:sp>
        <p:nvSpPr>
          <p:cNvPr id="132099" name="Notes Placeholder 2"/>
          <p:cNvSpPr>
            <a:spLocks noGrp="1"/>
          </p:cNvSpPr>
          <p:nvPr>
            <p:ph type="body" idx="1"/>
          </p:nvPr>
        </p:nvSpPr>
        <p:spPr>
          <a:noFill/>
          <a:ln/>
        </p:spPr>
        <p:txBody>
          <a:bodyPr/>
          <a:lstStyle/>
          <a:p>
            <a:pPr defTabSz="457200" eaLnBrk="1" hangingPunct="1">
              <a:spcBef>
                <a:spcPct val="0"/>
              </a:spcBef>
            </a:pPr>
            <a:r>
              <a:rPr lang="en-US" smtClean="0">
                <a:ea typeface="ＭＳ Ｐゴシック"/>
                <a:cs typeface="ＭＳ Ｐゴシック"/>
              </a:rPr>
              <a:t>Alternate to slide 39 using </a:t>
            </a:r>
            <a:r>
              <a:rPr lang="en-US" i="1" smtClean="0">
                <a:solidFill>
                  <a:srgbClr val="000090"/>
                </a:solidFill>
                <a:ea typeface="ＭＳ Ｐゴシック"/>
                <a:cs typeface="ＭＳ Ｐゴシック"/>
              </a:rPr>
              <a:t>JMP</a:t>
            </a:r>
            <a:r>
              <a:rPr lang="en-US" smtClean="0">
                <a:solidFill>
                  <a:srgbClr val="000090"/>
                </a:solidFill>
                <a:ea typeface="ＭＳ Ｐゴシック"/>
                <a:cs typeface="ＭＳ Ｐゴシック"/>
              </a:rPr>
              <a:t>. When using JMP for the Bonferroni procedure, the user is required to calculate the comparison wise error rate to achieve the stated experiment wise error rate.</a:t>
            </a:r>
            <a:endParaRPr lang="en-US" smtClean="0">
              <a:ea typeface="ＭＳ Ｐゴシック"/>
              <a:cs typeface="ＭＳ Ｐゴシック"/>
            </a:endParaRPr>
          </a:p>
          <a:p>
            <a:pPr defTabSz="457200" eaLnBrk="1" hangingPunct="1">
              <a:spcBef>
                <a:spcPct val="0"/>
              </a:spcBef>
            </a:pPr>
            <a:endParaRPr lang="en-US" smtClean="0">
              <a:ea typeface="ＭＳ Ｐゴシック"/>
              <a:cs typeface="ＭＳ Ｐゴシック"/>
            </a:endParaRPr>
          </a:p>
        </p:txBody>
      </p:sp>
      <p:sp>
        <p:nvSpPr>
          <p:cNvPr id="67587"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defTabSz="457200">
              <a:defRPr/>
            </a:pPr>
            <a:fld id="{45549F14-3656-43FF-9BD8-65B76E609252}" type="slidenum">
              <a:rPr lang="en-US" sz="1200">
                <a:latin typeface="+mn-lt"/>
                <a:ea typeface="ＭＳ Ｐゴシック" pitchFamily="-72" charset="-128"/>
                <a:cs typeface="ＭＳ Ｐゴシック" pitchFamily="-72" charset="-128"/>
              </a:rPr>
              <a:pPr algn="r" defTabSz="457200">
                <a:defRPr/>
              </a:pPr>
              <a:t>48</a:t>
            </a:fld>
            <a:endParaRPr lang="en-US" sz="1200">
              <a:latin typeface="+mn-lt"/>
              <a:ea typeface="ＭＳ Ｐゴシック" pitchFamily="-72" charset="-128"/>
              <a:cs typeface="ＭＳ Ｐゴシック" pitchFamily="-72"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8575" cap="flat" cmpd="sng">
            <a:solidFill>
              <a:srgbClr val="333399"/>
            </a:solidFill>
            <a:prstDash val="solid"/>
            <a:miter lim="800000"/>
            <a:headEnd/>
            <a:tailEnd/>
          </a:ln>
        </p:spPr>
        <p:txBody>
          <a:bodyPr/>
          <a:lstStyle/>
          <a:p>
            <a:pPr>
              <a:defRPr/>
            </a:pPr>
            <a:endParaRPr lang="en-US" sz="1800">
              <a:ea typeface="+mn-ea"/>
              <a:cs typeface="+mn-cs"/>
            </a:endParaRPr>
          </a:p>
        </p:txBody>
      </p:sp>
      <p:sp>
        <p:nvSpPr>
          <p:cNvPr id="5" name="Line 8"/>
          <p:cNvSpPr>
            <a:spLocks noChangeShapeType="1"/>
          </p:cNvSpPr>
          <p:nvPr/>
        </p:nvSpPr>
        <p:spPr bwMode="auto">
          <a:xfrm>
            <a:off x="1981200" y="3962400"/>
            <a:ext cx="6511925" cy="0"/>
          </a:xfrm>
          <a:prstGeom prst="line">
            <a:avLst/>
          </a:prstGeom>
          <a:noFill/>
          <a:ln w="28575">
            <a:solidFill>
              <a:srgbClr val="333399"/>
            </a:solidFill>
            <a:round/>
            <a:headEnd/>
            <a:tailEnd/>
          </a:ln>
          <a:effectLst/>
        </p:spPr>
        <p:txBody>
          <a:bodyPr/>
          <a:lstStyle/>
          <a:p>
            <a:pPr>
              <a:defRPr/>
            </a:pPr>
            <a:endParaRPr lang="en-US" sz="1800">
              <a:ea typeface="+mn-ea"/>
              <a:cs typeface="+mn-cs"/>
            </a:endParaRPr>
          </a:p>
        </p:txBody>
      </p:sp>
      <p:sp>
        <p:nvSpPr>
          <p:cNvPr id="6146" name="Rectangle 2"/>
          <p:cNvSpPr>
            <a:spLocks noGrp="1" noChangeArrowheads="1"/>
          </p:cNvSpPr>
          <p:nvPr>
            <p:ph type="ctrTitle"/>
          </p:nvPr>
        </p:nvSpPr>
        <p:spPr>
          <a:xfrm>
            <a:off x="914400" y="1524000"/>
            <a:ext cx="7623175" cy="1752600"/>
          </a:xfrm>
        </p:spPr>
        <p:txBody>
          <a:bodyPr/>
          <a:lstStyle>
            <a:lvl1pPr>
              <a:defRPr sz="4800"/>
            </a:lvl1pPr>
          </a:lstStyle>
          <a:p>
            <a:r>
              <a:rPr lang="en-US"/>
              <a:t>Click to edit Master title style</a:t>
            </a:r>
          </a:p>
        </p:txBody>
      </p:sp>
      <p:sp>
        <p:nvSpPr>
          <p:cNvPr id="6147" name="Rectangle 3"/>
          <p:cNvSpPr>
            <a:spLocks noGrp="1" noChangeArrowheads="1"/>
          </p:cNvSpPr>
          <p:nvPr>
            <p:ph type="subTitle" idx="1"/>
          </p:nvPr>
        </p:nvSpPr>
        <p:spPr>
          <a:xfrm>
            <a:off x="1981200" y="3962400"/>
            <a:ext cx="6553200" cy="1752600"/>
          </a:xfrm>
        </p:spPr>
        <p:txBody>
          <a:bodyPr/>
          <a:lstStyle>
            <a:lvl1pPr marL="0" indent="0">
              <a:buFont typeface="Wingdings" charset="2"/>
              <a:buNone/>
              <a:defRPr/>
            </a:lvl1pPr>
          </a:lstStyle>
          <a:p>
            <a:r>
              <a:rPr lang="en-US"/>
              <a:t>Click to edit Master subtitle style</a:t>
            </a:r>
          </a:p>
        </p:txBody>
      </p:sp>
      <p:sp>
        <p:nvSpPr>
          <p:cNvPr id="6" name="Rectangle 4"/>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ea typeface="+mn-ea"/>
                <a:cs typeface="+mn-cs"/>
              </a:defRPr>
            </a:lvl1pPr>
          </a:lstStyle>
          <a:p>
            <a:pPr>
              <a:defRPr/>
            </a:pPr>
            <a:endParaRPr lang="en-US"/>
          </a:p>
        </p:txBody>
      </p:sp>
      <p:sp>
        <p:nvSpPr>
          <p:cNvPr id="7" name="Rectangle 5"/>
          <p:cNvSpPr>
            <a:spLocks noGrp="1" noChangeArrowheads="1"/>
          </p:cNvSpPr>
          <p:nvPr>
            <p:ph type="ftr" sz="quarter" idx="11"/>
          </p:nvPr>
        </p:nvSpPr>
        <p:spPr bwMode="auto">
          <a:xfrm>
            <a:off x="3124200" y="6243638"/>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200">
                <a:latin typeface="+mj-lt"/>
                <a:ea typeface="+mn-ea"/>
                <a:cs typeface="+mn-cs"/>
              </a:defRPr>
            </a:lvl1pPr>
          </a:lstStyle>
          <a:p>
            <a:pPr>
              <a:defRPr/>
            </a:pPr>
            <a:endParaRPr lang="en-US"/>
          </a:p>
        </p:txBody>
      </p:sp>
      <p:sp>
        <p:nvSpPr>
          <p:cNvPr id="8" name="Rectangle 6"/>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200">
                <a:latin typeface="+mj-lt"/>
                <a:ea typeface="+mn-ea"/>
                <a:cs typeface="+mn-cs"/>
              </a:defRPr>
            </a:lvl1pPr>
          </a:lstStyle>
          <a:p>
            <a:pPr>
              <a:defRPr/>
            </a:pPr>
            <a:fld id="{65F52ACC-5EA5-4DA8-8E2F-A29791F588E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143000"/>
            <a:ext cx="40386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143000"/>
            <a:ext cx="40386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600"/>
            <a:ext cx="2057400" cy="64008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28600"/>
            <a:ext cx="6019800" cy="6400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143000"/>
            <a:ext cx="40386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143000"/>
            <a:ext cx="40386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143000"/>
            <a:ext cx="40386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143000"/>
            <a:ext cx="4038600" cy="2667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62400"/>
            <a:ext cx="4038600" cy="2667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28600"/>
            <a:ext cx="8229600" cy="762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143000"/>
            <a:ext cx="4038600" cy="2667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143000"/>
            <a:ext cx="4038600" cy="2667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3962400"/>
            <a:ext cx="4038600" cy="2667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962400"/>
            <a:ext cx="4038600" cy="2667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rtlCol="0"/>
          <a:lstStyle>
            <a:lvl1pPr>
              <a:defRPr>
                <a:solidFill>
                  <a:prstClr val="black">
                    <a:tint val="75000"/>
                  </a:prstClr>
                </a:solidFill>
                <a:latin typeface="Arial" charset="0"/>
              </a:defRPr>
            </a:lvl1pPr>
          </a:lstStyle>
          <a:p>
            <a:pPr>
              <a:defRPr/>
            </a:pPr>
            <a:fld id="{CDE0B890-738E-4994-A74C-FEA6302CE0F6}" type="datetime1">
              <a:rPr lang="en-US"/>
              <a:pPr>
                <a:defRPr/>
              </a:pPr>
              <a:t>11/24/2010</a:t>
            </a:fld>
            <a:endParaRPr lang="en-US"/>
          </a:p>
        </p:txBody>
      </p:sp>
      <p:sp>
        <p:nvSpPr>
          <p:cNvPr id="5" name="Footer Placeholder 4"/>
          <p:cNvSpPr>
            <a:spLocks noGrp="1"/>
          </p:cNvSpPr>
          <p:nvPr>
            <p:ph type="ftr" sz="quarter" idx="11"/>
          </p:nvPr>
        </p:nvSpPr>
        <p:spPr/>
        <p:txBody>
          <a:bodyPr rtlCol="0"/>
          <a:lstStyle>
            <a:lvl1pPr>
              <a:defRPr>
                <a:solidFill>
                  <a:prstClr val="black">
                    <a:tint val="75000"/>
                  </a:prstClr>
                </a:solidFill>
                <a:latin typeface="Arial" charset="0"/>
              </a:defRPr>
            </a:lvl1pPr>
          </a:lstStyle>
          <a:p>
            <a:pPr>
              <a:defRPr/>
            </a:pPr>
            <a:endParaRPr lang="en-US"/>
          </a:p>
        </p:txBody>
      </p:sp>
      <p:sp>
        <p:nvSpPr>
          <p:cNvPr id="6" name="Slide Number Placeholder 5"/>
          <p:cNvSpPr>
            <a:spLocks noGrp="1"/>
          </p:cNvSpPr>
          <p:nvPr>
            <p:ph type="sldNum" sz="quarter" idx="12"/>
          </p:nvPr>
        </p:nvSpPr>
        <p:spPr/>
        <p:txBody>
          <a:bodyPr rtlCol="0"/>
          <a:lstStyle>
            <a:lvl1pPr>
              <a:defRPr>
                <a:solidFill>
                  <a:prstClr val="black">
                    <a:tint val="75000"/>
                  </a:prstClr>
                </a:solidFill>
                <a:latin typeface="Arial" charset="0"/>
              </a:defRPr>
            </a:lvl1pPr>
          </a:lstStyle>
          <a:p>
            <a:pPr>
              <a:defRPr/>
            </a:pPr>
            <a:fld id="{311266D3-86F3-4AE7-9FB6-8C29AF8E0660}"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28600"/>
            <a:ext cx="8229600" cy="76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143000"/>
            <a:ext cx="8229600" cy="5486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130" name="Rectangle 10"/>
          <p:cNvSpPr>
            <a:spLocks noChangeArrowheads="1"/>
          </p:cNvSpPr>
          <p:nvPr userDrawn="1"/>
        </p:nvSpPr>
        <p:spPr bwMode="auto">
          <a:xfrm>
            <a:off x="419100" y="76200"/>
            <a:ext cx="8305800" cy="152400"/>
          </a:xfrm>
          <a:prstGeom prst="rect">
            <a:avLst/>
          </a:prstGeom>
          <a:gradFill rotWithShape="1">
            <a:gsLst>
              <a:gs pos="0">
                <a:srgbClr val="CC3300"/>
              </a:gs>
              <a:gs pos="100000">
                <a:srgbClr val="CC3300">
                  <a:gamma/>
                  <a:tint val="40784"/>
                  <a:invGamma/>
                </a:srgbClr>
              </a:gs>
            </a:gsLst>
            <a:lin ang="0" scaled="1"/>
          </a:gradFill>
          <a:ln w="9525">
            <a:noFill/>
            <a:miter lim="800000"/>
            <a:headEnd/>
            <a:tailEnd/>
          </a:ln>
          <a:effectLst/>
        </p:spPr>
        <p:txBody>
          <a:bodyPr wrap="none" anchor="ctr"/>
          <a:lstStyle/>
          <a:p>
            <a:pPr>
              <a:defRPr/>
            </a:pPr>
            <a:endParaRPr lang="en-US" sz="1800">
              <a:ea typeface="+mn-ea"/>
              <a:cs typeface="+mn-cs"/>
            </a:endParaRPr>
          </a:p>
        </p:txBody>
      </p:sp>
    </p:spTree>
  </p:cSld>
  <p:clrMap bg1="lt1" tx1="dk1" bg2="lt2" tx2="dk2" accent1="accent1" accent2="accent2" accent3="accent3" accent4="accent4" accent5="accent5" accent6="accent6" hlink="hlink" folHlink="folHlink"/>
  <p:sldLayoutIdLst>
    <p:sldLayoutId id="2147483680" r:id="rId1"/>
    <p:sldLayoutId id="2147483679" r:id="rId2"/>
    <p:sldLayoutId id="2147483678" r:id="rId3"/>
    <p:sldLayoutId id="2147483677" r:id="rId4"/>
    <p:sldLayoutId id="2147483676" r:id="rId5"/>
    <p:sldLayoutId id="2147483675" r:id="rId6"/>
    <p:sldLayoutId id="2147483674" r:id="rId7"/>
    <p:sldLayoutId id="2147483673" r:id="rId8"/>
    <p:sldLayoutId id="2147483672" r:id="rId9"/>
    <p:sldLayoutId id="2147483671" r:id="rId10"/>
    <p:sldLayoutId id="2147483670" r:id="rId11"/>
    <p:sldLayoutId id="2147483669" r:id="rId12"/>
    <p:sldLayoutId id="2147483668" r:id="rId13"/>
    <p:sldLayoutId id="2147483667" r:id="rId14"/>
  </p:sldLayoutIdLst>
  <p:timing>
    <p:tnLst>
      <p:par>
        <p:cTn id="1" dur="indefinite" restart="never" nodeType="tmRoot"/>
      </p:par>
    </p:tnLst>
  </p:timing>
  <p:txStyles>
    <p:titleStyle>
      <a:lvl1pPr algn="l" rtl="0" eaLnBrk="0" fontAlgn="base" hangingPunct="0">
        <a:spcBef>
          <a:spcPct val="0"/>
        </a:spcBef>
        <a:spcAft>
          <a:spcPct val="0"/>
        </a:spcAft>
        <a:defRPr sz="4000">
          <a:solidFill>
            <a:srgbClr val="CC0000"/>
          </a:solidFill>
          <a:latin typeface="+mj-lt"/>
          <a:ea typeface="ＭＳ Ｐゴシック" charset="-128"/>
          <a:cs typeface="ＭＳ Ｐゴシック" charset="-128"/>
        </a:defRPr>
      </a:lvl1pPr>
      <a:lvl2pPr algn="l" rtl="0" eaLnBrk="0" fontAlgn="base" hangingPunct="0">
        <a:spcBef>
          <a:spcPct val="0"/>
        </a:spcBef>
        <a:spcAft>
          <a:spcPct val="0"/>
        </a:spcAft>
        <a:defRPr sz="4000">
          <a:solidFill>
            <a:srgbClr val="CC0000"/>
          </a:solidFill>
          <a:latin typeface="Garamond" charset="0"/>
          <a:ea typeface="ＭＳ Ｐゴシック" charset="-128"/>
          <a:cs typeface="ＭＳ Ｐゴシック" charset="-128"/>
        </a:defRPr>
      </a:lvl2pPr>
      <a:lvl3pPr algn="l" rtl="0" eaLnBrk="0" fontAlgn="base" hangingPunct="0">
        <a:spcBef>
          <a:spcPct val="0"/>
        </a:spcBef>
        <a:spcAft>
          <a:spcPct val="0"/>
        </a:spcAft>
        <a:defRPr sz="4000">
          <a:solidFill>
            <a:srgbClr val="CC0000"/>
          </a:solidFill>
          <a:latin typeface="Garamond" charset="0"/>
          <a:ea typeface="ＭＳ Ｐゴシック" charset="-128"/>
          <a:cs typeface="ＭＳ Ｐゴシック" charset="-128"/>
        </a:defRPr>
      </a:lvl3pPr>
      <a:lvl4pPr algn="l" rtl="0" eaLnBrk="0" fontAlgn="base" hangingPunct="0">
        <a:spcBef>
          <a:spcPct val="0"/>
        </a:spcBef>
        <a:spcAft>
          <a:spcPct val="0"/>
        </a:spcAft>
        <a:defRPr sz="4000">
          <a:solidFill>
            <a:srgbClr val="CC0000"/>
          </a:solidFill>
          <a:latin typeface="Garamond" charset="0"/>
          <a:ea typeface="ＭＳ Ｐゴシック" charset="-128"/>
          <a:cs typeface="ＭＳ Ｐゴシック" charset="-128"/>
        </a:defRPr>
      </a:lvl4pPr>
      <a:lvl5pPr algn="l" rtl="0" eaLnBrk="0" fontAlgn="base" hangingPunct="0">
        <a:spcBef>
          <a:spcPct val="0"/>
        </a:spcBef>
        <a:spcAft>
          <a:spcPct val="0"/>
        </a:spcAft>
        <a:defRPr sz="4000">
          <a:solidFill>
            <a:srgbClr val="CC0000"/>
          </a:solidFill>
          <a:latin typeface="Garamond" charset="0"/>
          <a:ea typeface="ＭＳ Ｐゴシック" charset="-128"/>
          <a:cs typeface="ＭＳ Ｐゴシック" charset="-128"/>
        </a:defRPr>
      </a:lvl5pPr>
      <a:lvl6pPr marL="457200" algn="l" rtl="0" fontAlgn="base">
        <a:spcBef>
          <a:spcPct val="0"/>
        </a:spcBef>
        <a:spcAft>
          <a:spcPct val="0"/>
        </a:spcAft>
        <a:defRPr sz="4000">
          <a:solidFill>
            <a:srgbClr val="CC0000"/>
          </a:solidFill>
          <a:latin typeface="Garamond" charset="0"/>
        </a:defRPr>
      </a:lvl6pPr>
      <a:lvl7pPr marL="914400" algn="l" rtl="0" fontAlgn="base">
        <a:spcBef>
          <a:spcPct val="0"/>
        </a:spcBef>
        <a:spcAft>
          <a:spcPct val="0"/>
        </a:spcAft>
        <a:defRPr sz="4000">
          <a:solidFill>
            <a:srgbClr val="CC0000"/>
          </a:solidFill>
          <a:latin typeface="Garamond" charset="0"/>
        </a:defRPr>
      </a:lvl7pPr>
      <a:lvl8pPr marL="1371600" algn="l" rtl="0" fontAlgn="base">
        <a:spcBef>
          <a:spcPct val="0"/>
        </a:spcBef>
        <a:spcAft>
          <a:spcPct val="0"/>
        </a:spcAft>
        <a:defRPr sz="4000">
          <a:solidFill>
            <a:srgbClr val="CC0000"/>
          </a:solidFill>
          <a:latin typeface="Garamond" charset="0"/>
        </a:defRPr>
      </a:lvl8pPr>
      <a:lvl9pPr marL="1828800" algn="l" rtl="0" fontAlgn="base">
        <a:spcBef>
          <a:spcPct val="0"/>
        </a:spcBef>
        <a:spcAft>
          <a:spcPct val="0"/>
        </a:spcAft>
        <a:defRPr sz="4000">
          <a:solidFill>
            <a:srgbClr val="CC0000"/>
          </a:solidFill>
          <a:latin typeface="Garamond" charset="0"/>
        </a:defRPr>
      </a:lvl9pPr>
    </p:titleStyle>
    <p:bodyStyle>
      <a:lvl1pPr marL="342900" indent="-342900" algn="l" rtl="0" eaLnBrk="0" fontAlgn="base" hangingPunct="0">
        <a:spcBef>
          <a:spcPct val="20000"/>
        </a:spcBef>
        <a:spcAft>
          <a:spcPct val="0"/>
        </a:spcAft>
        <a:buClr>
          <a:srgbClr val="00CC99"/>
        </a:buClr>
        <a:buSzPct val="65000"/>
        <a:buFont typeface="Wingdings" pitchFamily="2" charset="2"/>
        <a:buChar char="p"/>
        <a:defRPr sz="2000">
          <a:solidFill>
            <a:schemeClr val="tx1"/>
          </a:solidFill>
          <a:latin typeface="+mn-lt"/>
          <a:ea typeface="ＭＳ Ｐゴシック" charset="-128"/>
          <a:cs typeface="ＭＳ Ｐゴシック" charset="-128"/>
        </a:defRPr>
      </a:lvl1pPr>
      <a:lvl2pPr marL="669925" indent="-325438" algn="l" rtl="0" eaLnBrk="0" fontAlgn="base" hangingPunct="0">
        <a:spcBef>
          <a:spcPct val="20000"/>
        </a:spcBef>
        <a:spcAft>
          <a:spcPct val="0"/>
        </a:spcAft>
        <a:buClr>
          <a:srgbClr val="CC0000"/>
        </a:buClr>
        <a:buSzPct val="60000"/>
        <a:buFont typeface="Wingdings" pitchFamily="2" charset="2"/>
        <a:buChar char="p"/>
        <a:defRPr>
          <a:solidFill>
            <a:schemeClr val="tx1"/>
          </a:solidFill>
          <a:latin typeface="+mn-lt"/>
          <a:ea typeface="ＭＳ Ｐゴシック" charset="-128"/>
          <a:cs typeface="ＭＳ Ｐゴシック"/>
        </a:defRPr>
      </a:lvl2pPr>
      <a:lvl3pPr marL="1022350" indent="-350838" algn="l" rtl="0" eaLnBrk="0" fontAlgn="base" hangingPunct="0">
        <a:spcBef>
          <a:spcPct val="20000"/>
        </a:spcBef>
        <a:spcAft>
          <a:spcPct val="0"/>
        </a:spcAft>
        <a:buClr>
          <a:srgbClr val="00CC99"/>
        </a:buClr>
        <a:buSzPct val="65000"/>
        <a:buFont typeface="Wingdings" pitchFamily="2" charset="2"/>
        <a:buChar char="§"/>
        <a:defRPr>
          <a:solidFill>
            <a:schemeClr val="tx1"/>
          </a:solidFill>
          <a:latin typeface="+mn-lt"/>
          <a:ea typeface="ＭＳ Ｐゴシック" charset="-128"/>
          <a:cs typeface="ＭＳ Ｐゴシック"/>
        </a:defRPr>
      </a:lvl3pPr>
      <a:lvl4pPr marL="1339850" indent="-315913" algn="l" rtl="0" eaLnBrk="0" fontAlgn="base" hangingPunct="0">
        <a:spcBef>
          <a:spcPct val="20000"/>
        </a:spcBef>
        <a:spcAft>
          <a:spcPct val="0"/>
        </a:spcAft>
        <a:buClr>
          <a:srgbClr val="CC0000"/>
        </a:buClr>
        <a:buSzPct val="70000"/>
        <a:buFont typeface="Wingdings" pitchFamily="2" charset="2"/>
        <a:buChar char="§"/>
        <a:defRPr>
          <a:solidFill>
            <a:schemeClr val="tx1"/>
          </a:solidFill>
          <a:latin typeface="+mn-lt"/>
          <a:ea typeface="ＭＳ Ｐゴシック" charset="-128"/>
          <a:cs typeface="ＭＳ Ｐゴシック"/>
        </a:defRPr>
      </a:lvl4pPr>
      <a:lvl5pPr marL="1681163" indent="-339725" algn="l" rtl="0" eaLnBrk="0" fontAlgn="base" hangingPunct="0">
        <a:spcBef>
          <a:spcPct val="20000"/>
        </a:spcBef>
        <a:spcAft>
          <a:spcPct val="0"/>
        </a:spcAft>
        <a:buClr>
          <a:schemeClr val="tx1"/>
        </a:buClr>
        <a:buSzPct val="75000"/>
        <a:buFont typeface="Wingdings" pitchFamily="2" charset="2"/>
        <a:buChar char="§"/>
        <a:defRPr sz="1600">
          <a:solidFill>
            <a:schemeClr val="tx1"/>
          </a:solidFill>
          <a:latin typeface="+mn-lt"/>
          <a:ea typeface="ＭＳ Ｐゴシック" charset="-128"/>
          <a:cs typeface="ＭＳ Ｐゴシック"/>
        </a:defRPr>
      </a:lvl5pPr>
      <a:lvl6pPr marL="2138363" indent="-339725" algn="l" rtl="0" fontAlgn="base">
        <a:spcBef>
          <a:spcPct val="20000"/>
        </a:spcBef>
        <a:spcAft>
          <a:spcPct val="0"/>
        </a:spcAft>
        <a:buClr>
          <a:schemeClr val="tx1"/>
        </a:buClr>
        <a:buSzPct val="75000"/>
        <a:buFont typeface="Wingdings" charset="2"/>
        <a:buChar char="§"/>
        <a:defRPr sz="1600">
          <a:solidFill>
            <a:schemeClr val="tx1"/>
          </a:solidFill>
          <a:latin typeface="+mn-lt"/>
          <a:ea typeface="ＭＳ Ｐゴシック" charset="-128"/>
        </a:defRPr>
      </a:lvl6pPr>
      <a:lvl7pPr marL="2595563" indent="-339725" algn="l" rtl="0" fontAlgn="base">
        <a:spcBef>
          <a:spcPct val="20000"/>
        </a:spcBef>
        <a:spcAft>
          <a:spcPct val="0"/>
        </a:spcAft>
        <a:buClr>
          <a:schemeClr val="tx1"/>
        </a:buClr>
        <a:buSzPct val="75000"/>
        <a:buFont typeface="Wingdings" charset="2"/>
        <a:buChar char="§"/>
        <a:defRPr sz="1600">
          <a:solidFill>
            <a:schemeClr val="tx1"/>
          </a:solidFill>
          <a:latin typeface="+mn-lt"/>
          <a:ea typeface="ＭＳ Ｐゴシック" charset="-128"/>
        </a:defRPr>
      </a:lvl7pPr>
      <a:lvl8pPr marL="3052763" indent="-339725" algn="l" rtl="0" fontAlgn="base">
        <a:spcBef>
          <a:spcPct val="20000"/>
        </a:spcBef>
        <a:spcAft>
          <a:spcPct val="0"/>
        </a:spcAft>
        <a:buClr>
          <a:schemeClr val="tx1"/>
        </a:buClr>
        <a:buSzPct val="75000"/>
        <a:buFont typeface="Wingdings" charset="2"/>
        <a:buChar char="§"/>
        <a:defRPr sz="1600">
          <a:solidFill>
            <a:schemeClr val="tx1"/>
          </a:solidFill>
          <a:latin typeface="+mn-lt"/>
          <a:ea typeface="ＭＳ Ｐゴシック" charset="-128"/>
        </a:defRPr>
      </a:lvl8pPr>
      <a:lvl9pPr marL="3509963" indent="-339725" algn="l" rtl="0" fontAlgn="base">
        <a:spcBef>
          <a:spcPct val="20000"/>
        </a:spcBef>
        <a:spcAft>
          <a:spcPct val="0"/>
        </a:spcAft>
        <a:buClr>
          <a:schemeClr val="tx1"/>
        </a:buClr>
        <a:buSzPct val="75000"/>
        <a:buFont typeface="Wingdings" charset="2"/>
        <a:buChar char="§"/>
        <a:defRPr sz="16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38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638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charset="0"/>
                <a:ea typeface="+mn-ea"/>
                <a:cs typeface="+mn-cs"/>
              </a:defRPr>
            </a:lvl1pPr>
          </a:lstStyle>
          <a:p>
            <a:pPr>
              <a:defRPr/>
            </a:pPr>
            <a:fld id="{8CF9ACCE-B150-4FE0-A1D4-0887FB993D1C}" type="datetime1">
              <a:rPr lang="en-US"/>
              <a:pPr>
                <a:defRPr/>
              </a:pPr>
              <a:t>11/24/2010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charset="0"/>
                <a:ea typeface="+mn-ea"/>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charset="0"/>
                <a:ea typeface="+mn-ea"/>
                <a:cs typeface="+mn-cs"/>
              </a:defRPr>
            </a:lvl1pPr>
          </a:lstStyle>
          <a:p>
            <a:pPr>
              <a:defRPr/>
            </a:pPr>
            <a:fld id="{100265F8-955D-46BB-96D5-AD07213E8DD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ctr" defTabSz="457200"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ＭＳ Ｐゴシック"/>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ＭＳ Ｐゴシック"/>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ＭＳ Ｐゴシック"/>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ＭＳ Ｐゴシック"/>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4.png"/><Relationship Id="rId5" Type="http://schemas.openxmlformats.org/officeDocument/2006/relationships/oleObject" Target="../embeddings/oleObject1.bin"/><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oleObject" Target="../embeddings/oleObject2.bin"/><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png"/><Relationship Id="rId4"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3.png"/><Relationship Id="rId4" Type="http://schemas.openxmlformats.org/officeDocument/2006/relationships/oleObject" Target="../embeddings/oleObject8.bin"/></Relationships>
</file>

<file path=ppt/slides/_rels/slide1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9.bin"/><Relationship Id="rId5" Type="http://schemas.openxmlformats.org/officeDocument/2006/relationships/image" Target="../media/image3.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2.bin"/><Relationship Id="rId5" Type="http://schemas.openxmlformats.org/officeDocument/2006/relationships/oleObject" Target="../embeddings/oleObject11.bin"/><Relationship Id="rId4" Type="http://schemas.openxmlformats.org/officeDocument/2006/relationships/oleObject" Target="../embeddings/oleObject10.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notesSlide" Target="../notesSlides/notesSlide29.xml"/><Relationship Id="rId7" Type="http://schemas.openxmlformats.org/officeDocument/2006/relationships/oleObject" Target="../embeddings/oleObject16.bin"/><Relationship Id="rId2" Type="http://schemas.openxmlformats.org/officeDocument/2006/relationships/slideLayout" Target="../slideLayouts/slideLayout13.xml"/><Relationship Id="rId1" Type="http://schemas.openxmlformats.org/officeDocument/2006/relationships/vmlDrawing" Target="../drawings/vmlDrawing9.vml"/><Relationship Id="rId6" Type="http://schemas.openxmlformats.org/officeDocument/2006/relationships/oleObject" Target="../embeddings/oleObject15.bin"/><Relationship Id="rId5" Type="http://schemas.openxmlformats.org/officeDocument/2006/relationships/oleObject" Target="../embeddings/oleObject14.bin"/><Relationship Id="rId4" Type="http://schemas.openxmlformats.org/officeDocument/2006/relationships/oleObject" Target="../embeddings/oleObject13.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image" Target="../media/image4.png"/><Relationship Id="rId5" Type="http://schemas.openxmlformats.org/officeDocument/2006/relationships/oleObject" Target="../embeddings/oleObject18.bin"/><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oleObject" Target="../embeddings/oleObject21.bin"/><Relationship Id="rId2" Type="http://schemas.openxmlformats.org/officeDocument/2006/relationships/slideLayout" Target="../slideLayouts/slideLayout13.xml"/><Relationship Id="rId1" Type="http://schemas.openxmlformats.org/officeDocument/2006/relationships/vmlDrawing" Target="../drawings/vmlDrawing11.vml"/><Relationship Id="rId6" Type="http://schemas.openxmlformats.org/officeDocument/2006/relationships/oleObject" Target="../embeddings/oleObject20.bin"/><Relationship Id="rId5" Type="http://schemas.openxmlformats.org/officeDocument/2006/relationships/image" Target="../media/image3.png"/><Relationship Id="rId4" Type="http://schemas.openxmlformats.org/officeDocument/2006/relationships/oleObject" Target="../embeddings/oleObject19.bin"/></Relationships>
</file>

<file path=ppt/slides/_rels/slide33.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31.wmf"/><Relationship Id="rId4" Type="http://schemas.openxmlformats.org/officeDocument/2006/relationships/image" Target="../media/image30.wmf"/></Relationships>
</file>

<file path=ppt/slides/_rels/slide3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vmlDrawing" Target="../drawings/vmlDrawing12.vml"/><Relationship Id="rId4" Type="http://schemas.openxmlformats.org/officeDocument/2006/relationships/oleObject" Target="../embeddings/oleObject22.bin"/></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14.wmf"/><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37.jpeg"/></Relationships>
</file>

<file path=ppt/slides/_rels/slide4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37.jpe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 TargetMode="External"/><Relationship Id="rId5" Type="http://schemas.openxmlformats.org/officeDocument/2006/relationships/image" Target="../media/image41.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534400" y="0"/>
            <a:ext cx="685800" cy="6878638"/>
          </a:xfrm>
          <a:prstGeom prst="rect">
            <a:avLst/>
          </a:prstGeom>
          <a:solidFill>
            <a:srgbClr val="000090"/>
          </a:solidFill>
          <a:ln w="28575" cap="flat" cmpd="sng" algn="ctr">
            <a:no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defTabSz="457200" fontAlgn="auto">
              <a:spcBef>
                <a:spcPts val="0"/>
              </a:spcBef>
              <a:spcAft>
                <a:spcPts val="0"/>
              </a:spcAft>
              <a:defRPr/>
            </a:pPr>
            <a:endParaRPr lang="en-US" sz="1800" dirty="0">
              <a:solidFill>
                <a:srgbClr val="000090"/>
              </a:solidFill>
            </a:endParaRPr>
          </a:p>
        </p:txBody>
      </p:sp>
      <p:sp>
        <p:nvSpPr>
          <p:cNvPr id="19458" name="Rectangle 3"/>
          <p:cNvSpPr>
            <a:spLocks noGrp="1" noChangeArrowheads="1"/>
          </p:cNvSpPr>
          <p:nvPr>
            <p:ph type="subTitle" idx="1"/>
          </p:nvPr>
        </p:nvSpPr>
        <p:spPr>
          <a:xfrm>
            <a:off x="1233488" y="1955800"/>
            <a:ext cx="3276600" cy="609600"/>
          </a:xfrm>
        </p:spPr>
        <p:txBody>
          <a:bodyPr/>
          <a:lstStyle/>
          <a:p>
            <a:pPr eaLnBrk="1" hangingPunct="1"/>
            <a:r>
              <a:rPr lang="en-US" smtClean="0">
                <a:solidFill>
                  <a:srgbClr val="000090"/>
                </a:solidFill>
                <a:ea typeface="ＭＳ Ｐゴシック"/>
                <a:cs typeface="ＭＳ Ｐゴシック"/>
              </a:rPr>
              <a:t>IPS Chapter 12</a:t>
            </a:r>
          </a:p>
        </p:txBody>
      </p:sp>
      <p:sp>
        <p:nvSpPr>
          <p:cNvPr id="19459" name="Text Box 4"/>
          <p:cNvSpPr txBox="1">
            <a:spLocks noChangeArrowheads="1"/>
          </p:cNvSpPr>
          <p:nvPr/>
        </p:nvSpPr>
        <p:spPr bwMode="auto">
          <a:xfrm>
            <a:off x="5367338" y="6223000"/>
            <a:ext cx="3548062" cy="304800"/>
          </a:xfrm>
          <a:prstGeom prst="rect">
            <a:avLst/>
          </a:prstGeom>
          <a:noFill/>
          <a:ln w="9525">
            <a:noFill/>
            <a:miter lim="800000"/>
            <a:headEnd/>
            <a:tailEnd/>
          </a:ln>
        </p:spPr>
        <p:txBody>
          <a:bodyPr>
            <a:spAutoFit/>
          </a:bodyPr>
          <a:lstStyle/>
          <a:p>
            <a:pPr defTabSz="457200"/>
            <a:r>
              <a:rPr lang="en-US" sz="1400" i="1">
                <a:solidFill>
                  <a:srgbClr val="7F7F7F"/>
                </a:solidFill>
                <a:latin typeface="Calibri" pitchFamily="34" charset="0"/>
              </a:rPr>
              <a:t>© 2012 W.H. Freeman and Company</a:t>
            </a:r>
          </a:p>
        </p:txBody>
      </p:sp>
      <p:sp>
        <p:nvSpPr>
          <p:cNvPr id="19460" name="Rectangle 3"/>
          <p:cNvSpPr txBox="1">
            <a:spLocks noChangeArrowheads="1"/>
          </p:cNvSpPr>
          <p:nvPr/>
        </p:nvSpPr>
        <p:spPr bwMode="auto">
          <a:xfrm>
            <a:off x="381000" y="2859088"/>
            <a:ext cx="7772400" cy="1963737"/>
          </a:xfrm>
          <a:prstGeom prst="rect">
            <a:avLst/>
          </a:prstGeom>
          <a:noFill/>
          <a:ln w="9525">
            <a:noFill/>
            <a:miter lim="800000"/>
            <a:headEnd/>
            <a:tailEnd/>
          </a:ln>
        </p:spPr>
        <p:txBody>
          <a:bodyPr/>
          <a:lstStyle/>
          <a:p>
            <a:pPr marL="342900" indent="-342900" defTabSz="457200">
              <a:lnSpc>
                <a:spcPct val="120000"/>
              </a:lnSpc>
              <a:spcBef>
                <a:spcPct val="20000"/>
              </a:spcBef>
              <a:spcAft>
                <a:spcPts val="1800"/>
              </a:spcAft>
              <a:buClr>
                <a:srgbClr val="333399"/>
              </a:buClr>
              <a:buSzPct val="65000"/>
              <a:buFont typeface="Wingdings" pitchFamily="2" charset="2"/>
              <a:buChar char="§"/>
            </a:pPr>
            <a:r>
              <a:rPr lang="en-US" sz="2800">
                <a:solidFill>
                  <a:srgbClr val="000090"/>
                </a:solidFill>
                <a:latin typeface="Calibri" pitchFamily="34" charset="0"/>
              </a:rPr>
              <a:t>12.1: Inference for One-Way Analysis of Variance</a:t>
            </a:r>
          </a:p>
          <a:p>
            <a:pPr marL="342900" indent="-342900" defTabSz="457200">
              <a:lnSpc>
                <a:spcPct val="120000"/>
              </a:lnSpc>
              <a:spcBef>
                <a:spcPct val="20000"/>
              </a:spcBef>
              <a:spcAft>
                <a:spcPts val="1800"/>
              </a:spcAft>
              <a:buClr>
                <a:srgbClr val="333399"/>
              </a:buClr>
              <a:buSzPct val="65000"/>
              <a:buFont typeface="Wingdings" pitchFamily="2" charset="2"/>
              <a:buChar char="§"/>
            </a:pPr>
            <a:r>
              <a:rPr lang="en-US" sz="2800">
                <a:solidFill>
                  <a:srgbClr val="000090"/>
                </a:solidFill>
                <a:latin typeface="Calibri" pitchFamily="34" charset="0"/>
              </a:rPr>
              <a:t>12.2: Comparing the Means</a:t>
            </a:r>
            <a:r>
              <a:rPr lang="en-US" sz="2000" b="1">
                <a:solidFill>
                  <a:srgbClr val="333399"/>
                </a:solidFill>
                <a:latin typeface="Calibri" pitchFamily="34" charset="0"/>
              </a:rPr>
              <a:t/>
            </a:r>
            <a:br>
              <a:rPr lang="en-US" sz="2000" b="1">
                <a:solidFill>
                  <a:srgbClr val="333399"/>
                </a:solidFill>
                <a:latin typeface="Calibri" pitchFamily="34" charset="0"/>
              </a:rPr>
            </a:br>
            <a:endParaRPr lang="en-US" sz="1000" b="1">
              <a:solidFill>
                <a:srgbClr val="333399"/>
              </a:solidFill>
              <a:latin typeface="Calibri" pitchFamily="34" charset="0"/>
            </a:endParaRPr>
          </a:p>
          <a:p>
            <a:pPr marL="342900" indent="-342900" defTabSz="457200">
              <a:lnSpc>
                <a:spcPct val="120000"/>
              </a:lnSpc>
              <a:spcBef>
                <a:spcPct val="20000"/>
              </a:spcBef>
              <a:buClr>
                <a:srgbClr val="CC0000"/>
              </a:buClr>
              <a:buSzPct val="60000"/>
              <a:buFont typeface="Wingdings" pitchFamily="2" charset="2"/>
              <a:buChar char="p"/>
            </a:pPr>
            <a:endParaRPr lang="en-US" sz="2000">
              <a:solidFill>
                <a:srgbClr val="000000"/>
              </a:solidFill>
              <a:latin typeface="Calibri" pitchFamily="34" charset="0"/>
            </a:endParaRPr>
          </a:p>
        </p:txBody>
      </p:sp>
      <p:sp>
        <p:nvSpPr>
          <p:cNvPr id="16390" name="Rectangle 2"/>
          <p:cNvSpPr>
            <a:spLocks noGrp="1" noChangeArrowheads="1"/>
          </p:cNvSpPr>
          <p:nvPr>
            <p:ph type="ctrTitle"/>
          </p:nvPr>
        </p:nvSpPr>
        <p:spPr>
          <a:xfrm>
            <a:off x="715963" y="801688"/>
            <a:ext cx="7445375" cy="831850"/>
          </a:xfrm>
        </p:spPr>
        <p:txBody>
          <a:bodyPr rtlCol="0">
            <a:normAutofit/>
          </a:bodyPr>
          <a:lstStyle/>
          <a:p>
            <a:pPr algn="l" eaLnBrk="1" fontAlgn="auto" hangingPunct="1">
              <a:spcAft>
                <a:spcPts val="0"/>
              </a:spcAft>
              <a:defRPr/>
            </a:pPr>
            <a:r>
              <a:rPr lang="en-US" sz="4800" kern="0" dirty="0" smtClean="0">
                <a:solidFill>
                  <a:srgbClr val="CC0000"/>
                </a:solidFill>
                <a:latin typeface="Garamond"/>
                <a:ea typeface="+mj-ea"/>
                <a:cs typeface="+mj-cs"/>
              </a:rPr>
              <a:t>One-Way Analysis of Variance</a:t>
            </a:r>
            <a:endParaRPr lang="en-US" sz="3200" dirty="0" smtClean="0">
              <a:solidFill>
                <a:srgbClr val="000000"/>
              </a:solidFill>
              <a:ea typeface="+mj-ea"/>
              <a:cs typeface="+mj-cs"/>
            </a:endParaRPr>
          </a:p>
        </p:txBody>
      </p:sp>
      <p:cxnSp>
        <p:nvCxnSpPr>
          <p:cNvPr id="14" name="Straight Connector 13"/>
          <p:cNvCxnSpPr/>
          <p:nvPr/>
        </p:nvCxnSpPr>
        <p:spPr>
          <a:xfrm>
            <a:off x="542925" y="609600"/>
            <a:ext cx="7964488" cy="7938"/>
          </a:xfrm>
          <a:prstGeom prst="line">
            <a:avLst/>
          </a:prstGeom>
          <a:ln w="25400" cap="flat" cmpd="sng" algn="ctr">
            <a:solidFill>
              <a:srgbClr val="000090"/>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5400000">
            <a:off x="142082" y="1032669"/>
            <a:ext cx="831850" cy="1587"/>
          </a:xfrm>
          <a:prstGeom prst="line">
            <a:avLst/>
          </a:prstGeom>
          <a:ln w="25400" cap="flat" cmpd="sng" algn="ctr">
            <a:solidFill>
              <a:srgbClr val="000090"/>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1631950" y="1982788"/>
            <a:ext cx="6902450" cy="1587"/>
          </a:xfrm>
          <a:prstGeom prst="line">
            <a:avLst/>
          </a:prstGeom>
          <a:ln>
            <a:solidFill>
              <a:srgbClr val="000090"/>
            </a:solidFill>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ctrTitle"/>
          </p:nvPr>
        </p:nvSpPr>
        <p:spPr>
          <a:xfrm>
            <a:off x="914400" y="1371600"/>
            <a:ext cx="7623175" cy="1752600"/>
          </a:xfrm>
        </p:spPr>
        <p:txBody>
          <a:bodyPr/>
          <a:lstStyle/>
          <a:p>
            <a:pPr eaLnBrk="1" hangingPunct="1"/>
            <a:r>
              <a:rPr lang="en-US" sz="3600" smtClean="0">
                <a:solidFill>
                  <a:srgbClr val="333399"/>
                </a:solidFill>
                <a:ea typeface="ＭＳ Ｐゴシック"/>
                <a:cs typeface="ＭＳ Ｐゴシック"/>
              </a:rPr>
              <a:t>One-Way ANOVA</a:t>
            </a:r>
            <a:r>
              <a:rPr lang="en-US" smtClean="0">
                <a:ea typeface="ＭＳ Ｐゴシック"/>
                <a:cs typeface="ＭＳ Ｐゴシック"/>
              </a:rPr>
              <a:t/>
            </a:r>
            <a:br>
              <a:rPr lang="en-US" smtClean="0">
                <a:ea typeface="ＭＳ Ｐゴシック"/>
                <a:cs typeface="ＭＳ Ｐゴシック"/>
              </a:rPr>
            </a:br>
            <a:r>
              <a:rPr lang="en-US" b="1" smtClean="0">
                <a:ea typeface="ＭＳ Ｐゴシック"/>
                <a:cs typeface="ＭＳ Ｐゴシック"/>
              </a:rPr>
              <a:t>12.1 Inference for one-way ANOVA</a:t>
            </a:r>
          </a:p>
        </p:txBody>
      </p:sp>
      <p:sp>
        <p:nvSpPr>
          <p:cNvPr id="21506" name="Text Box 4"/>
          <p:cNvSpPr txBox="1">
            <a:spLocks noChangeArrowheads="1"/>
          </p:cNvSpPr>
          <p:nvPr/>
        </p:nvSpPr>
        <p:spPr bwMode="auto">
          <a:xfrm>
            <a:off x="5791200" y="6223000"/>
            <a:ext cx="3548063" cy="304800"/>
          </a:xfrm>
          <a:prstGeom prst="rect">
            <a:avLst/>
          </a:prstGeom>
          <a:noFill/>
          <a:ln w="9525">
            <a:noFill/>
            <a:miter lim="800000"/>
            <a:headEnd/>
            <a:tailEnd/>
          </a:ln>
        </p:spPr>
        <p:txBody>
          <a:bodyPr>
            <a:spAutoFit/>
          </a:bodyPr>
          <a:lstStyle/>
          <a:p>
            <a:r>
              <a:rPr lang="en-US" sz="1400" i="1">
                <a:solidFill>
                  <a:schemeClr val="bg2"/>
                </a:solidFill>
              </a:rPr>
              <a:t>© 2012 W.H. Freeman and Company</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3"/>
          <p:cNvSpPr>
            <a:spLocks noGrp="1" noChangeArrowheads="1"/>
          </p:cNvSpPr>
          <p:nvPr>
            <p:ph type="title"/>
          </p:nvPr>
        </p:nvSpPr>
        <p:spPr/>
        <p:txBody>
          <a:bodyPr/>
          <a:lstStyle/>
          <a:p>
            <a:pPr eaLnBrk="1" hangingPunct="1"/>
            <a:r>
              <a:rPr lang="en-US" smtClean="0">
                <a:ea typeface="ＭＳ Ｐゴシック"/>
                <a:cs typeface="ＭＳ Ｐゴシック"/>
              </a:rPr>
              <a:t>Objectives </a:t>
            </a:r>
          </a:p>
        </p:txBody>
      </p:sp>
      <p:sp>
        <p:nvSpPr>
          <p:cNvPr id="23554" name="Rectangle 4"/>
          <p:cNvSpPr>
            <a:spLocks noGrp="1" noChangeArrowheads="1"/>
          </p:cNvSpPr>
          <p:nvPr>
            <p:ph type="body" idx="1"/>
          </p:nvPr>
        </p:nvSpPr>
        <p:spPr/>
        <p:txBody>
          <a:bodyPr/>
          <a:lstStyle/>
          <a:p>
            <a:pPr marL="381000" indent="-381000" eaLnBrk="1" hangingPunct="1">
              <a:lnSpc>
                <a:spcPct val="180000"/>
              </a:lnSpc>
              <a:buFont typeface="Times"/>
              <a:buNone/>
            </a:pPr>
            <a:r>
              <a:rPr lang="en-US" b="1" smtClean="0">
                <a:solidFill>
                  <a:srgbClr val="333399"/>
                </a:solidFill>
                <a:ea typeface="ＭＳ Ｐゴシック"/>
                <a:cs typeface="ＭＳ Ｐゴシック"/>
              </a:rPr>
              <a:t>12.1	Inference for one-way ANOVA</a:t>
            </a:r>
          </a:p>
          <a:p>
            <a:pPr marL="381000" indent="-381000" eaLnBrk="1" hangingPunct="1">
              <a:lnSpc>
                <a:spcPct val="180000"/>
              </a:lnSpc>
              <a:buClr>
                <a:srgbClr val="CC0000"/>
              </a:buClr>
              <a:buSzPct val="60000"/>
            </a:pPr>
            <a:r>
              <a:rPr lang="en-US" smtClean="0">
                <a:ea typeface="ＭＳ Ｐゴシック"/>
                <a:cs typeface="ＭＳ Ｐゴシック"/>
              </a:rPr>
              <a:t>Comparing means</a:t>
            </a:r>
          </a:p>
          <a:p>
            <a:pPr marL="381000" indent="-381000" eaLnBrk="1" hangingPunct="1">
              <a:lnSpc>
                <a:spcPct val="180000"/>
              </a:lnSpc>
              <a:buClr>
                <a:srgbClr val="CC0000"/>
              </a:buClr>
              <a:buSzPct val="60000"/>
            </a:pPr>
            <a:r>
              <a:rPr lang="en-US" smtClean="0">
                <a:ea typeface="ＭＳ Ｐゴシック"/>
                <a:cs typeface="ＭＳ Ｐゴシック"/>
              </a:rPr>
              <a:t>The two-sample </a:t>
            </a:r>
            <a:r>
              <a:rPr lang="en-US" i="1" smtClean="0">
                <a:ea typeface="ＭＳ Ｐゴシック"/>
                <a:cs typeface="ＭＳ Ｐゴシック"/>
              </a:rPr>
              <a:t>t</a:t>
            </a:r>
            <a:r>
              <a:rPr lang="en-US" smtClean="0">
                <a:ea typeface="ＭＳ Ｐゴシック"/>
                <a:cs typeface="ＭＳ Ｐゴシック"/>
              </a:rPr>
              <a:t> statistic</a:t>
            </a:r>
          </a:p>
          <a:p>
            <a:pPr marL="381000" indent="-381000" eaLnBrk="1" hangingPunct="1">
              <a:lnSpc>
                <a:spcPct val="180000"/>
              </a:lnSpc>
              <a:buClr>
                <a:srgbClr val="CC0000"/>
              </a:buClr>
              <a:buSzPct val="60000"/>
            </a:pPr>
            <a:r>
              <a:rPr lang="en-US" smtClean="0">
                <a:ea typeface="ＭＳ Ｐゴシック"/>
                <a:cs typeface="ＭＳ Ｐゴシック"/>
              </a:rPr>
              <a:t>An overview of ANOVA</a:t>
            </a:r>
          </a:p>
          <a:p>
            <a:pPr marL="381000" indent="-381000" eaLnBrk="1" hangingPunct="1">
              <a:lnSpc>
                <a:spcPct val="180000"/>
              </a:lnSpc>
              <a:buClr>
                <a:srgbClr val="CC0000"/>
              </a:buClr>
              <a:buSzPct val="60000"/>
            </a:pPr>
            <a:r>
              <a:rPr lang="en-US" smtClean="0">
                <a:ea typeface="ＭＳ Ｐゴシック"/>
                <a:cs typeface="ＭＳ Ｐゴシック"/>
              </a:rPr>
              <a:t>The ANOVA model</a:t>
            </a:r>
          </a:p>
          <a:p>
            <a:pPr marL="381000" indent="-381000" eaLnBrk="1" hangingPunct="1">
              <a:lnSpc>
                <a:spcPct val="180000"/>
              </a:lnSpc>
              <a:buClr>
                <a:srgbClr val="CC0000"/>
              </a:buClr>
              <a:buSzPct val="60000"/>
            </a:pPr>
            <a:r>
              <a:rPr lang="en-US" smtClean="0">
                <a:ea typeface="ＭＳ Ｐゴシック"/>
                <a:cs typeface="ＭＳ Ｐゴシック"/>
              </a:rPr>
              <a:t>Testing hypotheses in one-way ANOVA</a:t>
            </a:r>
          </a:p>
          <a:p>
            <a:pPr marL="381000" indent="-381000" eaLnBrk="1" hangingPunct="1">
              <a:lnSpc>
                <a:spcPct val="180000"/>
              </a:lnSpc>
              <a:buClr>
                <a:srgbClr val="CC0000"/>
              </a:buClr>
              <a:buSzPct val="60000"/>
            </a:pPr>
            <a:r>
              <a:rPr lang="en-US" smtClean="0">
                <a:ea typeface="ＭＳ Ｐゴシック"/>
                <a:cs typeface="ＭＳ Ｐゴシック"/>
              </a:rPr>
              <a:t>The </a:t>
            </a:r>
            <a:r>
              <a:rPr lang="en-US" i="1" smtClean="0">
                <a:ea typeface="ＭＳ Ｐゴシック"/>
                <a:cs typeface="ＭＳ Ｐゴシック"/>
              </a:rPr>
              <a:t>F</a:t>
            </a:r>
            <a:r>
              <a:rPr lang="en-US" smtClean="0">
                <a:ea typeface="ＭＳ Ｐゴシック"/>
                <a:cs typeface="ＭＳ Ｐゴシック"/>
              </a:rPr>
              <a:t>-test</a:t>
            </a:r>
          </a:p>
          <a:p>
            <a:pPr marL="381000" indent="-381000" eaLnBrk="1" hangingPunct="1">
              <a:lnSpc>
                <a:spcPct val="180000"/>
              </a:lnSpc>
              <a:buClr>
                <a:srgbClr val="CC0000"/>
              </a:buClr>
              <a:buSzPct val="60000"/>
            </a:pPr>
            <a:r>
              <a:rPr lang="en-US" smtClean="0">
                <a:ea typeface="ＭＳ Ｐゴシック"/>
                <a:cs typeface="ＭＳ Ｐゴシック"/>
              </a:rPr>
              <a:t>The ANOVA table</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62" name="Rectangle 2"/>
          <p:cNvSpPr>
            <a:spLocks noChangeArrowheads="1"/>
          </p:cNvSpPr>
          <p:nvPr/>
        </p:nvSpPr>
        <p:spPr bwMode="auto">
          <a:xfrm>
            <a:off x="762000" y="3124200"/>
            <a:ext cx="7924800" cy="1295400"/>
          </a:xfrm>
          <a:prstGeom prst="rect">
            <a:avLst/>
          </a:prstGeom>
          <a:solidFill>
            <a:srgbClr val="FFCC66"/>
          </a:solidFill>
          <a:ln w="9525">
            <a:noFill/>
            <a:miter lim="800000"/>
            <a:headEnd/>
            <a:tailEnd/>
          </a:ln>
        </p:spPr>
        <p:txBody>
          <a:bodyPr wrap="none" anchor="ctr"/>
          <a:lstStyle/>
          <a:p>
            <a:endParaRPr lang="en-US" sz="1800"/>
          </a:p>
        </p:txBody>
      </p:sp>
      <p:sp>
        <p:nvSpPr>
          <p:cNvPr id="25602" name="Rectangle 3"/>
          <p:cNvSpPr>
            <a:spLocks noGrp="1" noChangeArrowheads="1"/>
          </p:cNvSpPr>
          <p:nvPr>
            <p:ph type="title"/>
          </p:nvPr>
        </p:nvSpPr>
        <p:spPr/>
        <p:txBody>
          <a:bodyPr/>
          <a:lstStyle/>
          <a:p>
            <a:pPr eaLnBrk="1" hangingPunct="1"/>
            <a:r>
              <a:rPr lang="en-US" smtClean="0">
                <a:ea typeface="ＭＳ Ｐゴシック"/>
                <a:cs typeface="ＭＳ Ｐゴシック"/>
              </a:rPr>
              <a:t>The idea of ANOVA</a:t>
            </a:r>
          </a:p>
        </p:txBody>
      </p:sp>
      <p:sp>
        <p:nvSpPr>
          <p:cNvPr id="1218564" name="Rectangle 4"/>
          <p:cNvSpPr>
            <a:spLocks noGrp="1" noChangeArrowheads="1"/>
          </p:cNvSpPr>
          <p:nvPr>
            <p:ph type="body" idx="1"/>
          </p:nvPr>
        </p:nvSpPr>
        <p:spPr>
          <a:xfrm>
            <a:off x="457200" y="1066800"/>
            <a:ext cx="8229600" cy="3581400"/>
          </a:xfrm>
        </p:spPr>
        <p:txBody>
          <a:bodyPr/>
          <a:lstStyle/>
          <a:p>
            <a:pPr marL="0" indent="0" eaLnBrk="1" hangingPunct="1">
              <a:lnSpc>
                <a:spcPct val="130000"/>
              </a:lnSpc>
              <a:buFont typeface="Wingdings" pitchFamily="2" charset="2"/>
              <a:buNone/>
            </a:pPr>
            <a:r>
              <a:rPr lang="en-US" sz="1800" i="1" smtClean="0">
                <a:ea typeface="ＭＳ Ｐゴシック"/>
                <a:cs typeface="ＭＳ Ｐゴシック"/>
              </a:rPr>
              <a:t>Reminders:</a:t>
            </a:r>
            <a:r>
              <a:rPr lang="en-US" sz="1800" smtClean="0">
                <a:ea typeface="ＭＳ Ｐゴシック"/>
                <a:cs typeface="ＭＳ Ｐゴシック"/>
              </a:rPr>
              <a:t> A </a:t>
            </a:r>
            <a:r>
              <a:rPr lang="en-US" sz="1800" b="1" smtClean="0">
                <a:ea typeface="ＭＳ Ｐゴシック"/>
                <a:cs typeface="ＭＳ Ｐゴシック"/>
              </a:rPr>
              <a:t>factor</a:t>
            </a:r>
            <a:r>
              <a:rPr lang="en-US" sz="1800" smtClean="0">
                <a:ea typeface="ＭＳ Ｐゴシック"/>
                <a:cs typeface="ＭＳ Ｐゴシック"/>
              </a:rPr>
              <a:t> is a variable that can take one of several </a:t>
            </a:r>
            <a:r>
              <a:rPr lang="en-US" sz="1800" b="1" smtClean="0">
                <a:ea typeface="ＭＳ Ｐゴシック"/>
                <a:cs typeface="ＭＳ Ｐゴシック"/>
              </a:rPr>
              <a:t>levels</a:t>
            </a:r>
            <a:r>
              <a:rPr lang="en-US" sz="1800" smtClean="0">
                <a:ea typeface="ＭＳ Ｐゴシック"/>
                <a:cs typeface="ＭＳ Ｐゴシック"/>
              </a:rPr>
              <a:t> used to differentiate one group from another.</a:t>
            </a:r>
          </a:p>
          <a:p>
            <a:pPr marL="0" indent="0" eaLnBrk="1" hangingPunct="1">
              <a:lnSpc>
                <a:spcPct val="130000"/>
              </a:lnSpc>
              <a:spcAft>
                <a:spcPct val="45000"/>
              </a:spcAft>
              <a:buFont typeface="Wingdings" pitchFamily="2" charset="2"/>
              <a:buNone/>
            </a:pPr>
            <a:r>
              <a:rPr lang="en-US" sz="1800" smtClean="0">
                <a:ea typeface="ＭＳ Ｐゴシック"/>
                <a:cs typeface="ＭＳ Ｐゴシック"/>
              </a:rPr>
              <a:t>An experiment has a </a:t>
            </a:r>
            <a:r>
              <a:rPr lang="en-US" sz="1800" b="1" smtClean="0">
                <a:ea typeface="ＭＳ Ｐゴシック"/>
                <a:cs typeface="ＭＳ Ｐゴシック"/>
              </a:rPr>
              <a:t>one-way,</a:t>
            </a:r>
            <a:r>
              <a:rPr lang="en-US" sz="1800" smtClean="0">
                <a:ea typeface="ＭＳ Ｐゴシック"/>
                <a:cs typeface="ＭＳ Ｐゴシック"/>
              </a:rPr>
              <a:t> or </a:t>
            </a:r>
            <a:r>
              <a:rPr lang="en-US" sz="1800" b="1" smtClean="0">
                <a:ea typeface="ＭＳ Ｐゴシック"/>
                <a:cs typeface="ＭＳ Ｐゴシック"/>
              </a:rPr>
              <a:t>completely randomized, design</a:t>
            </a:r>
            <a:r>
              <a:rPr lang="en-US" sz="1800" smtClean="0">
                <a:ea typeface="ＭＳ Ｐゴシック"/>
                <a:cs typeface="ＭＳ Ｐゴシック"/>
              </a:rPr>
              <a:t> if several levels of one factor are being studied and the individuals are randomly assigned to its levels. (There is only one way to group the data</a:t>
            </a:r>
            <a:r>
              <a:rPr lang="en-US" sz="1600" smtClean="0">
                <a:ea typeface="ＭＳ Ｐゴシック"/>
                <a:cs typeface="ＭＳ Ｐゴシック"/>
              </a:rPr>
              <a:t>.</a:t>
            </a:r>
            <a:r>
              <a:rPr lang="en-US" sz="1800" smtClean="0">
                <a:ea typeface="ＭＳ Ｐゴシック"/>
                <a:cs typeface="ＭＳ Ｐゴシック"/>
              </a:rPr>
              <a:t>)</a:t>
            </a:r>
          </a:p>
          <a:p>
            <a:pPr lvl="1" eaLnBrk="1" hangingPunct="1">
              <a:lnSpc>
                <a:spcPct val="130000"/>
              </a:lnSpc>
              <a:spcAft>
                <a:spcPct val="45000"/>
              </a:spcAft>
            </a:pPr>
            <a:r>
              <a:rPr lang="en-US" sz="1700" smtClean="0">
                <a:ea typeface="ＭＳ Ｐゴシック"/>
              </a:rPr>
              <a:t>Example: Four levels of nematode quantity in seedling growth experiment.</a:t>
            </a:r>
          </a:p>
          <a:p>
            <a:pPr lvl="1" eaLnBrk="1" hangingPunct="1">
              <a:lnSpc>
                <a:spcPct val="130000"/>
              </a:lnSpc>
              <a:spcAft>
                <a:spcPct val="45000"/>
              </a:spcAft>
            </a:pPr>
            <a:r>
              <a:rPr lang="en-US" sz="1700" smtClean="0">
                <a:ea typeface="ＭＳ Ｐゴシック"/>
              </a:rPr>
              <a:t>But two seed species and four levels of nematodes would be a two-way design.</a:t>
            </a:r>
          </a:p>
        </p:txBody>
      </p:sp>
      <p:sp>
        <p:nvSpPr>
          <p:cNvPr id="1218566" name="Rectangle 6"/>
          <p:cNvSpPr>
            <a:spLocks noChangeArrowheads="1"/>
          </p:cNvSpPr>
          <p:nvPr/>
        </p:nvSpPr>
        <p:spPr bwMode="auto">
          <a:xfrm>
            <a:off x="457200" y="4800600"/>
            <a:ext cx="8305800" cy="1676400"/>
          </a:xfrm>
          <a:prstGeom prst="rect">
            <a:avLst/>
          </a:prstGeom>
          <a:noFill/>
          <a:ln w="9525">
            <a:noFill/>
            <a:miter lim="800000"/>
            <a:headEnd/>
            <a:tailEnd/>
          </a:ln>
        </p:spPr>
        <p:txBody>
          <a:bodyPr/>
          <a:lstStyle/>
          <a:p>
            <a:pPr>
              <a:lnSpc>
                <a:spcPct val="130000"/>
              </a:lnSpc>
              <a:spcBef>
                <a:spcPct val="20000"/>
              </a:spcBef>
              <a:spcAft>
                <a:spcPct val="45000"/>
              </a:spcAft>
              <a:buClr>
                <a:srgbClr val="00CC99"/>
              </a:buClr>
              <a:buSzPct val="65000"/>
              <a:buFont typeface="Wingdings" pitchFamily="2" charset="2"/>
              <a:buNone/>
            </a:pPr>
            <a:r>
              <a:rPr lang="en-US" sz="2000" b="1">
                <a:solidFill>
                  <a:srgbClr val="333399"/>
                </a:solidFill>
              </a:rPr>
              <a:t>Analysis of variance</a:t>
            </a:r>
            <a:r>
              <a:rPr lang="en-US" sz="2000">
                <a:solidFill>
                  <a:srgbClr val="333399"/>
                </a:solidFill>
              </a:rPr>
              <a:t> (</a:t>
            </a:r>
            <a:r>
              <a:rPr lang="en-US" sz="2000" b="1">
                <a:solidFill>
                  <a:srgbClr val="333399"/>
                </a:solidFill>
              </a:rPr>
              <a:t>ANOVA</a:t>
            </a:r>
            <a:r>
              <a:rPr lang="en-US" sz="2000">
                <a:solidFill>
                  <a:srgbClr val="333399"/>
                </a:solidFill>
              </a:rPr>
              <a:t>)</a:t>
            </a:r>
            <a:r>
              <a:rPr lang="en-US" sz="2000"/>
              <a:t> is the technique used to determine whether more than two population means are equal. </a:t>
            </a:r>
          </a:p>
          <a:p>
            <a:pPr>
              <a:lnSpc>
                <a:spcPct val="130000"/>
              </a:lnSpc>
              <a:spcBef>
                <a:spcPct val="20000"/>
              </a:spcBef>
              <a:spcAft>
                <a:spcPct val="45000"/>
              </a:spcAft>
              <a:buClr>
                <a:srgbClr val="00CC99"/>
              </a:buClr>
              <a:buSzPct val="65000"/>
              <a:buFont typeface="Wingdings" pitchFamily="2" charset="2"/>
              <a:buNone/>
            </a:pPr>
            <a:r>
              <a:rPr lang="en-US" sz="2000" b="1">
                <a:solidFill>
                  <a:srgbClr val="333399"/>
                </a:solidFill>
              </a:rPr>
              <a:t>One-way ANOVA</a:t>
            </a:r>
            <a:r>
              <a:rPr lang="en-US" sz="2000"/>
              <a:t> is used for completely randomized, one-way designs.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18564">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218564">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185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185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62" grpId="0" animBg="1"/>
      <p:bldP spid="1218564" grpId="0" build="p" bldLvl="2" autoUpdateAnimBg="0"/>
      <p:bldP spid="1218566"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p:nvPr>
        </p:nvSpPr>
        <p:spPr/>
        <p:txBody>
          <a:bodyPr/>
          <a:lstStyle/>
          <a:p>
            <a:pPr eaLnBrk="1" hangingPunct="1">
              <a:lnSpc>
                <a:spcPct val="110000"/>
              </a:lnSpc>
            </a:pPr>
            <a:r>
              <a:rPr lang="en-US" sz="2800" b="1" smtClean="0">
                <a:solidFill>
                  <a:srgbClr val="333399"/>
                </a:solidFill>
                <a:ea typeface="ＭＳ Ｐゴシック"/>
                <a:cs typeface="ＭＳ Ｐゴシック"/>
              </a:rPr>
              <a:t>Comparing means</a:t>
            </a:r>
          </a:p>
        </p:txBody>
      </p:sp>
      <p:sp>
        <p:nvSpPr>
          <p:cNvPr id="55298" name="Rectangle 3"/>
          <p:cNvSpPr>
            <a:spLocks noGrp="1" noChangeArrowheads="1"/>
          </p:cNvSpPr>
          <p:nvPr>
            <p:ph type="body" sz="half" idx="1"/>
          </p:nvPr>
        </p:nvSpPr>
        <p:spPr>
          <a:xfrm>
            <a:off x="457200" y="1143000"/>
            <a:ext cx="8229600" cy="2362200"/>
          </a:xfrm>
        </p:spPr>
        <p:txBody>
          <a:bodyPr/>
          <a:lstStyle/>
          <a:p>
            <a:pPr marL="0" indent="0" eaLnBrk="1" hangingPunct="1">
              <a:lnSpc>
                <a:spcPct val="130000"/>
              </a:lnSpc>
              <a:buFont typeface="Wingdings" pitchFamily="2" charset="2"/>
              <a:buNone/>
            </a:pPr>
            <a:r>
              <a:rPr lang="en-US" smtClean="0">
                <a:ea typeface="ＭＳ Ｐゴシック"/>
                <a:cs typeface="ＭＳ Ｐゴシック"/>
              </a:rPr>
              <a:t>We want to know if the observed differences in sample means are likely to have occurred by chance just because of random sampling.</a:t>
            </a:r>
          </a:p>
        </p:txBody>
      </p:sp>
      <p:sp>
        <p:nvSpPr>
          <p:cNvPr id="1219588" name="Rectangle 4"/>
          <p:cNvSpPr>
            <a:spLocks noChangeArrowheads="1"/>
          </p:cNvSpPr>
          <p:nvPr/>
        </p:nvSpPr>
        <p:spPr bwMode="auto">
          <a:xfrm>
            <a:off x="457200" y="5181600"/>
            <a:ext cx="8229600" cy="1219200"/>
          </a:xfrm>
          <a:prstGeom prst="rect">
            <a:avLst/>
          </a:prstGeom>
          <a:noFill/>
          <a:ln w="9525">
            <a:noFill/>
            <a:miter lim="800000"/>
            <a:headEnd/>
            <a:tailEnd/>
          </a:ln>
        </p:spPr>
        <p:txBody>
          <a:bodyPr/>
          <a:lstStyle/>
          <a:p>
            <a:pPr>
              <a:lnSpc>
                <a:spcPct val="130000"/>
              </a:lnSpc>
              <a:spcBef>
                <a:spcPct val="20000"/>
              </a:spcBef>
              <a:buClr>
                <a:srgbClr val="00CC99"/>
              </a:buClr>
              <a:buSzPct val="65000"/>
              <a:buFont typeface="Wingdings" pitchFamily="2" charset="2"/>
              <a:buNone/>
            </a:pPr>
            <a:r>
              <a:rPr lang="en-US" sz="2000"/>
              <a:t>This will likely depend on both the difference between the sample means and how much variability there is within each sample.</a:t>
            </a:r>
          </a:p>
        </p:txBody>
      </p:sp>
      <p:pic>
        <p:nvPicPr>
          <p:cNvPr id="55300" name="Picture 8" descr="figure-22-06"/>
          <p:cNvPicPr>
            <a:picLocks noGrp="1" noChangeAspect="1" noChangeArrowheads="1"/>
          </p:cNvPicPr>
          <p:nvPr>
            <p:ph sz="half" idx="2"/>
          </p:nvPr>
        </p:nvPicPr>
        <p:blipFill>
          <a:blip r:embed="rId3"/>
          <a:srcRect/>
          <a:stretch>
            <a:fillRect/>
          </a:stretch>
        </p:blipFill>
        <p:spPr>
          <a:xfrm>
            <a:off x="609600" y="2135188"/>
            <a:ext cx="7924800" cy="3046412"/>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195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9588"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6386" name="Rectangle 2"/>
          <p:cNvSpPr>
            <a:spLocks noChangeArrowheads="1"/>
          </p:cNvSpPr>
          <p:nvPr/>
        </p:nvSpPr>
        <p:spPr bwMode="auto">
          <a:xfrm>
            <a:off x="1219200" y="1905000"/>
            <a:ext cx="7010400" cy="2895600"/>
          </a:xfrm>
          <a:prstGeom prst="rect">
            <a:avLst/>
          </a:prstGeom>
          <a:solidFill>
            <a:srgbClr val="BFBFBF"/>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en-US" sz="1800">
              <a:ea typeface="+mn-ea"/>
              <a:cs typeface="+mn-cs"/>
            </a:endParaRPr>
          </a:p>
        </p:txBody>
      </p:sp>
      <p:sp>
        <p:nvSpPr>
          <p:cNvPr id="40962" name="Rectangle 3"/>
          <p:cNvSpPr>
            <a:spLocks noGrp="1" noChangeArrowheads="1"/>
          </p:cNvSpPr>
          <p:nvPr>
            <p:ph type="title"/>
          </p:nvPr>
        </p:nvSpPr>
        <p:spPr/>
        <p:txBody>
          <a:bodyPr/>
          <a:lstStyle/>
          <a:p>
            <a:pPr eaLnBrk="1" hangingPunct="1">
              <a:lnSpc>
                <a:spcPct val="110000"/>
              </a:lnSpc>
            </a:pPr>
            <a:r>
              <a:rPr lang="en-US" sz="2400" b="1" smtClean="0">
                <a:solidFill>
                  <a:srgbClr val="333399"/>
                </a:solidFill>
                <a:ea typeface="ＭＳ Ｐゴシック"/>
                <a:cs typeface="ＭＳ Ｐゴシック"/>
              </a:rPr>
              <a:t>Two-sample </a:t>
            </a:r>
            <a:r>
              <a:rPr lang="en-US" sz="2400" b="1" i="1" smtClean="0">
                <a:solidFill>
                  <a:srgbClr val="333399"/>
                </a:solidFill>
                <a:ea typeface="ＭＳ Ｐゴシック"/>
                <a:cs typeface="ＭＳ Ｐゴシック"/>
              </a:rPr>
              <a:t>t</a:t>
            </a:r>
            <a:r>
              <a:rPr lang="en-US" sz="2400" b="1" smtClean="0">
                <a:solidFill>
                  <a:srgbClr val="333399"/>
                </a:solidFill>
                <a:ea typeface="ＭＳ Ｐゴシック"/>
                <a:cs typeface="ＭＳ Ｐゴシック"/>
              </a:rPr>
              <a:t> statistic</a:t>
            </a:r>
          </a:p>
        </p:txBody>
      </p:sp>
      <p:sp>
        <p:nvSpPr>
          <p:cNvPr id="40963" name="Rectangle 4"/>
          <p:cNvSpPr>
            <a:spLocks noGrp="1" noChangeArrowheads="1"/>
          </p:cNvSpPr>
          <p:nvPr>
            <p:ph type="body" idx="1"/>
          </p:nvPr>
        </p:nvSpPr>
        <p:spPr>
          <a:xfrm>
            <a:off x="457200" y="838200"/>
            <a:ext cx="8229600" cy="1447800"/>
          </a:xfrm>
        </p:spPr>
        <p:txBody>
          <a:bodyPr/>
          <a:lstStyle/>
          <a:p>
            <a:pPr marL="0" indent="0" eaLnBrk="1" hangingPunct="1">
              <a:lnSpc>
                <a:spcPct val="140000"/>
              </a:lnSpc>
              <a:buFont typeface="Wingdings" pitchFamily="2" charset="2"/>
              <a:buNone/>
            </a:pPr>
            <a:r>
              <a:rPr lang="en-US" sz="1800" smtClean="0">
                <a:ea typeface="ＭＳ Ｐゴシック"/>
                <a:cs typeface="ＭＳ Ｐゴシック"/>
              </a:rPr>
              <a:t>A two sample </a:t>
            </a:r>
            <a:r>
              <a:rPr lang="en-US" sz="1800" i="1" smtClean="0">
                <a:ea typeface="ＭＳ Ｐゴシック"/>
                <a:cs typeface="ＭＳ Ｐゴシック"/>
              </a:rPr>
              <a:t>t</a:t>
            </a:r>
            <a:r>
              <a:rPr lang="en-US" sz="1800" smtClean="0">
                <a:ea typeface="ＭＳ Ｐゴシック"/>
                <a:cs typeface="ＭＳ Ｐゴシック"/>
              </a:rPr>
              <a:t>-test assuming equal variance and an ANOVA comparing only two groups will give you the exact same </a:t>
            </a:r>
            <a:r>
              <a:rPr lang="en-US" sz="1800" i="1" smtClean="0">
                <a:ea typeface="ＭＳ Ｐゴシック"/>
                <a:cs typeface="ＭＳ Ｐゴシック"/>
              </a:rPr>
              <a:t>p</a:t>
            </a:r>
            <a:r>
              <a:rPr lang="en-US" sz="1800" smtClean="0">
                <a:ea typeface="ＭＳ Ｐゴシック"/>
                <a:cs typeface="ＭＳ Ｐゴシック"/>
              </a:rPr>
              <a:t>-value (for a two-sided hypothesis).</a:t>
            </a:r>
          </a:p>
        </p:txBody>
      </p:sp>
      <p:sp>
        <p:nvSpPr>
          <p:cNvPr id="40964" name="Text Box 5"/>
          <p:cNvSpPr txBox="1">
            <a:spLocks noChangeArrowheads="1"/>
          </p:cNvSpPr>
          <p:nvPr/>
        </p:nvSpPr>
        <p:spPr bwMode="auto">
          <a:xfrm>
            <a:off x="4953000" y="2057400"/>
            <a:ext cx="3124200" cy="1482725"/>
          </a:xfrm>
          <a:prstGeom prst="rect">
            <a:avLst/>
          </a:prstGeom>
          <a:noFill/>
          <a:ln w="9525">
            <a:noFill/>
            <a:miter lim="800000"/>
            <a:headEnd/>
            <a:tailEnd/>
          </a:ln>
        </p:spPr>
        <p:txBody>
          <a:bodyPr>
            <a:spAutoFit/>
          </a:bodyPr>
          <a:lstStyle/>
          <a:p>
            <a:r>
              <a:rPr lang="en-US" sz="1600" i="1"/>
              <a:t>H</a:t>
            </a:r>
            <a:r>
              <a:rPr lang="en-US" sz="1600" baseline="-25000"/>
              <a:t>0</a:t>
            </a:r>
            <a:r>
              <a:rPr lang="en-US" sz="1600"/>
              <a:t>: </a:t>
            </a:r>
            <a:r>
              <a:rPr lang="en-US" sz="1600" i="1">
                <a:latin typeface="Symbol" pitchFamily="18" charset="2"/>
              </a:rPr>
              <a:t>m</a:t>
            </a:r>
            <a:r>
              <a:rPr lang="en-US" sz="1600" baseline="-25000">
                <a:latin typeface="Symbol" pitchFamily="18" charset="2"/>
              </a:rPr>
              <a:t>1</a:t>
            </a:r>
            <a:r>
              <a:rPr lang="en-US" sz="1600"/>
              <a:t>=</a:t>
            </a:r>
            <a:r>
              <a:rPr lang="en-US" sz="1600" i="1">
                <a:latin typeface="Symbol" pitchFamily="18" charset="2"/>
              </a:rPr>
              <a:t>m</a:t>
            </a:r>
            <a:r>
              <a:rPr lang="en-US" sz="1600" baseline="-25000">
                <a:latin typeface="Symbol" pitchFamily="18" charset="2"/>
              </a:rPr>
              <a:t>2</a:t>
            </a:r>
            <a:endParaRPr lang="en-US" sz="1600"/>
          </a:p>
          <a:p>
            <a:r>
              <a:rPr lang="en-US" sz="1600" i="1"/>
              <a:t>H</a:t>
            </a:r>
            <a:r>
              <a:rPr lang="en-US" sz="1600" i="1" baseline="-25000"/>
              <a:t>a</a:t>
            </a:r>
            <a:r>
              <a:rPr lang="en-US" sz="1600"/>
              <a:t>: </a:t>
            </a:r>
            <a:r>
              <a:rPr lang="en-US" sz="1600" i="1">
                <a:latin typeface="Symbol" pitchFamily="18" charset="2"/>
              </a:rPr>
              <a:t>m</a:t>
            </a:r>
            <a:r>
              <a:rPr lang="en-US" sz="1600" baseline="-25000">
                <a:latin typeface="Symbol" pitchFamily="18" charset="2"/>
              </a:rPr>
              <a:t>1</a:t>
            </a:r>
            <a:r>
              <a:rPr lang="en-US" sz="1600"/>
              <a:t>≠</a:t>
            </a:r>
            <a:r>
              <a:rPr lang="en-US" sz="1600" i="1">
                <a:latin typeface="Symbol" pitchFamily="18" charset="2"/>
              </a:rPr>
              <a:t>m</a:t>
            </a:r>
            <a:r>
              <a:rPr lang="en-US" sz="1600" baseline="-25000">
                <a:latin typeface="Symbol" pitchFamily="18" charset="2"/>
              </a:rPr>
              <a:t>2</a:t>
            </a:r>
          </a:p>
          <a:p>
            <a:endParaRPr lang="en-US" sz="1600" baseline="-25000">
              <a:latin typeface="Symbol" pitchFamily="18" charset="2"/>
            </a:endParaRPr>
          </a:p>
          <a:p>
            <a:r>
              <a:rPr lang="en-US" sz="1600" i="1"/>
              <a:t>t</a:t>
            </a:r>
            <a:r>
              <a:rPr lang="en-US" sz="1600"/>
              <a:t>-test assuming equal variance</a:t>
            </a:r>
          </a:p>
          <a:p>
            <a:endParaRPr lang="en-US" sz="1600"/>
          </a:p>
          <a:p>
            <a:r>
              <a:rPr lang="en-US" sz="1600" i="1"/>
              <a:t>t-</a:t>
            </a:r>
            <a:r>
              <a:rPr lang="en-US" sz="1600"/>
              <a:t>statistic</a:t>
            </a:r>
          </a:p>
        </p:txBody>
      </p:sp>
      <p:sp>
        <p:nvSpPr>
          <p:cNvPr id="40965" name="Text Box 6"/>
          <p:cNvSpPr txBox="1">
            <a:spLocks noChangeArrowheads="1"/>
          </p:cNvSpPr>
          <p:nvPr/>
        </p:nvSpPr>
        <p:spPr bwMode="auto">
          <a:xfrm>
            <a:off x="1905000" y="2079625"/>
            <a:ext cx="1765300" cy="1482725"/>
          </a:xfrm>
          <a:prstGeom prst="rect">
            <a:avLst/>
          </a:prstGeom>
          <a:noFill/>
          <a:ln w="9525">
            <a:noFill/>
            <a:miter lim="800000"/>
            <a:headEnd/>
            <a:tailEnd/>
          </a:ln>
        </p:spPr>
        <p:txBody>
          <a:bodyPr wrap="none">
            <a:spAutoFit/>
          </a:bodyPr>
          <a:lstStyle/>
          <a:p>
            <a:r>
              <a:rPr lang="en-US" sz="1600" i="1"/>
              <a:t>H</a:t>
            </a:r>
            <a:r>
              <a:rPr lang="en-US" sz="1600" baseline="-25000"/>
              <a:t>0</a:t>
            </a:r>
            <a:r>
              <a:rPr lang="en-US" sz="1600"/>
              <a:t>: </a:t>
            </a:r>
            <a:r>
              <a:rPr lang="en-US" sz="1600" i="1">
                <a:latin typeface="Symbol" pitchFamily="18" charset="2"/>
              </a:rPr>
              <a:t>m</a:t>
            </a:r>
            <a:r>
              <a:rPr lang="en-US" sz="1600" baseline="-25000">
                <a:latin typeface="Symbol" pitchFamily="18" charset="2"/>
              </a:rPr>
              <a:t>1</a:t>
            </a:r>
            <a:r>
              <a:rPr lang="en-US" sz="1600"/>
              <a:t>=</a:t>
            </a:r>
            <a:r>
              <a:rPr lang="en-US" sz="1600" i="1">
                <a:latin typeface="Symbol" pitchFamily="18" charset="2"/>
              </a:rPr>
              <a:t>m</a:t>
            </a:r>
            <a:r>
              <a:rPr lang="en-US" sz="1600" baseline="-25000">
                <a:latin typeface="Symbol" pitchFamily="18" charset="2"/>
              </a:rPr>
              <a:t>2</a:t>
            </a:r>
            <a:endParaRPr lang="en-US" sz="1600"/>
          </a:p>
          <a:p>
            <a:r>
              <a:rPr lang="en-US" sz="1600" i="1"/>
              <a:t>H</a:t>
            </a:r>
            <a:r>
              <a:rPr lang="en-US" sz="1600" i="1" baseline="-25000"/>
              <a:t>a</a:t>
            </a:r>
            <a:r>
              <a:rPr lang="en-US" sz="1600"/>
              <a:t>: </a:t>
            </a:r>
            <a:r>
              <a:rPr lang="en-US" sz="1600" i="1">
                <a:latin typeface="Symbol" pitchFamily="18" charset="2"/>
              </a:rPr>
              <a:t>m</a:t>
            </a:r>
            <a:r>
              <a:rPr lang="en-US" sz="1600" baseline="-25000">
                <a:latin typeface="Symbol" pitchFamily="18" charset="2"/>
              </a:rPr>
              <a:t>1</a:t>
            </a:r>
            <a:r>
              <a:rPr lang="en-US" sz="1600"/>
              <a:t>≠</a:t>
            </a:r>
            <a:r>
              <a:rPr lang="en-US" sz="1600" i="1">
                <a:latin typeface="Symbol" pitchFamily="18" charset="2"/>
              </a:rPr>
              <a:t>m</a:t>
            </a:r>
            <a:r>
              <a:rPr lang="en-US" sz="1600" baseline="-25000">
                <a:latin typeface="Symbol" pitchFamily="18" charset="2"/>
              </a:rPr>
              <a:t>2</a:t>
            </a:r>
          </a:p>
          <a:p>
            <a:endParaRPr lang="en-US" sz="1600" baseline="-25000">
              <a:latin typeface="Symbol" pitchFamily="18" charset="2"/>
            </a:endParaRPr>
          </a:p>
          <a:p>
            <a:r>
              <a:rPr lang="en-US" sz="1600"/>
              <a:t>One-way ANOVA</a:t>
            </a:r>
          </a:p>
          <a:p>
            <a:endParaRPr lang="en-US" sz="1600"/>
          </a:p>
          <a:p>
            <a:r>
              <a:rPr lang="en-US" sz="1600"/>
              <a:t>F-statistic</a:t>
            </a:r>
          </a:p>
        </p:txBody>
      </p:sp>
      <p:sp>
        <p:nvSpPr>
          <p:cNvPr id="40966" name="Text Box 7"/>
          <p:cNvSpPr txBox="1">
            <a:spLocks noChangeArrowheads="1"/>
          </p:cNvSpPr>
          <p:nvPr/>
        </p:nvSpPr>
        <p:spPr bwMode="auto">
          <a:xfrm>
            <a:off x="2895600" y="3962400"/>
            <a:ext cx="4267200" cy="366713"/>
          </a:xfrm>
          <a:prstGeom prst="rect">
            <a:avLst/>
          </a:prstGeom>
          <a:noFill/>
          <a:ln w="9525">
            <a:noFill/>
            <a:miter lim="800000"/>
            <a:headEnd/>
            <a:tailEnd/>
          </a:ln>
        </p:spPr>
        <p:txBody>
          <a:bodyPr>
            <a:spAutoFit/>
          </a:bodyPr>
          <a:lstStyle/>
          <a:p>
            <a:r>
              <a:rPr lang="en-US" sz="1800"/>
              <a:t>F = </a:t>
            </a:r>
            <a:r>
              <a:rPr lang="en-US" sz="1800" i="1"/>
              <a:t>t</a:t>
            </a:r>
            <a:r>
              <a:rPr lang="en-US" sz="1800" baseline="30000"/>
              <a:t>2</a:t>
            </a:r>
            <a:r>
              <a:rPr lang="en-US" sz="1800"/>
              <a:t> and both </a:t>
            </a:r>
            <a:r>
              <a:rPr lang="en-US" sz="1800" i="1"/>
              <a:t>p</a:t>
            </a:r>
            <a:r>
              <a:rPr lang="en-US" sz="1800"/>
              <a:t>-values are the same.</a:t>
            </a:r>
          </a:p>
        </p:txBody>
      </p:sp>
      <p:sp>
        <p:nvSpPr>
          <p:cNvPr id="40967" name="Rectangle 8"/>
          <p:cNvSpPr>
            <a:spLocks noChangeArrowheads="1"/>
          </p:cNvSpPr>
          <p:nvPr/>
        </p:nvSpPr>
        <p:spPr bwMode="auto">
          <a:xfrm>
            <a:off x="457200" y="5029200"/>
            <a:ext cx="8229600" cy="1524000"/>
          </a:xfrm>
          <a:prstGeom prst="rect">
            <a:avLst/>
          </a:prstGeom>
          <a:noFill/>
          <a:ln w="9525">
            <a:noFill/>
            <a:miter lim="800000"/>
            <a:headEnd/>
            <a:tailEnd/>
          </a:ln>
        </p:spPr>
        <p:txBody>
          <a:bodyPr/>
          <a:lstStyle/>
          <a:p>
            <a:pPr>
              <a:lnSpc>
                <a:spcPct val="140000"/>
              </a:lnSpc>
              <a:spcBef>
                <a:spcPct val="20000"/>
              </a:spcBef>
              <a:buClr>
                <a:srgbClr val="00CC99"/>
              </a:buClr>
              <a:buSzPct val="65000"/>
              <a:buFont typeface="Wingdings" pitchFamily="2" charset="2"/>
              <a:buNone/>
            </a:pPr>
            <a:r>
              <a:rPr lang="en-US" sz="1800"/>
              <a:t>But the </a:t>
            </a:r>
            <a:r>
              <a:rPr lang="en-US" sz="1800" i="1"/>
              <a:t>t</a:t>
            </a:r>
            <a:r>
              <a:rPr lang="en-US" sz="1800"/>
              <a:t>-test is more flexible: You may choose a one-sided alternative instead, or you may want to run a </a:t>
            </a:r>
            <a:r>
              <a:rPr lang="en-US" sz="1800" i="1"/>
              <a:t>t</a:t>
            </a:r>
            <a:r>
              <a:rPr lang="en-US" sz="1800"/>
              <a:t>-test assuming unequal variance if you are not sure that your two populations have the same standard deviation </a:t>
            </a:r>
            <a:r>
              <a:rPr lang="en-US" sz="1800" i="1">
                <a:latin typeface="Symbol" pitchFamily="18" charset="2"/>
              </a:rPr>
              <a:t>s</a:t>
            </a:r>
            <a:r>
              <a:rPr lang="en-US" sz="1800"/>
              <a: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7235" name="Rectangle 3"/>
          <p:cNvSpPr>
            <a:spLocks noGrp="1" noChangeArrowheads="1"/>
          </p:cNvSpPr>
          <p:nvPr>
            <p:ph type="body" idx="1"/>
          </p:nvPr>
        </p:nvSpPr>
        <p:spPr>
          <a:xfrm>
            <a:off x="457200" y="990600"/>
            <a:ext cx="8153400" cy="5638800"/>
          </a:xfrm>
        </p:spPr>
        <p:txBody>
          <a:bodyPr/>
          <a:lstStyle/>
          <a:p>
            <a:pPr marL="0" indent="0" defTabSz="1371600" eaLnBrk="1" hangingPunct="1">
              <a:lnSpc>
                <a:spcPct val="160000"/>
              </a:lnSpc>
            </a:pPr>
            <a:r>
              <a:rPr lang="en-US" smtClean="0">
                <a:ea typeface="ＭＳ Ｐゴシック"/>
                <a:cs typeface="ＭＳ Ｐゴシック"/>
              </a:rPr>
              <a:t> We </a:t>
            </a:r>
            <a:r>
              <a:rPr lang="en-US" b="1" smtClean="0">
                <a:solidFill>
                  <a:srgbClr val="333399"/>
                </a:solidFill>
                <a:ea typeface="ＭＳ Ｐゴシック"/>
                <a:cs typeface="ＭＳ Ｐゴシック"/>
              </a:rPr>
              <a:t>first</a:t>
            </a:r>
            <a:r>
              <a:rPr lang="en-US" smtClean="0">
                <a:ea typeface="ＭＳ Ｐゴシック"/>
                <a:cs typeface="ＭＳ Ｐゴシック"/>
              </a:rPr>
              <a:t> examine the multiple populations or multiple treatments to test for </a:t>
            </a:r>
            <a:r>
              <a:rPr lang="en-US" u="sng" smtClean="0">
                <a:ea typeface="ＭＳ Ｐゴシック"/>
                <a:cs typeface="ＭＳ Ｐゴシック"/>
              </a:rPr>
              <a:t>overall</a:t>
            </a:r>
            <a:r>
              <a:rPr lang="en-US" smtClean="0">
                <a:ea typeface="ＭＳ Ｐゴシック"/>
                <a:cs typeface="ＭＳ Ｐゴシック"/>
              </a:rPr>
              <a:t> statistical significance as evidence of </a:t>
            </a:r>
            <a:r>
              <a:rPr lang="en-US" u="sng" smtClean="0">
                <a:ea typeface="ＭＳ Ｐゴシック"/>
                <a:cs typeface="ＭＳ Ｐゴシック"/>
              </a:rPr>
              <a:t>any difference</a:t>
            </a:r>
            <a:r>
              <a:rPr lang="en-US" smtClean="0">
                <a:ea typeface="ＭＳ Ｐゴシック"/>
                <a:cs typeface="ＭＳ Ｐゴシック"/>
              </a:rPr>
              <a:t> among the parameters we want to compare. </a:t>
            </a:r>
            <a:r>
              <a:rPr lang="en-US" smtClean="0">
                <a:ea typeface="ＭＳ Ｐゴシック"/>
                <a:cs typeface="ＭＳ Ｐゴシック"/>
                <a:sym typeface="Wingdings" pitchFamily="2" charset="2"/>
              </a:rPr>
              <a:t></a:t>
            </a:r>
            <a:r>
              <a:rPr lang="en-US" b="1" smtClean="0">
                <a:solidFill>
                  <a:srgbClr val="333399"/>
                </a:solidFill>
                <a:ea typeface="ＭＳ Ｐゴシック"/>
                <a:cs typeface="ＭＳ Ｐゴシック"/>
                <a:sym typeface="Wingdings" pitchFamily="2" charset="2"/>
              </a:rPr>
              <a:t>ANOVA F-test</a:t>
            </a:r>
            <a:endParaRPr lang="en-US" sz="1600" smtClean="0">
              <a:ea typeface="ＭＳ Ｐゴシック"/>
              <a:cs typeface="ＭＳ Ｐゴシック"/>
              <a:sym typeface="Wingdings" pitchFamily="2" charset="2"/>
            </a:endParaRPr>
          </a:p>
          <a:p>
            <a:pPr marL="0" indent="0" defTabSz="1371600" eaLnBrk="1" hangingPunct="1">
              <a:lnSpc>
                <a:spcPct val="160000"/>
              </a:lnSpc>
            </a:pPr>
            <a:r>
              <a:rPr lang="en-US" b="1" u="sng" smtClean="0">
                <a:solidFill>
                  <a:srgbClr val="333399"/>
                </a:solidFill>
                <a:ea typeface="ＭＳ Ｐゴシック"/>
                <a:cs typeface="ＭＳ Ｐゴシック"/>
                <a:sym typeface="Wingdings" pitchFamily="2" charset="2"/>
              </a:rPr>
              <a:t>If</a:t>
            </a:r>
            <a:r>
              <a:rPr lang="en-US" u="sng" smtClean="0">
                <a:ea typeface="ＭＳ Ｐゴシック"/>
                <a:cs typeface="ＭＳ Ｐゴシック"/>
                <a:sym typeface="Wingdings" pitchFamily="2" charset="2"/>
              </a:rPr>
              <a:t> that overall test showed statistical significance</a:t>
            </a:r>
            <a:r>
              <a:rPr lang="en-US" smtClean="0">
                <a:ea typeface="ＭＳ Ｐゴシック"/>
                <a:cs typeface="ＭＳ Ｐゴシック"/>
                <a:sym typeface="Wingdings" pitchFamily="2" charset="2"/>
              </a:rPr>
              <a:t>, then a detailed follow-up analysis is legitimate.</a:t>
            </a:r>
          </a:p>
          <a:p>
            <a:pPr marL="457200" lvl="1" indent="0" defTabSz="1371600" eaLnBrk="1" hangingPunct="1">
              <a:lnSpc>
                <a:spcPct val="160000"/>
              </a:lnSpc>
              <a:spcBef>
                <a:spcPct val="75000"/>
              </a:spcBef>
            </a:pPr>
            <a:r>
              <a:rPr lang="en-US" smtClean="0">
                <a:ea typeface="ＭＳ Ｐゴシック"/>
                <a:sym typeface="Wingdings" pitchFamily="2" charset="2"/>
              </a:rPr>
              <a:t> If we planned our experiment with specific alternative hypotheses in mind (</a:t>
            </a:r>
            <a:r>
              <a:rPr lang="en-US" u="sng" smtClean="0">
                <a:ea typeface="ＭＳ Ｐゴシック"/>
                <a:sym typeface="Wingdings" pitchFamily="2" charset="2"/>
              </a:rPr>
              <a:t>before</a:t>
            </a:r>
            <a:r>
              <a:rPr lang="en-US" smtClean="0">
                <a:ea typeface="ＭＳ Ｐゴシック"/>
                <a:sym typeface="Wingdings" pitchFamily="2" charset="2"/>
              </a:rPr>
              <a:t> gathering the data), we can test them using </a:t>
            </a:r>
            <a:r>
              <a:rPr lang="en-US" b="1" smtClean="0">
                <a:solidFill>
                  <a:srgbClr val="333399"/>
                </a:solidFill>
                <a:ea typeface="ＭＳ Ｐゴシック"/>
                <a:sym typeface="Wingdings" pitchFamily="2" charset="2"/>
              </a:rPr>
              <a:t>contrasts</a:t>
            </a:r>
            <a:r>
              <a:rPr lang="en-US" b="1" smtClean="0">
                <a:ea typeface="ＭＳ Ｐゴシック"/>
                <a:sym typeface="Wingdings" pitchFamily="2" charset="2"/>
              </a:rPr>
              <a:t>.</a:t>
            </a:r>
          </a:p>
          <a:p>
            <a:pPr marL="457200" lvl="1" indent="0" defTabSz="1371600" eaLnBrk="1" hangingPunct="1">
              <a:lnSpc>
                <a:spcPct val="160000"/>
              </a:lnSpc>
              <a:spcBef>
                <a:spcPct val="75000"/>
              </a:spcBef>
            </a:pPr>
            <a:r>
              <a:rPr lang="en-US" smtClean="0">
                <a:ea typeface="ＭＳ Ｐゴシック"/>
                <a:sym typeface="Wingdings" pitchFamily="2" charset="2"/>
              </a:rPr>
              <a:t> If we do not have specific alternatives, we can examine all pair-wise parameter comparisons to define which parameters differ from which, using </a:t>
            </a:r>
            <a:r>
              <a:rPr lang="en-US" b="1" smtClean="0">
                <a:solidFill>
                  <a:srgbClr val="333399"/>
                </a:solidFill>
                <a:ea typeface="ＭＳ Ｐゴシック"/>
                <a:sym typeface="Wingdings" pitchFamily="2" charset="2"/>
              </a:rPr>
              <a:t>multiple comparisonsprocedures</a:t>
            </a:r>
            <a:r>
              <a:rPr lang="en-US" b="1" smtClean="0">
                <a:ea typeface="ＭＳ Ｐゴシック"/>
                <a:sym typeface="Wingdings" pitchFamily="2" charset="2"/>
              </a:rPr>
              <a:t>.</a:t>
            </a:r>
          </a:p>
        </p:txBody>
      </p:sp>
      <p:sp>
        <p:nvSpPr>
          <p:cNvPr id="31746" name="Text Box 9"/>
          <p:cNvSpPr txBox="1">
            <a:spLocks noChangeArrowheads="1"/>
          </p:cNvSpPr>
          <p:nvPr/>
        </p:nvSpPr>
        <p:spPr bwMode="auto">
          <a:xfrm>
            <a:off x="457200" y="228600"/>
            <a:ext cx="4724400" cy="579438"/>
          </a:xfrm>
          <a:prstGeom prst="rect">
            <a:avLst/>
          </a:prstGeom>
          <a:noFill/>
          <a:ln w="9525">
            <a:noFill/>
            <a:miter lim="800000"/>
            <a:headEnd/>
            <a:tailEnd/>
          </a:ln>
        </p:spPr>
        <p:txBody>
          <a:bodyPr>
            <a:spAutoFit/>
          </a:bodyPr>
          <a:lstStyle/>
          <a:p>
            <a:pPr>
              <a:spcBef>
                <a:spcPct val="50000"/>
              </a:spcBef>
            </a:pPr>
            <a:r>
              <a:rPr lang="en-US" sz="3200">
                <a:solidFill>
                  <a:srgbClr val="CC0000"/>
                </a:solidFill>
                <a:latin typeface="Garamond" pitchFamily="18" charset="0"/>
              </a:rPr>
              <a:t>An Overview of ANOVA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723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4723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472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CC66"/>
        </a:solidFill>
        <a:effectLst/>
      </p:bgPr>
    </p:bg>
    <p:spTree>
      <p:nvGrpSpPr>
        <p:cNvPr id="1" name=""/>
        <p:cNvGrpSpPr/>
        <p:nvPr/>
      </p:nvGrpSpPr>
      <p:grpSpPr>
        <a:xfrm>
          <a:off x="0" y="0"/>
          <a:ext cx="0" cy="0"/>
          <a:chOff x="0" y="0"/>
          <a:chExt cx="0" cy="0"/>
        </a:xfrm>
      </p:grpSpPr>
      <p:sp>
        <p:nvSpPr>
          <p:cNvPr id="27652" name="Text Box 2"/>
          <p:cNvSpPr txBox="1">
            <a:spLocks noChangeArrowheads="1"/>
          </p:cNvSpPr>
          <p:nvPr/>
        </p:nvSpPr>
        <p:spPr bwMode="auto">
          <a:xfrm>
            <a:off x="441325" y="685800"/>
            <a:ext cx="5959475" cy="1743075"/>
          </a:xfrm>
          <a:prstGeom prst="rect">
            <a:avLst/>
          </a:prstGeom>
          <a:noFill/>
          <a:ln w="9525">
            <a:noFill/>
            <a:miter lim="800000"/>
            <a:headEnd/>
            <a:tailEnd/>
          </a:ln>
        </p:spPr>
        <p:txBody>
          <a:bodyPr>
            <a:spAutoFit/>
          </a:bodyPr>
          <a:lstStyle/>
          <a:p>
            <a:pPr>
              <a:lnSpc>
                <a:spcPct val="150000"/>
              </a:lnSpc>
            </a:pPr>
            <a:r>
              <a:rPr lang="en-US" sz="1800"/>
              <a:t>Do nematodes affect plant growth? A botanist prepares 16 identical planting pots and adds different numbers of nematodes into the pots. Seedling growth (in mm) is recorded two weeks later.</a:t>
            </a:r>
          </a:p>
        </p:txBody>
      </p:sp>
      <p:sp>
        <p:nvSpPr>
          <p:cNvPr id="27653" name="Rectangle 3"/>
          <p:cNvSpPr>
            <a:spLocks noGrp="1" noChangeArrowheads="1"/>
          </p:cNvSpPr>
          <p:nvPr>
            <p:ph type="title"/>
          </p:nvPr>
        </p:nvSpPr>
        <p:spPr/>
        <p:txBody>
          <a:bodyPr/>
          <a:lstStyle/>
          <a:p>
            <a:pPr eaLnBrk="1" hangingPunct="1"/>
            <a:r>
              <a:rPr lang="en-US" sz="2400" b="1" smtClean="0">
                <a:solidFill>
                  <a:srgbClr val="333399"/>
                </a:solidFill>
                <a:ea typeface="ＭＳ Ｐゴシック"/>
                <a:cs typeface="ＭＳ Ｐゴシック"/>
              </a:rPr>
              <a:t>Nematodes and plant growth</a:t>
            </a:r>
          </a:p>
        </p:txBody>
      </p:sp>
      <p:pic>
        <p:nvPicPr>
          <p:cNvPr id="27654" name="Picture 4"/>
          <p:cNvPicPr>
            <a:picLocks noChangeAspect="1" noChangeArrowheads="1"/>
          </p:cNvPicPr>
          <p:nvPr/>
        </p:nvPicPr>
        <p:blipFill>
          <a:blip r:embed="rId4"/>
          <a:srcRect l="14476" t="15208" r="1108" b="10341"/>
          <a:stretch>
            <a:fillRect/>
          </a:stretch>
        </p:blipFill>
        <p:spPr bwMode="auto">
          <a:xfrm>
            <a:off x="6858000" y="152400"/>
            <a:ext cx="2057400" cy="1814513"/>
          </a:xfrm>
          <a:prstGeom prst="rect">
            <a:avLst/>
          </a:prstGeom>
          <a:noFill/>
          <a:ln w="9525">
            <a:noFill/>
            <a:miter lim="800000"/>
            <a:headEnd/>
            <a:tailEnd/>
          </a:ln>
        </p:spPr>
      </p:pic>
      <p:graphicFrame>
        <p:nvGraphicFramePr>
          <p:cNvPr id="27650" name="Object 1026"/>
          <p:cNvGraphicFramePr>
            <a:graphicFrameLocks noChangeAspect="1"/>
          </p:cNvGraphicFramePr>
          <p:nvPr/>
        </p:nvGraphicFramePr>
        <p:xfrm>
          <a:off x="304800" y="4949825"/>
          <a:ext cx="4114800" cy="1679575"/>
        </p:xfrm>
        <a:graphic>
          <a:graphicData uri="http://schemas.openxmlformats.org/presentationml/2006/ole">
            <p:oleObj spid="_x0000_s27650" name="Worksheet" r:id="rId5" imgW="2428951" imgH="990600" progId="Excel.Sheet.8">
              <p:embed/>
            </p:oleObj>
          </a:graphicData>
        </a:graphic>
      </p:graphicFrame>
      <p:pic>
        <p:nvPicPr>
          <p:cNvPr id="27655" name="Picture 10"/>
          <p:cNvPicPr>
            <a:picLocks noGrp="1" noChangeAspect="1" noChangeArrowheads="1"/>
          </p:cNvPicPr>
          <p:nvPr>
            <p:ph sz="half" idx="2"/>
          </p:nvPr>
        </p:nvPicPr>
        <p:blipFill>
          <a:blip r:embed="rId6"/>
          <a:srcRect/>
          <a:stretch>
            <a:fillRect/>
          </a:stretch>
        </p:blipFill>
        <p:spPr>
          <a:xfrm>
            <a:off x="4495800" y="2193925"/>
            <a:ext cx="4495800" cy="3597275"/>
          </a:xfrm>
        </p:spPr>
      </p:pic>
      <p:grpSp>
        <p:nvGrpSpPr>
          <p:cNvPr id="2" name="Group 5"/>
          <p:cNvGrpSpPr>
            <a:grpSpLocks/>
          </p:cNvGrpSpPr>
          <p:nvPr/>
        </p:nvGrpSpPr>
        <p:grpSpPr bwMode="auto">
          <a:xfrm>
            <a:off x="381000" y="3275013"/>
            <a:ext cx="4559300" cy="833437"/>
            <a:chOff x="616" y="2664"/>
            <a:chExt cx="2872" cy="525"/>
          </a:xfrm>
        </p:grpSpPr>
        <p:sp>
          <p:nvSpPr>
            <p:cNvPr id="27658" name="Text Box 6"/>
            <p:cNvSpPr txBox="1">
              <a:spLocks noChangeArrowheads="1"/>
            </p:cNvSpPr>
            <p:nvPr/>
          </p:nvSpPr>
          <p:spPr bwMode="auto">
            <a:xfrm>
              <a:off x="616" y="2664"/>
              <a:ext cx="2458" cy="525"/>
            </a:xfrm>
            <a:prstGeom prst="rect">
              <a:avLst/>
            </a:prstGeom>
            <a:noFill/>
            <a:ln w="9525">
              <a:noFill/>
              <a:miter lim="800000"/>
              <a:headEnd/>
              <a:tailEnd/>
            </a:ln>
          </p:spPr>
          <p:txBody>
            <a:bodyPr>
              <a:spAutoFit/>
            </a:bodyPr>
            <a:lstStyle/>
            <a:p>
              <a:pPr>
                <a:lnSpc>
                  <a:spcPct val="70000"/>
                </a:lnSpc>
              </a:pPr>
              <a:r>
                <a:rPr lang="en-US" sz="1800"/>
                <a:t>Hypotheses: All </a:t>
              </a:r>
              <a:r>
                <a:rPr lang="en-US" sz="1800" i="1">
                  <a:latin typeface="Symbol" pitchFamily="18" charset="2"/>
                </a:rPr>
                <a:t>m</a:t>
              </a:r>
              <a:r>
                <a:rPr lang="en-US" sz="1800" baseline="-25000"/>
                <a:t>i</a:t>
              </a:r>
              <a:r>
                <a:rPr lang="en-US" sz="1800"/>
                <a:t> are the same (</a:t>
              </a:r>
              <a:r>
                <a:rPr lang="en-US" sz="1800" i="1"/>
                <a:t>H</a:t>
              </a:r>
              <a:r>
                <a:rPr lang="en-US" sz="1800" baseline="-25000"/>
                <a:t>0</a:t>
              </a:r>
              <a:r>
                <a:rPr lang="en-US" sz="1800"/>
                <a:t>) </a:t>
              </a:r>
            </a:p>
            <a:p>
              <a:endParaRPr lang="en-US" sz="1800"/>
            </a:p>
            <a:p>
              <a:r>
                <a:rPr lang="en-US" sz="1800"/>
                <a:t>versus not All </a:t>
              </a:r>
              <a:r>
                <a:rPr lang="en-US" sz="1800" i="1">
                  <a:latin typeface="Symbol" pitchFamily="18" charset="2"/>
                </a:rPr>
                <a:t>m</a:t>
              </a:r>
              <a:r>
                <a:rPr lang="en-US" sz="1800" baseline="-25000"/>
                <a:t>i</a:t>
              </a:r>
              <a:r>
                <a:rPr lang="en-US" sz="1800"/>
                <a:t> are the same (</a:t>
              </a:r>
              <a:r>
                <a:rPr lang="en-US" sz="1800" i="1"/>
                <a:t>H</a:t>
              </a:r>
              <a:r>
                <a:rPr lang="en-US" sz="1800" i="1" baseline="-25000"/>
                <a:t>a</a:t>
              </a:r>
              <a:r>
                <a:rPr lang="en-US" sz="1800"/>
                <a:t>)</a:t>
              </a:r>
            </a:p>
          </p:txBody>
        </p:sp>
        <p:sp>
          <p:nvSpPr>
            <p:cNvPr id="27659" name="Line 7"/>
            <p:cNvSpPr>
              <a:spLocks noChangeShapeType="1"/>
            </p:cNvSpPr>
            <p:nvPr/>
          </p:nvSpPr>
          <p:spPr bwMode="auto">
            <a:xfrm>
              <a:off x="3016" y="2760"/>
              <a:ext cx="472" cy="1"/>
            </a:xfrm>
            <a:prstGeom prst="line">
              <a:avLst/>
            </a:prstGeom>
            <a:noFill/>
            <a:ln w="9525">
              <a:solidFill>
                <a:schemeClr val="tx1"/>
              </a:solidFill>
              <a:round/>
              <a:headEnd/>
              <a:tailEnd type="triangle" w="med" len="med"/>
            </a:ln>
          </p:spPr>
          <p:txBody>
            <a:bodyPr wrap="none" anchor="ctr"/>
            <a:lstStyle/>
            <a:p>
              <a:endParaRPr lang="en-US"/>
            </a:p>
          </p:txBody>
        </p:sp>
      </p:grpSp>
      <p:sp>
        <p:nvSpPr>
          <p:cNvPr id="27657" name="Line 13"/>
          <p:cNvSpPr>
            <a:spLocks noChangeShapeType="1"/>
          </p:cNvSpPr>
          <p:nvPr/>
        </p:nvSpPr>
        <p:spPr bwMode="auto">
          <a:xfrm>
            <a:off x="5257800" y="3416300"/>
            <a:ext cx="3657600" cy="0"/>
          </a:xfrm>
          <a:prstGeom prst="line">
            <a:avLst/>
          </a:prstGeom>
          <a:noFill/>
          <a:ln w="38100">
            <a:solidFill>
              <a:srgbClr val="333399"/>
            </a:solidFill>
            <a:round/>
            <a:headEnd/>
            <a:tailEn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p:txBody>
          <a:bodyPr/>
          <a:lstStyle/>
          <a:p>
            <a:pPr eaLnBrk="1" hangingPunct="1">
              <a:lnSpc>
                <a:spcPct val="110000"/>
              </a:lnSpc>
            </a:pPr>
            <a:r>
              <a:rPr lang="en-US" sz="2800" b="1" smtClean="0">
                <a:solidFill>
                  <a:srgbClr val="333399"/>
                </a:solidFill>
                <a:ea typeface="ＭＳ Ｐゴシック"/>
                <a:cs typeface="ＭＳ Ｐゴシック"/>
              </a:rPr>
              <a:t>The ANOVA model</a:t>
            </a:r>
          </a:p>
        </p:txBody>
      </p:sp>
      <p:pic>
        <p:nvPicPr>
          <p:cNvPr id="1271815" name="Picture 7"/>
          <p:cNvPicPr>
            <a:picLocks noGrp="1" noChangeAspect="1" noChangeArrowheads="1"/>
          </p:cNvPicPr>
          <p:nvPr>
            <p:ph sz="quarter" idx="2"/>
          </p:nvPr>
        </p:nvPicPr>
        <p:blipFill>
          <a:blip r:embed="rId3"/>
          <a:srcRect l="6383" t="35027" r="3192" b="21065"/>
          <a:stretch>
            <a:fillRect/>
          </a:stretch>
        </p:blipFill>
        <p:spPr>
          <a:xfrm>
            <a:off x="609600" y="4876800"/>
            <a:ext cx="7620000" cy="1447800"/>
          </a:xfrm>
        </p:spPr>
      </p:pic>
      <p:pic>
        <p:nvPicPr>
          <p:cNvPr id="1271817" name="Picture 9"/>
          <p:cNvPicPr>
            <a:picLocks noGrp="1" noChangeAspect="1" noChangeArrowheads="1"/>
          </p:cNvPicPr>
          <p:nvPr>
            <p:ph sz="quarter" idx="3"/>
          </p:nvPr>
        </p:nvPicPr>
        <p:blipFill>
          <a:blip r:embed="rId4"/>
          <a:srcRect l="3773" r="5486" b="13107"/>
          <a:stretch>
            <a:fillRect/>
          </a:stretch>
        </p:blipFill>
        <p:spPr>
          <a:xfrm>
            <a:off x="4876800" y="2844800"/>
            <a:ext cx="4038600" cy="1879600"/>
          </a:xfrm>
        </p:spPr>
      </p:pic>
      <p:sp>
        <p:nvSpPr>
          <p:cNvPr id="1271811" name="Rectangle 3"/>
          <p:cNvSpPr>
            <a:spLocks noGrp="1" noChangeArrowheads="1"/>
          </p:cNvSpPr>
          <p:nvPr>
            <p:ph type="body" sz="half" idx="1"/>
          </p:nvPr>
        </p:nvSpPr>
        <p:spPr>
          <a:xfrm>
            <a:off x="457200" y="914400"/>
            <a:ext cx="8229600" cy="4419600"/>
          </a:xfrm>
        </p:spPr>
        <p:txBody>
          <a:bodyPr/>
          <a:lstStyle/>
          <a:p>
            <a:pPr marL="0" indent="0" eaLnBrk="1" hangingPunct="1">
              <a:lnSpc>
                <a:spcPct val="130000"/>
              </a:lnSpc>
              <a:buFont typeface="Wingdings" pitchFamily="2" charset="2"/>
              <a:buNone/>
            </a:pPr>
            <a:r>
              <a:rPr lang="en-US" smtClean="0">
                <a:ea typeface="ＭＳ Ｐゴシック"/>
                <a:cs typeface="ＭＳ Ｐゴシック"/>
              </a:rPr>
              <a:t>Random sampling always produces chance variations. Any “factor effect” would thus show up in our data as the factor-driven differences plus chance variations (“error”):</a:t>
            </a:r>
          </a:p>
          <a:p>
            <a:pPr marL="0" indent="0" eaLnBrk="1" hangingPunct="1">
              <a:lnSpc>
                <a:spcPct val="130000"/>
              </a:lnSpc>
              <a:buFont typeface="Wingdings" pitchFamily="2" charset="2"/>
              <a:buNone/>
            </a:pPr>
            <a:endParaRPr lang="en-US" sz="800" smtClean="0">
              <a:ea typeface="ＭＳ Ｐゴシック"/>
              <a:cs typeface="ＭＳ Ｐゴシック"/>
            </a:endParaRPr>
          </a:p>
          <a:p>
            <a:pPr marL="0" indent="0" eaLnBrk="1" hangingPunct="1">
              <a:lnSpc>
                <a:spcPct val="130000"/>
              </a:lnSpc>
              <a:buFont typeface="Wingdings" pitchFamily="2" charset="2"/>
              <a:buNone/>
            </a:pPr>
            <a:r>
              <a:rPr lang="en-US" b="1" smtClean="0">
                <a:ea typeface="ＭＳ Ｐゴシック"/>
                <a:cs typeface="ＭＳ Ｐゴシック"/>
              </a:rPr>
              <a:t>Data = fit </a:t>
            </a:r>
            <a:r>
              <a:rPr lang="en-US" smtClean="0">
                <a:ea typeface="ＭＳ Ｐゴシック"/>
                <a:cs typeface="ＭＳ Ｐゴシック"/>
              </a:rPr>
              <a:t>(“factor/groups”)</a:t>
            </a:r>
            <a:r>
              <a:rPr lang="en-US" b="1" smtClean="0">
                <a:ea typeface="ＭＳ Ｐゴシック"/>
                <a:cs typeface="ＭＳ Ｐゴシック"/>
              </a:rPr>
              <a:t> + residual </a:t>
            </a:r>
            <a:r>
              <a:rPr lang="en-US" smtClean="0">
                <a:ea typeface="ＭＳ Ｐゴシック"/>
                <a:cs typeface="ＭＳ Ｐゴシック"/>
              </a:rPr>
              <a:t>(“error”)</a:t>
            </a:r>
          </a:p>
          <a:p>
            <a:pPr marL="0" indent="0" eaLnBrk="1" hangingPunct="1">
              <a:lnSpc>
                <a:spcPct val="130000"/>
              </a:lnSpc>
              <a:buFont typeface="Wingdings" pitchFamily="2" charset="2"/>
              <a:buNone/>
            </a:pPr>
            <a:endParaRPr lang="en-US" b="1" smtClean="0">
              <a:ea typeface="ＭＳ Ｐゴシック"/>
              <a:cs typeface="ＭＳ Ｐゴシック"/>
            </a:endParaRPr>
          </a:p>
          <a:p>
            <a:pPr marL="0" indent="0" eaLnBrk="1" hangingPunct="1">
              <a:lnSpc>
                <a:spcPct val="130000"/>
              </a:lnSpc>
              <a:buFont typeface="Wingdings" pitchFamily="2" charset="2"/>
              <a:buNone/>
            </a:pPr>
            <a:r>
              <a:rPr lang="en-US" smtClean="0">
                <a:ea typeface="ＭＳ Ｐゴシック"/>
                <a:cs typeface="ＭＳ Ｐゴシック"/>
              </a:rPr>
              <a:t>The one-way ANOVA model analyses </a:t>
            </a:r>
            <a:br>
              <a:rPr lang="en-US" smtClean="0">
                <a:ea typeface="ＭＳ Ｐゴシック"/>
                <a:cs typeface="ＭＳ Ｐゴシック"/>
              </a:rPr>
            </a:br>
            <a:r>
              <a:rPr lang="en-US" smtClean="0">
                <a:ea typeface="ＭＳ Ｐゴシック"/>
                <a:cs typeface="ＭＳ Ｐゴシック"/>
              </a:rPr>
              <a:t>situations where chance variations are </a:t>
            </a:r>
            <a:br>
              <a:rPr lang="en-US" smtClean="0">
                <a:ea typeface="ＭＳ Ｐゴシック"/>
                <a:cs typeface="ＭＳ Ｐゴシック"/>
              </a:rPr>
            </a:br>
            <a:r>
              <a:rPr lang="en-US" smtClean="0">
                <a:ea typeface="ＭＳ Ｐゴシック"/>
                <a:cs typeface="ＭＳ Ｐゴシック"/>
              </a:rPr>
              <a:t>normally distributed </a:t>
            </a:r>
            <a:r>
              <a:rPr lang="en-US" i="1" smtClean="0">
                <a:ea typeface="ＭＳ Ｐゴシック"/>
                <a:cs typeface="ＭＳ Ｐゴシック"/>
              </a:rPr>
              <a:t>N</a:t>
            </a:r>
            <a:r>
              <a:rPr lang="en-US" smtClean="0">
                <a:ea typeface="ＭＳ Ｐゴシック"/>
                <a:cs typeface="ＭＳ Ｐゴシック"/>
              </a:rPr>
              <a:t>(0,</a:t>
            </a:r>
            <a:r>
              <a:rPr lang="el-GR" i="1" smtClean="0">
                <a:ea typeface="ＭＳ Ｐゴシック"/>
                <a:cs typeface="Arial" charset="0"/>
              </a:rPr>
              <a:t>σ</a:t>
            </a:r>
            <a:r>
              <a:rPr lang="en-US" smtClean="0">
                <a:ea typeface="ＭＳ Ｐゴシック"/>
                <a:cs typeface="ＭＳ Ｐゴシック"/>
              </a:rPr>
              <a:t>) so that: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181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718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718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lnSpc>
                <a:spcPct val="110000"/>
              </a:lnSpc>
            </a:pPr>
            <a:r>
              <a:rPr lang="en-US" sz="3600" smtClean="0">
                <a:ea typeface="ＭＳ Ｐゴシック"/>
                <a:cs typeface="ＭＳ Ｐゴシック"/>
              </a:rPr>
              <a:t>Testing hypotheses in one-way ANOVA</a:t>
            </a:r>
          </a:p>
        </p:txBody>
      </p:sp>
      <p:sp>
        <p:nvSpPr>
          <p:cNvPr id="29700" name="Text Box 11"/>
          <p:cNvSpPr txBox="1">
            <a:spLocks noChangeArrowheads="1"/>
          </p:cNvSpPr>
          <p:nvPr/>
        </p:nvSpPr>
        <p:spPr bwMode="auto">
          <a:xfrm>
            <a:off x="449263" y="1039813"/>
            <a:ext cx="8085137" cy="2236787"/>
          </a:xfrm>
          <a:prstGeom prst="rect">
            <a:avLst/>
          </a:prstGeom>
          <a:noFill/>
          <a:ln w="9525">
            <a:noFill/>
            <a:miter lim="800000"/>
            <a:headEnd/>
            <a:tailEnd/>
          </a:ln>
        </p:spPr>
        <p:txBody>
          <a:bodyPr>
            <a:spAutoFit/>
          </a:bodyPr>
          <a:lstStyle/>
          <a:p>
            <a:pPr>
              <a:lnSpc>
                <a:spcPct val="160000"/>
              </a:lnSpc>
            </a:pPr>
            <a:r>
              <a:rPr lang="en-US" sz="2000"/>
              <a:t>We have </a:t>
            </a:r>
            <a:r>
              <a:rPr lang="en-US" sz="2000" b="1" i="1">
                <a:solidFill>
                  <a:srgbClr val="333399"/>
                </a:solidFill>
              </a:rPr>
              <a:t>I</a:t>
            </a:r>
            <a:r>
              <a:rPr lang="en-US" sz="2000" b="1">
                <a:solidFill>
                  <a:srgbClr val="333399"/>
                </a:solidFill>
              </a:rPr>
              <a:t> independent SRSs</a:t>
            </a:r>
            <a:r>
              <a:rPr lang="en-US" sz="2000" b="1"/>
              <a:t>,</a:t>
            </a:r>
            <a:r>
              <a:rPr lang="en-US" sz="2000"/>
              <a:t> from </a:t>
            </a:r>
            <a:r>
              <a:rPr lang="en-US" sz="2000" i="1"/>
              <a:t>I</a:t>
            </a:r>
            <a:r>
              <a:rPr lang="en-US" sz="2000"/>
              <a:t> populations or treatments.</a:t>
            </a:r>
          </a:p>
          <a:p>
            <a:pPr>
              <a:lnSpc>
                <a:spcPct val="160000"/>
              </a:lnSpc>
            </a:pPr>
            <a:r>
              <a:rPr lang="en-US" sz="2000"/>
              <a:t>The </a:t>
            </a:r>
            <a:r>
              <a:rPr lang="en-US" sz="2000" i="1"/>
              <a:t>i</a:t>
            </a:r>
            <a:r>
              <a:rPr lang="en-US" sz="2000" baseline="30000"/>
              <a:t>th</a:t>
            </a:r>
            <a:r>
              <a:rPr lang="en-US" sz="2000"/>
              <a:t> population has a </a:t>
            </a:r>
            <a:r>
              <a:rPr lang="en-US" sz="2000" b="1">
                <a:solidFill>
                  <a:srgbClr val="333399"/>
                </a:solidFill>
              </a:rPr>
              <a:t>normal distribution</a:t>
            </a:r>
            <a:r>
              <a:rPr lang="en-US" sz="2000"/>
              <a:t> with unknown mean </a:t>
            </a:r>
            <a:r>
              <a:rPr lang="en-US" sz="2000" i="1">
                <a:cs typeface="Arial" charset="0"/>
              </a:rPr>
              <a:t>µ</a:t>
            </a:r>
            <a:r>
              <a:rPr lang="en-US" sz="2000" i="1" baseline="-25000"/>
              <a:t>i</a:t>
            </a:r>
            <a:r>
              <a:rPr lang="en-US" sz="2000"/>
              <a:t>.</a:t>
            </a:r>
          </a:p>
          <a:p>
            <a:pPr>
              <a:lnSpc>
                <a:spcPct val="160000"/>
              </a:lnSpc>
            </a:pPr>
            <a:r>
              <a:rPr lang="en-US" sz="2000"/>
              <a:t>All </a:t>
            </a:r>
            <a:r>
              <a:rPr lang="en-US" sz="2000" i="1"/>
              <a:t>I</a:t>
            </a:r>
            <a:r>
              <a:rPr lang="en-US" sz="2000"/>
              <a:t> populations have the </a:t>
            </a:r>
            <a:r>
              <a:rPr lang="en-US" sz="2000" b="1">
                <a:solidFill>
                  <a:srgbClr val="333399"/>
                </a:solidFill>
              </a:rPr>
              <a:t>same standard deviation </a:t>
            </a:r>
            <a:r>
              <a:rPr lang="el-GR" sz="2000" b="1" i="1">
                <a:solidFill>
                  <a:srgbClr val="333399"/>
                </a:solidFill>
                <a:cs typeface="Arial" charset="0"/>
              </a:rPr>
              <a:t>σ</a:t>
            </a:r>
            <a:r>
              <a:rPr lang="en-US" sz="2000"/>
              <a:t>, unknown.</a:t>
            </a:r>
          </a:p>
          <a:p>
            <a:pPr>
              <a:lnSpc>
                <a:spcPct val="160000"/>
              </a:lnSpc>
            </a:pPr>
            <a:endParaRPr lang="en-US" sz="800"/>
          </a:p>
          <a:p>
            <a:pPr algn="ctr">
              <a:lnSpc>
                <a:spcPct val="160000"/>
              </a:lnSpc>
            </a:pPr>
            <a:r>
              <a:rPr lang="en-US" sz="2000"/>
              <a:t>The ANOVA </a:t>
            </a:r>
            <a:r>
              <a:rPr lang="en-US" sz="2000" i="1"/>
              <a:t>F</a:t>
            </a:r>
            <a:r>
              <a:rPr lang="en-US" sz="2000"/>
              <a:t> statistic tests:</a:t>
            </a:r>
          </a:p>
        </p:txBody>
      </p:sp>
      <p:sp>
        <p:nvSpPr>
          <p:cNvPr id="1221644" name="Text Box 12"/>
          <p:cNvSpPr txBox="1">
            <a:spLocks noChangeArrowheads="1"/>
          </p:cNvSpPr>
          <p:nvPr/>
        </p:nvSpPr>
        <p:spPr bwMode="auto">
          <a:xfrm>
            <a:off x="4114800" y="4800600"/>
            <a:ext cx="4419600" cy="1838325"/>
          </a:xfrm>
          <a:prstGeom prst="rect">
            <a:avLst/>
          </a:prstGeom>
          <a:noFill/>
          <a:ln w="38100" cmpd="dbl">
            <a:solidFill>
              <a:srgbClr val="CC0000"/>
            </a:solidFill>
            <a:miter lim="800000"/>
            <a:headEnd/>
            <a:tailEnd/>
          </a:ln>
        </p:spPr>
        <p:txBody>
          <a:bodyPr>
            <a:spAutoFit/>
          </a:bodyPr>
          <a:lstStyle/>
          <a:p>
            <a:pPr algn="ctr">
              <a:lnSpc>
                <a:spcPct val="140000"/>
              </a:lnSpc>
            </a:pPr>
            <a:r>
              <a:rPr lang="en-US" sz="2000"/>
              <a:t>When </a:t>
            </a:r>
            <a:r>
              <a:rPr lang="en-US" sz="2000" i="1"/>
              <a:t>H</a:t>
            </a:r>
            <a:r>
              <a:rPr lang="en-US" sz="2000" baseline="-25000"/>
              <a:t>0</a:t>
            </a:r>
            <a:r>
              <a:rPr lang="en-US" sz="2000"/>
              <a:t> is true, </a:t>
            </a:r>
            <a:r>
              <a:rPr lang="en-US" sz="2000" i="1"/>
              <a:t>F</a:t>
            </a:r>
            <a:r>
              <a:rPr lang="en-US" sz="2000"/>
              <a:t> has the </a:t>
            </a:r>
            <a:r>
              <a:rPr lang="en-US" sz="2000" b="1">
                <a:solidFill>
                  <a:srgbClr val="333399"/>
                </a:solidFill>
              </a:rPr>
              <a:t>F distribution</a:t>
            </a:r>
            <a:r>
              <a:rPr lang="en-US" sz="2000"/>
              <a:t>with </a:t>
            </a:r>
            <a:r>
              <a:rPr lang="en-US" sz="2000" i="1"/>
              <a:t>I</a:t>
            </a:r>
            <a:r>
              <a:rPr lang="en-US" sz="2000">
                <a:cs typeface="Arial" charset="0"/>
              </a:rPr>
              <a:t>− </a:t>
            </a:r>
            <a:r>
              <a:rPr lang="en-US" sz="2000"/>
              <a:t>1 (</a:t>
            </a:r>
            <a:r>
              <a:rPr lang="en-US" sz="1800" i="1"/>
              <a:t>numerator</a:t>
            </a:r>
            <a:r>
              <a:rPr lang="en-US" sz="2000"/>
              <a:t>) and </a:t>
            </a:r>
            <a:r>
              <a:rPr lang="en-US" sz="2000" i="1"/>
              <a:t>N</a:t>
            </a:r>
            <a:r>
              <a:rPr lang="en-US" sz="2000">
                <a:cs typeface="Arial" charset="0"/>
              </a:rPr>
              <a:t>− </a:t>
            </a:r>
            <a:r>
              <a:rPr lang="en-US" sz="2000" i="1"/>
              <a:t>I</a:t>
            </a:r>
            <a:r>
              <a:rPr lang="en-US" sz="2000"/>
              <a:t> (</a:t>
            </a:r>
            <a:r>
              <a:rPr lang="en-US" sz="1800" i="1"/>
              <a:t>denominator</a:t>
            </a:r>
            <a:r>
              <a:rPr lang="en-US" sz="2000"/>
              <a:t>) degrees of freedom.</a:t>
            </a:r>
          </a:p>
        </p:txBody>
      </p:sp>
      <p:pic>
        <p:nvPicPr>
          <p:cNvPr id="1221645" name="Picture 13"/>
          <p:cNvPicPr>
            <a:picLocks noChangeAspect="1" noChangeArrowheads="1"/>
          </p:cNvPicPr>
          <p:nvPr/>
        </p:nvPicPr>
        <p:blipFill>
          <a:blip r:embed="rId4"/>
          <a:srcRect l="2174" r="2174"/>
          <a:stretch>
            <a:fillRect/>
          </a:stretch>
        </p:blipFill>
        <p:spPr bwMode="auto">
          <a:xfrm>
            <a:off x="533400" y="4419600"/>
            <a:ext cx="3352800" cy="2057400"/>
          </a:xfrm>
          <a:prstGeom prst="rect">
            <a:avLst/>
          </a:prstGeom>
          <a:noFill/>
          <a:ln w="9525">
            <a:noFill/>
            <a:miter lim="800000"/>
            <a:headEnd/>
            <a:tailEnd/>
          </a:ln>
        </p:spPr>
      </p:pic>
      <p:sp>
        <p:nvSpPr>
          <p:cNvPr id="1221647" name="Text Box 15"/>
          <p:cNvSpPr txBox="1">
            <a:spLocks noChangeArrowheads="1"/>
          </p:cNvSpPr>
          <p:nvPr/>
        </p:nvSpPr>
        <p:spPr bwMode="auto">
          <a:xfrm>
            <a:off x="4843463" y="3317875"/>
            <a:ext cx="3155950" cy="946150"/>
          </a:xfrm>
          <a:prstGeom prst="rect">
            <a:avLst/>
          </a:prstGeom>
          <a:noFill/>
          <a:ln w="9525">
            <a:noFill/>
            <a:miter lim="800000"/>
            <a:headEnd/>
            <a:tailEnd/>
          </a:ln>
        </p:spPr>
        <p:txBody>
          <a:bodyPr wrap="none">
            <a:spAutoFit/>
          </a:bodyPr>
          <a:lstStyle/>
          <a:p>
            <a:pPr>
              <a:lnSpc>
                <a:spcPct val="140000"/>
              </a:lnSpc>
            </a:pPr>
            <a:r>
              <a:rPr lang="en-US" sz="2000" i="1"/>
              <a:t>H</a:t>
            </a:r>
            <a:r>
              <a:rPr lang="en-US" sz="2000" baseline="-25000"/>
              <a:t>0</a:t>
            </a:r>
            <a:r>
              <a:rPr lang="en-US" sz="2000"/>
              <a:t>: </a:t>
            </a:r>
            <a:r>
              <a:rPr lang="en-US" sz="2000" i="1">
                <a:latin typeface="Symbol" pitchFamily="18" charset="2"/>
              </a:rPr>
              <a:t>m</a:t>
            </a:r>
            <a:r>
              <a:rPr lang="en-US" sz="2000" baseline="-25000">
                <a:latin typeface="Symbol" pitchFamily="18" charset="2"/>
              </a:rPr>
              <a:t>1</a:t>
            </a:r>
            <a:r>
              <a:rPr lang="en-US" sz="2000"/>
              <a:t> = </a:t>
            </a:r>
            <a:r>
              <a:rPr lang="en-US" sz="2000" i="1">
                <a:latin typeface="Symbol" pitchFamily="18" charset="2"/>
              </a:rPr>
              <a:t>m</a:t>
            </a:r>
            <a:r>
              <a:rPr lang="en-US" sz="2000" baseline="-25000">
                <a:latin typeface="Symbol" pitchFamily="18" charset="2"/>
              </a:rPr>
              <a:t>2</a:t>
            </a:r>
            <a:r>
              <a:rPr lang="en-US" sz="2000"/>
              <a:t> = … = </a:t>
            </a:r>
            <a:r>
              <a:rPr lang="en-US" sz="2000" i="1">
                <a:latin typeface="Symbol" pitchFamily="18" charset="2"/>
              </a:rPr>
              <a:t>m</a:t>
            </a:r>
            <a:r>
              <a:rPr lang="en-US" sz="2000" baseline="-25000"/>
              <a:t>I</a:t>
            </a:r>
          </a:p>
          <a:p>
            <a:pPr>
              <a:lnSpc>
                <a:spcPct val="140000"/>
              </a:lnSpc>
            </a:pPr>
            <a:r>
              <a:rPr lang="en-US" sz="2000" i="1"/>
              <a:t>H</a:t>
            </a:r>
            <a:r>
              <a:rPr lang="en-US" sz="2000" i="1" baseline="-25000"/>
              <a:t>a</a:t>
            </a:r>
            <a:r>
              <a:rPr lang="en-US" sz="2000"/>
              <a:t>: not all the </a:t>
            </a:r>
            <a:r>
              <a:rPr lang="en-US" sz="2000" i="1">
                <a:latin typeface="Symbol" pitchFamily="18" charset="2"/>
              </a:rPr>
              <a:t>m</a:t>
            </a:r>
            <a:r>
              <a:rPr lang="en-US" sz="2000" baseline="-25000"/>
              <a:t>i</a:t>
            </a:r>
            <a:r>
              <a:rPr lang="en-US" sz="2000"/>
              <a:t> are equal.</a:t>
            </a:r>
          </a:p>
        </p:txBody>
      </p:sp>
      <p:graphicFrame>
        <p:nvGraphicFramePr>
          <p:cNvPr id="1221648" name="Object 1026"/>
          <p:cNvGraphicFramePr>
            <a:graphicFrameLocks noChangeAspect="1"/>
          </p:cNvGraphicFramePr>
          <p:nvPr/>
        </p:nvGraphicFramePr>
        <p:xfrm>
          <a:off x="1465263" y="3454400"/>
          <a:ext cx="2039937" cy="812800"/>
        </p:xfrm>
        <a:graphic>
          <a:graphicData uri="http://schemas.openxmlformats.org/presentationml/2006/ole">
            <p:oleObj spid="_x0000_s29698" name="Equation" r:id="rId5" imgW="1091880" imgH="4316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16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164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216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16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1644" grpId="0" animBg="1"/>
      <p:bldP spid="12216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Object 2"/>
          <p:cNvGraphicFramePr>
            <a:graphicFrameLocks noChangeAspect="1"/>
          </p:cNvGraphicFramePr>
          <p:nvPr/>
        </p:nvGraphicFramePr>
        <p:xfrm>
          <a:off x="2127250" y="2057400"/>
          <a:ext cx="4887913" cy="693738"/>
        </p:xfrm>
        <a:graphic>
          <a:graphicData uri="http://schemas.openxmlformats.org/presentationml/2006/ole">
            <p:oleObj spid="_x0000_s30722" name="Equation" r:id="rId4" imgW="2971800" imgH="419040" progId="Equation.3">
              <p:embed/>
            </p:oleObj>
          </a:graphicData>
        </a:graphic>
      </p:graphicFrame>
      <p:sp>
        <p:nvSpPr>
          <p:cNvPr id="1249284" name="Text Box 4"/>
          <p:cNvSpPr txBox="1">
            <a:spLocks noChangeArrowheads="1"/>
          </p:cNvSpPr>
          <p:nvPr/>
        </p:nvSpPr>
        <p:spPr bwMode="auto">
          <a:xfrm>
            <a:off x="381000" y="3284538"/>
            <a:ext cx="1905000" cy="1412875"/>
          </a:xfrm>
          <a:prstGeom prst="rect">
            <a:avLst/>
          </a:prstGeom>
          <a:noFill/>
          <a:ln w="9525">
            <a:noFill/>
            <a:miter lim="800000"/>
            <a:headEnd/>
            <a:tailEnd/>
          </a:ln>
        </p:spPr>
        <p:txBody>
          <a:bodyPr>
            <a:spAutoFit/>
          </a:bodyPr>
          <a:lstStyle/>
          <a:p>
            <a:pPr algn="ctr">
              <a:lnSpc>
                <a:spcPct val="120000"/>
              </a:lnSpc>
            </a:pPr>
            <a:r>
              <a:rPr lang="en-US" sz="1800"/>
              <a:t>Difference in means small relative to overall variability</a:t>
            </a:r>
          </a:p>
        </p:txBody>
      </p:sp>
      <p:sp>
        <p:nvSpPr>
          <p:cNvPr id="1249285" name="Text Box 5"/>
          <p:cNvSpPr txBox="1">
            <a:spLocks noChangeArrowheads="1"/>
          </p:cNvSpPr>
          <p:nvPr/>
        </p:nvSpPr>
        <p:spPr bwMode="auto">
          <a:xfrm>
            <a:off x="6934200" y="3135313"/>
            <a:ext cx="1905000" cy="1412875"/>
          </a:xfrm>
          <a:prstGeom prst="rect">
            <a:avLst/>
          </a:prstGeom>
          <a:noFill/>
          <a:ln w="9525">
            <a:noFill/>
            <a:miter lim="800000"/>
            <a:headEnd/>
            <a:tailEnd/>
          </a:ln>
        </p:spPr>
        <p:txBody>
          <a:bodyPr>
            <a:spAutoFit/>
          </a:bodyPr>
          <a:lstStyle/>
          <a:p>
            <a:pPr algn="ctr">
              <a:lnSpc>
                <a:spcPct val="120000"/>
              </a:lnSpc>
            </a:pPr>
            <a:r>
              <a:rPr lang="en-US" sz="1800"/>
              <a:t>Difference in means large relative to overall variability</a:t>
            </a:r>
          </a:p>
        </p:txBody>
      </p:sp>
      <p:sp>
        <p:nvSpPr>
          <p:cNvPr id="1249289" name="Text Box 9"/>
          <p:cNvSpPr txBox="1">
            <a:spLocks noChangeArrowheads="1"/>
          </p:cNvSpPr>
          <p:nvPr/>
        </p:nvSpPr>
        <p:spPr bwMode="auto">
          <a:xfrm>
            <a:off x="457200" y="5638800"/>
            <a:ext cx="8305800" cy="752475"/>
          </a:xfrm>
          <a:prstGeom prst="rect">
            <a:avLst/>
          </a:prstGeom>
          <a:noFill/>
          <a:ln w="9525">
            <a:noFill/>
            <a:miter lim="800000"/>
            <a:headEnd/>
            <a:tailEnd/>
          </a:ln>
        </p:spPr>
        <p:txBody>
          <a:bodyPr>
            <a:spAutoFit/>
          </a:bodyPr>
          <a:lstStyle/>
          <a:p>
            <a:pPr>
              <a:lnSpc>
                <a:spcPct val="120000"/>
              </a:lnSpc>
            </a:pPr>
            <a:r>
              <a:rPr lang="en-US" sz="1800"/>
              <a:t>Larger F-values typically yield more significant results. How large depends on the degrees of freedom (</a:t>
            </a:r>
            <a:r>
              <a:rPr lang="en-US" sz="1800" i="1"/>
              <a:t>I</a:t>
            </a:r>
            <a:r>
              <a:rPr lang="en-US" sz="1800">
                <a:cs typeface="Arial" charset="0"/>
              </a:rPr>
              <a:t>− </a:t>
            </a:r>
            <a:r>
              <a:rPr lang="en-US" sz="1800"/>
              <a:t>1 and </a:t>
            </a:r>
            <a:r>
              <a:rPr lang="en-US" sz="1800" i="1"/>
              <a:t>N</a:t>
            </a:r>
            <a:r>
              <a:rPr lang="en-US" sz="1800">
                <a:cs typeface="Arial" charset="0"/>
              </a:rPr>
              <a:t>− </a:t>
            </a:r>
            <a:r>
              <a:rPr lang="en-US" sz="1800" i="1"/>
              <a:t>I</a:t>
            </a:r>
            <a:r>
              <a:rPr lang="en-US" sz="1800"/>
              <a:t>).</a:t>
            </a:r>
          </a:p>
        </p:txBody>
      </p:sp>
      <p:pic>
        <p:nvPicPr>
          <p:cNvPr id="1249291" name="Picture 11" descr="figure-22-06"/>
          <p:cNvPicPr>
            <a:picLocks noGrp="1" noChangeAspect="1" noChangeArrowheads="1"/>
          </p:cNvPicPr>
          <p:nvPr>
            <p:ph idx="1"/>
          </p:nvPr>
        </p:nvPicPr>
        <p:blipFill>
          <a:blip r:embed="rId5"/>
          <a:srcRect/>
          <a:stretch>
            <a:fillRect/>
          </a:stretch>
        </p:blipFill>
        <p:spPr>
          <a:xfrm>
            <a:off x="2184400" y="2798763"/>
            <a:ext cx="4775200" cy="2246312"/>
          </a:xfrm>
        </p:spPr>
      </p:pic>
      <p:sp>
        <p:nvSpPr>
          <p:cNvPr id="30727" name="Text Box 13"/>
          <p:cNvSpPr txBox="1">
            <a:spLocks noChangeArrowheads="1"/>
          </p:cNvSpPr>
          <p:nvPr/>
        </p:nvSpPr>
        <p:spPr bwMode="auto">
          <a:xfrm>
            <a:off x="457200" y="762000"/>
            <a:ext cx="8229600" cy="1187450"/>
          </a:xfrm>
          <a:prstGeom prst="rect">
            <a:avLst/>
          </a:prstGeom>
          <a:noFill/>
          <a:ln w="9525">
            <a:noFill/>
            <a:miter lim="800000"/>
            <a:headEnd/>
            <a:tailEnd/>
          </a:ln>
        </p:spPr>
        <p:txBody>
          <a:bodyPr>
            <a:spAutoFit/>
          </a:bodyPr>
          <a:lstStyle/>
          <a:p>
            <a:pPr>
              <a:lnSpc>
                <a:spcPct val="120000"/>
              </a:lnSpc>
            </a:pPr>
            <a:r>
              <a:rPr lang="en-US" sz="2000"/>
              <a:t>The</a:t>
            </a:r>
            <a:r>
              <a:rPr lang="en-US" sz="2000" b="1">
                <a:solidFill>
                  <a:srgbClr val="333399"/>
                </a:solidFill>
              </a:rPr>
              <a:t>ANOVA F-statistic</a:t>
            </a:r>
            <a:r>
              <a:rPr lang="en-US" sz="2000"/>
              <a:t>compares variation due to specific sources (levels of the factor) with variation among individuals who should be similar (individuals in the same sample). </a:t>
            </a:r>
          </a:p>
        </p:txBody>
      </p:sp>
      <p:sp>
        <p:nvSpPr>
          <p:cNvPr id="1249294" name="Text Box 14"/>
          <p:cNvSpPr txBox="1">
            <a:spLocks noChangeArrowheads="1"/>
          </p:cNvSpPr>
          <p:nvPr/>
        </p:nvSpPr>
        <p:spPr bwMode="auto">
          <a:xfrm>
            <a:off x="2133600" y="4960938"/>
            <a:ext cx="2514600" cy="449262"/>
          </a:xfrm>
          <a:prstGeom prst="rect">
            <a:avLst/>
          </a:prstGeom>
          <a:noFill/>
          <a:ln w="9525">
            <a:noFill/>
            <a:miter lim="800000"/>
            <a:headEnd/>
            <a:tailEnd/>
          </a:ln>
        </p:spPr>
        <p:txBody>
          <a:bodyPr>
            <a:spAutoFit/>
          </a:bodyPr>
          <a:lstStyle/>
          <a:p>
            <a:pPr>
              <a:lnSpc>
                <a:spcPct val="130000"/>
              </a:lnSpc>
            </a:pPr>
            <a:r>
              <a:rPr lang="en-US" sz="1800">
                <a:sym typeface="Wingdings" pitchFamily="2" charset="2"/>
              </a:rPr>
              <a:t></a:t>
            </a:r>
            <a:r>
              <a:rPr lang="en-US" sz="1800"/>
              <a:t> F tends to be small</a:t>
            </a:r>
          </a:p>
        </p:txBody>
      </p:sp>
      <p:sp>
        <p:nvSpPr>
          <p:cNvPr id="1249295" name="Text Box 15"/>
          <p:cNvSpPr txBox="1">
            <a:spLocks noChangeArrowheads="1"/>
          </p:cNvSpPr>
          <p:nvPr/>
        </p:nvSpPr>
        <p:spPr bwMode="auto">
          <a:xfrm>
            <a:off x="4648200" y="4960938"/>
            <a:ext cx="2514600" cy="449262"/>
          </a:xfrm>
          <a:prstGeom prst="rect">
            <a:avLst/>
          </a:prstGeom>
          <a:noFill/>
          <a:ln w="9525">
            <a:noFill/>
            <a:miter lim="800000"/>
            <a:headEnd/>
            <a:tailEnd/>
          </a:ln>
        </p:spPr>
        <p:txBody>
          <a:bodyPr>
            <a:spAutoFit/>
          </a:bodyPr>
          <a:lstStyle/>
          <a:p>
            <a:pPr>
              <a:lnSpc>
                <a:spcPct val="130000"/>
              </a:lnSpc>
            </a:pPr>
            <a:r>
              <a:rPr lang="en-US" sz="1800">
                <a:sym typeface="Wingdings" pitchFamily="2" charset="2"/>
              </a:rPr>
              <a:t></a:t>
            </a:r>
            <a:r>
              <a:rPr lang="en-US" sz="1800"/>
              <a:t> F tends to be large</a:t>
            </a:r>
          </a:p>
        </p:txBody>
      </p:sp>
      <p:sp>
        <p:nvSpPr>
          <p:cNvPr id="30730" name="Text Box 16"/>
          <p:cNvSpPr txBox="1">
            <a:spLocks noChangeArrowheads="1"/>
          </p:cNvSpPr>
          <p:nvPr/>
        </p:nvSpPr>
        <p:spPr bwMode="auto">
          <a:xfrm>
            <a:off x="533400" y="228600"/>
            <a:ext cx="4191000" cy="519113"/>
          </a:xfrm>
          <a:prstGeom prst="rect">
            <a:avLst/>
          </a:prstGeom>
          <a:noFill/>
          <a:ln w="9525">
            <a:noFill/>
            <a:miter lim="800000"/>
            <a:headEnd/>
            <a:tailEnd/>
          </a:ln>
        </p:spPr>
        <p:txBody>
          <a:bodyPr>
            <a:spAutoFit/>
          </a:bodyPr>
          <a:lstStyle/>
          <a:p>
            <a:pPr>
              <a:spcBef>
                <a:spcPct val="50000"/>
              </a:spcBef>
            </a:pPr>
            <a:r>
              <a:rPr lang="en-US" sz="2800">
                <a:solidFill>
                  <a:srgbClr val="CC0000"/>
                </a:solidFill>
                <a:latin typeface="Garamond" pitchFamily="18" charset="0"/>
              </a:rPr>
              <a:t>The ANOVA </a:t>
            </a:r>
            <a:r>
              <a:rPr lang="en-US" sz="2800" i="1">
                <a:solidFill>
                  <a:srgbClr val="CC0000"/>
                </a:solidFill>
                <a:latin typeface="Garamond" pitchFamily="18" charset="0"/>
              </a:rPr>
              <a:t>F</a:t>
            </a:r>
            <a:r>
              <a:rPr lang="en-US" sz="2800">
                <a:solidFill>
                  <a:srgbClr val="CC0000"/>
                </a:solidFill>
                <a:latin typeface="Garamond" pitchFamily="18" charset="0"/>
              </a:rPr>
              <a:t>-test</a:t>
            </a:r>
            <a:endParaRPr lang="en-US" sz="2800">
              <a:latin typeface="Garamond"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4928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4929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4929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4929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492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492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284" grpId="0"/>
      <p:bldP spid="1249285" grpId="0"/>
      <p:bldP spid="1249289" grpId="0"/>
      <p:bldP spid="1249294" grpId="0"/>
      <p:bldP spid="124929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p:txBody>
          <a:bodyPr/>
          <a:lstStyle/>
          <a:p>
            <a:pPr eaLnBrk="1" hangingPunct="1">
              <a:lnSpc>
                <a:spcPct val="110000"/>
              </a:lnSpc>
            </a:pPr>
            <a:r>
              <a:rPr lang="en-US" sz="2800" b="1" smtClean="0">
                <a:solidFill>
                  <a:srgbClr val="333399"/>
                </a:solidFill>
                <a:ea typeface="ＭＳ Ｐゴシック"/>
                <a:cs typeface="ＭＳ Ｐゴシック"/>
              </a:rPr>
              <a:t>Checking our assumptions</a:t>
            </a:r>
          </a:p>
        </p:txBody>
      </p:sp>
      <p:sp>
        <p:nvSpPr>
          <p:cNvPr id="1223683" name="Rectangle 3"/>
          <p:cNvSpPr>
            <a:spLocks noGrp="1" noChangeArrowheads="1"/>
          </p:cNvSpPr>
          <p:nvPr>
            <p:ph type="body" idx="1"/>
          </p:nvPr>
        </p:nvSpPr>
        <p:spPr>
          <a:xfrm>
            <a:off x="457200" y="2971800"/>
            <a:ext cx="8229600" cy="1143000"/>
          </a:xfrm>
        </p:spPr>
        <p:txBody>
          <a:bodyPr/>
          <a:lstStyle/>
          <a:p>
            <a:pPr marL="0" indent="0" eaLnBrk="1" hangingPunct="1">
              <a:lnSpc>
                <a:spcPct val="150000"/>
              </a:lnSpc>
              <a:buFont typeface="Wingdings" pitchFamily="2" charset="2"/>
              <a:buNone/>
            </a:pPr>
            <a:r>
              <a:rPr lang="en-US" smtClean="0">
                <a:ea typeface="ＭＳ Ｐゴシック"/>
                <a:cs typeface="ＭＳ Ｐゴシック"/>
              </a:rPr>
              <a:t>The ANOVA F-test requires that all populations have the</a:t>
            </a:r>
            <a:r>
              <a:rPr lang="en-US" b="1" smtClean="0">
                <a:solidFill>
                  <a:srgbClr val="333399"/>
                </a:solidFill>
                <a:ea typeface="ＭＳ Ｐゴシック"/>
                <a:cs typeface="ＭＳ Ｐゴシック"/>
              </a:rPr>
              <a:t>same standard deviation </a:t>
            </a:r>
            <a:r>
              <a:rPr lang="en-US" b="1" i="1" smtClean="0">
                <a:solidFill>
                  <a:srgbClr val="333399"/>
                </a:solidFill>
                <a:latin typeface="Symbol" pitchFamily="18" charset="2"/>
                <a:ea typeface="ＭＳ Ｐゴシック"/>
                <a:cs typeface="ＭＳ Ｐゴシック"/>
              </a:rPr>
              <a:t>s</a:t>
            </a:r>
            <a:r>
              <a:rPr lang="en-US" b="1" smtClean="0">
                <a:ea typeface="ＭＳ Ｐゴシック"/>
                <a:cs typeface="ＭＳ Ｐゴシック"/>
              </a:rPr>
              <a:t>.</a:t>
            </a:r>
            <a:r>
              <a:rPr lang="en-US" smtClean="0">
                <a:ea typeface="ＭＳ Ｐゴシック"/>
                <a:cs typeface="ＭＳ Ｐゴシック"/>
              </a:rPr>
              <a:t> Since </a:t>
            </a:r>
            <a:r>
              <a:rPr lang="en-US" i="1" smtClean="0">
                <a:latin typeface="Symbol" pitchFamily="18" charset="2"/>
                <a:ea typeface="ＭＳ Ｐゴシック"/>
                <a:cs typeface="ＭＳ Ｐゴシック"/>
              </a:rPr>
              <a:t>s</a:t>
            </a:r>
            <a:r>
              <a:rPr lang="en-US" smtClean="0">
                <a:ea typeface="ＭＳ Ｐゴシック"/>
                <a:cs typeface="ＭＳ Ｐゴシック"/>
              </a:rPr>
              <a:t> is unknown, this can be hard to check. </a:t>
            </a:r>
          </a:p>
        </p:txBody>
      </p:sp>
      <p:sp>
        <p:nvSpPr>
          <p:cNvPr id="1223685" name="Rectangle 5"/>
          <p:cNvSpPr>
            <a:spLocks noChangeArrowheads="1"/>
          </p:cNvSpPr>
          <p:nvPr/>
        </p:nvSpPr>
        <p:spPr bwMode="auto">
          <a:xfrm>
            <a:off x="914400" y="4267200"/>
            <a:ext cx="7162800" cy="2057400"/>
          </a:xfrm>
          <a:prstGeom prst="rect">
            <a:avLst/>
          </a:prstGeom>
          <a:noFill/>
          <a:ln w="38100" cmpd="dbl">
            <a:solidFill>
              <a:srgbClr val="FF0000"/>
            </a:solidFill>
            <a:miter lim="800000"/>
            <a:headEnd/>
            <a:tailEnd/>
          </a:ln>
        </p:spPr>
        <p:txBody>
          <a:bodyPr/>
          <a:lstStyle/>
          <a:p>
            <a:pPr>
              <a:lnSpc>
                <a:spcPct val="160000"/>
              </a:lnSpc>
              <a:spcBef>
                <a:spcPct val="20000"/>
              </a:spcBef>
              <a:buClr>
                <a:srgbClr val="00CC99"/>
              </a:buClr>
              <a:buSzPct val="65000"/>
              <a:buFont typeface="Wingdings" pitchFamily="2" charset="2"/>
              <a:buNone/>
            </a:pPr>
            <a:r>
              <a:rPr lang="en-US" sz="1800" b="1"/>
              <a:t>Practically:</a:t>
            </a:r>
            <a:r>
              <a:rPr lang="en-US" sz="1800"/>
              <a:t> The results of the ANOVA F-test are approximately correct when the largest sample standard deviation is no more than twice as large as the smallest sample standard deviation.</a:t>
            </a:r>
          </a:p>
          <a:p>
            <a:pPr>
              <a:lnSpc>
                <a:spcPct val="160000"/>
              </a:lnSpc>
              <a:spcBef>
                <a:spcPct val="40000"/>
              </a:spcBef>
              <a:buClr>
                <a:srgbClr val="00CC99"/>
              </a:buClr>
              <a:buSzPct val="65000"/>
              <a:buFont typeface="Wingdings" pitchFamily="2" charset="2"/>
              <a:buNone/>
            </a:pPr>
            <a:r>
              <a:rPr lang="en-US" sz="1400" i="1"/>
              <a:t>(Equal sample sizes also make ANOVA more robust to deviations from the equal </a:t>
            </a:r>
            <a:r>
              <a:rPr lang="en-US" sz="1400" i="1">
                <a:latin typeface="Symbol" pitchFamily="18" charset="2"/>
              </a:rPr>
              <a:t>s</a:t>
            </a:r>
            <a:r>
              <a:rPr lang="en-US" sz="1400" i="1"/>
              <a:t> rule)</a:t>
            </a:r>
            <a:endParaRPr lang="en-US" sz="1400"/>
          </a:p>
        </p:txBody>
      </p:sp>
      <p:sp>
        <p:nvSpPr>
          <p:cNvPr id="47108" name="Rectangle 6"/>
          <p:cNvSpPr>
            <a:spLocks noChangeArrowheads="1"/>
          </p:cNvSpPr>
          <p:nvPr/>
        </p:nvSpPr>
        <p:spPr bwMode="auto">
          <a:xfrm>
            <a:off x="457200" y="1143000"/>
            <a:ext cx="8229600" cy="1524000"/>
          </a:xfrm>
          <a:prstGeom prst="rect">
            <a:avLst/>
          </a:prstGeom>
          <a:noFill/>
          <a:ln w="9525">
            <a:noFill/>
            <a:miter lim="800000"/>
            <a:headEnd/>
            <a:tailEnd/>
          </a:ln>
        </p:spPr>
        <p:txBody>
          <a:bodyPr/>
          <a:lstStyle/>
          <a:p>
            <a:pPr>
              <a:lnSpc>
                <a:spcPct val="140000"/>
              </a:lnSpc>
              <a:spcBef>
                <a:spcPct val="20000"/>
              </a:spcBef>
              <a:buClr>
                <a:srgbClr val="00CC99"/>
              </a:buClr>
              <a:buSzPct val="65000"/>
              <a:buFont typeface="Wingdings" pitchFamily="2" charset="2"/>
              <a:buNone/>
            </a:pPr>
            <a:r>
              <a:rPr lang="en-US" sz="2000"/>
              <a:t>Each of the #</a:t>
            </a:r>
            <a:r>
              <a:rPr lang="en-US" sz="2000" i="1"/>
              <a:t>I</a:t>
            </a:r>
            <a:r>
              <a:rPr lang="en-US" sz="2000"/>
              <a:t> populations must be </a:t>
            </a:r>
            <a:r>
              <a:rPr lang="en-US" sz="2000" b="1">
                <a:solidFill>
                  <a:srgbClr val="333399"/>
                </a:solidFill>
              </a:rPr>
              <a:t>normally distributed </a:t>
            </a:r>
            <a:r>
              <a:rPr lang="en-US" sz="2000"/>
              <a:t>(histograms or normal quantile plots). But the test is robust to Normality deviations for large enough sample sizes, thanks to the central limit theorem.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2368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368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3683" grpId="0" build="p"/>
      <p:bldP spid="1223685"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CC66"/>
        </a:solidFill>
        <a:effectLst/>
      </p:bgPr>
    </p:bg>
    <p:spTree>
      <p:nvGrpSpPr>
        <p:cNvPr id="1" name=""/>
        <p:cNvGrpSpPr/>
        <p:nvPr/>
      </p:nvGrpSpPr>
      <p:grpSpPr>
        <a:xfrm>
          <a:off x="0" y="0"/>
          <a:ext cx="0" cy="0"/>
          <a:chOff x="0" y="0"/>
          <a:chExt cx="0" cy="0"/>
        </a:xfrm>
      </p:grpSpPr>
      <p:sp>
        <p:nvSpPr>
          <p:cNvPr id="32772" name="Rectangle 2"/>
          <p:cNvSpPr>
            <a:spLocks noGrp="1" noChangeArrowheads="1"/>
          </p:cNvSpPr>
          <p:nvPr>
            <p:ph type="title"/>
          </p:nvPr>
        </p:nvSpPr>
        <p:spPr/>
        <p:txBody>
          <a:bodyPr/>
          <a:lstStyle/>
          <a:p>
            <a:pPr eaLnBrk="1" hangingPunct="1"/>
            <a:r>
              <a:rPr lang="en-US" sz="2400" b="1" smtClean="0">
                <a:solidFill>
                  <a:srgbClr val="333399"/>
                </a:solidFill>
                <a:ea typeface="ＭＳ Ｐゴシック"/>
                <a:cs typeface="ＭＳ Ｐゴシック"/>
              </a:rPr>
              <a:t>Do nematodes affect plant growth?</a:t>
            </a:r>
          </a:p>
        </p:txBody>
      </p:sp>
      <p:pic>
        <p:nvPicPr>
          <p:cNvPr id="32773" name="Picture 7"/>
          <p:cNvPicPr>
            <a:picLocks noGrp="1" noChangeAspect="1" noChangeArrowheads="1"/>
          </p:cNvPicPr>
          <p:nvPr>
            <p:ph sz="quarter" idx="3"/>
          </p:nvPr>
        </p:nvPicPr>
        <p:blipFill>
          <a:blip r:embed="rId4"/>
          <a:srcRect/>
          <a:stretch>
            <a:fillRect/>
          </a:stretch>
        </p:blipFill>
        <p:spPr>
          <a:xfrm>
            <a:off x="5457825" y="3894138"/>
            <a:ext cx="3609975" cy="2887662"/>
          </a:xfrm>
        </p:spPr>
      </p:pic>
      <p:sp>
        <p:nvSpPr>
          <p:cNvPr id="1224708" name="Text Box 4"/>
          <p:cNvSpPr txBox="1">
            <a:spLocks noChangeArrowheads="1"/>
          </p:cNvSpPr>
          <p:nvPr/>
        </p:nvSpPr>
        <p:spPr bwMode="auto">
          <a:xfrm>
            <a:off x="457200" y="685800"/>
            <a:ext cx="8001000" cy="6069013"/>
          </a:xfrm>
          <a:prstGeom prst="rect">
            <a:avLst/>
          </a:prstGeom>
          <a:noFill/>
          <a:ln w="9525">
            <a:noFill/>
            <a:miter lim="800000"/>
            <a:headEnd/>
            <a:tailEnd/>
          </a:ln>
        </p:spPr>
        <p:txBody>
          <a:bodyPr>
            <a:spAutoFit/>
          </a:bodyPr>
          <a:lstStyle/>
          <a:p>
            <a:endParaRPr lang="en-US" sz="1000"/>
          </a:p>
          <a:p>
            <a:r>
              <a:rPr lang="en-US" sz="1600"/>
              <a:t>		Seedling growth  			   	s</a:t>
            </a:r>
            <a:r>
              <a:rPr lang="en-US" sz="1600" baseline="-25000"/>
              <a:t>i</a:t>
            </a:r>
            <a:endParaRPr lang="en-US" sz="1600"/>
          </a:p>
          <a:p>
            <a:r>
              <a:rPr lang="en-US" sz="1600"/>
              <a:t>0 nematode	10.8	 9.1	13.5	  9.2	10.65	2.053</a:t>
            </a:r>
          </a:p>
          <a:p>
            <a:r>
              <a:rPr lang="en-US" sz="1600"/>
              <a:t>1000 nematodes	11.1	11.1	  8.2	11.3	10.425	1.486</a:t>
            </a:r>
          </a:p>
          <a:p>
            <a:r>
              <a:rPr lang="en-US" sz="1600"/>
              <a:t>5000 nematodes	  5.4	  4.6	  7.4	 5.0	 5.6	1.244</a:t>
            </a:r>
          </a:p>
          <a:p>
            <a:r>
              <a:rPr lang="en-US" sz="1600"/>
              <a:t>10000 nematodes	  5.8	  5.3	  3.2	 7.5	 5.45	1.771</a:t>
            </a:r>
          </a:p>
          <a:p>
            <a:endParaRPr lang="en-US" sz="1800"/>
          </a:p>
          <a:p>
            <a:pPr>
              <a:lnSpc>
                <a:spcPct val="110000"/>
              </a:lnSpc>
            </a:pPr>
            <a:r>
              <a:rPr lang="en-US" sz="1800" b="1"/>
              <a:t>Conditions required: </a:t>
            </a:r>
            <a:endParaRPr lang="en-US" sz="1800"/>
          </a:p>
          <a:p>
            <a:pPr>
              <a:lnSpc>
                <a:spcPct val="120000"/>
              </a:lnSpc>
              <a:buFontTx/>
              <a:buChar char="•"/>
            </a:pPr>
            <a:r>
              <a:rPr lang="en-US" sz="1800"/>
              <a:t> equal variances: checking that the largest </a:t>
            </a:r>
            <a:r>
              <a:rPr lang="en-US" sz="1800" i="1"/>
              <a:t>s</a:t>
            </a:r>
            <a:r>
              <a:rPr lang="en-US" sz="1800" baseline="-25000"/>
              <a:t>i</a:t>
            </a:r>
            <a:r>
              <a:rPr lang="en-US" sz="1800"/>
              <a:t> is no more than twice the smallest </a:t>
            </a:r>
            <a:r>
              <a:rPr lang="en-US" sz="1800" i="1"/>
              <a:t>s</a:t>
            </a:r>
            <a:r>
              <a:rPr lang="en-US" sz="1800" baseline="-25000"/>
              <a:t>i</a:t>
            </a:r>
            <a:endParaRPr lang="en-US" sz="1800"/>
          </a:p>
          <a:p>
            <a:endParaRPr lang="en-US" sz="1000"/>
          </a:p>
          <a:p>
            <a:pPr marL="571500" lvl="1"/>
            <a:r>
              <a:rPr lang="en-US" sz="1800"/>
              <a:t>Largest </a:t>
            </a:r>
            <a:r>
              <a:rPr lang="en-US" sz="1800" i="1"/>
              <a:t>s</a:t>
            </a:r>
            <a:r>
              <a:rPr lang="en-US" sz="1800" baseline="-25000"/>
              <a:t>i</a:t>
            </a:r>
            <a:r>
              <a:rPr lang="en-US" sz="1800"/>
              <a:t> = 2.053;  smallest </a:t>
            </a:r>
            <a:r>
              <a:rPr lang="en-US" sz="1800" i="1"/>
              <a:t>s</a:t>
            </a:r>
            <a:r>
              <a:rPr lang="en-US" sz="1800" baseline="-25000"/>
              <a:t>i </a:t>
            </a:r>
            <a:r>
              <a:rPr lang="en-US" sz="1800"/>
              <a:t>= 1.244</a:t>
            </a:r>
          </a:p>
          <a:p>
            <a:endParaRPr lang="en-US" sz="1600"/>
          </a:p>
          <a:p>
            <a:pPr>
              <a:buFontTx/>
              <a:buChar char="•"/>
            </a:pPr>
            <a:r>
              <a:rPr lang="en-US" sz="1800"/>
              <a:t> Independent SRSs</a:t>
            </a:r>
          </a:p>
          <a:p>
            <a:endParaRPr lang="en-US" sz="1000"/>
          </a:p>
          <a:p>
            <a:pPr marL="571500" lvl="1"/>
            <a:r>
              <a:rPr lang="en-US" sz="1800"/>
              <a:t>Four groups obviously independent </a:t>
            </a:r>
          </a:p>
          <a:p>
            <a:pPr marL="571500" lvl="1"/>
            <a:endParaRPr lang="en-US" sz="1600"/>
          </a:p>
          <a:p>
            <a:pPr>
              <a:buFontTx/>
              <a:buChar char="•"/>
            </a:pPr>
            <a:r>
              <a:rPr lang="en-US" sz="1800"/>
              <a:t> Distributions “roughly” Normal</a:t>
            </a:r>
          </a:p>
          <a:p>
            <a:pPr>
              <a:buFontTx/>
              <a:buChar char="•"/>
            </a:pPr>
            <a:endParaRPr lang="en-US" sz="1000"/>
          </a:p>
          <a:p>
            <a:pPr marL="571500" lvl="1">
              <a:lnSpc>
                <a:spcPct val="120000"/>
              </a:lnSpc>
            </a:pPr>
            <a:r>
              <a:rPr lang="en-US" sz="1800"/>
              <a:t>It is hard to assess Normality with only</a:t>
            </a:r>
            <a:br>
              <a:rPr lang="en-US" sz="1800"/>
            </a:br>
            <a:r>
              <a:rPr lang="en-US" sz="1800"/>
              <a:t>four points per condition. But the pots in </a:t>
            </a:r>
            <a:br>
              <a:rPr lang="en-US" sz="1800"/>
            </a:br>
            <a:r>
              <a:rPr lang="en-US" sz="1800"/>
              <a:t>each group are identical, and there is no </a:t>
            </a:r>
            <a:br>
              <a:rPr lang="en-US" sz="1800"/>
            </a:br>
            <a:r>
              <a:rPr lang="en-US" sz="1800"/>
              <a:t>reason to suspect skewed distributions.</a:t>
            </a:r>
          </a:p>
        </p:txBody>
      </p:sp>
      <p:pic>
        <p:nvPicPr>
          <p:cNvPr id="32775" name="Picture 5"/>
          <p:cNvPicPr>
            <a:picLocks noChangeAspect="1" noChangeArrowheads="1"/>
          </p:cNvPicPr>
          <p:nvPr/>
        </p:nvPicPr>
        <p:blipFill>
          <a:blip r:embed="rId5"/>
          <a:srcRect l="14476" t="15208" r="1108" b="10341"/>
          <a:stretch>
            <a:fillRect/>
          </a:stretch>
        </p:blipFill>
        <p:spPr bwMode="auto">
          <a:xfrm>
            <a:off x="7620000" y="76200"/>
            <a:ext cx="1447800" cy="1276350"/>
          </a:xfrm>
          <a:prstGeom prst="rect">
            <a:avLst/>
          </a:prstGeom>
          <a:noFill/>
          <a:ln w="9525">
            <a:noFill/>
            <a:miter lim="800000"/>
            <a:headEnd/>
            <a:tailEnd/>
          </a:ln>
        </p:spPr>
      </p:pic>
      <p:sp>
        <p:nvSpPr>
          <p:cNvPr id="32776" name="Rectangle 10"/>
          <p:cNvSpPr>
            <a:spLocks noChangeArrowheads="1"/>
          </p:cNvSpPr>
          <p:nvPr/>
        </p:nvSpPr>
        <p:spPr bwMode="auto">
          <a:xfrm>
            <a:off x="2286000" y="1117600"/>
            <a:ext cx="3505200" cy="990600"/>
          </a:xfrm>
          <a:prstGeom prst="rect">
            <a:avLst/>
          </a:prstGeom>
          <a:noFill/>
          <a:ln w="9525">
            <a:solidFill>
              <a:schemeClr val="tx1"/>
            </a:solidFill>
            <a:miter lim="800000"/>
            <a:headEnd/>
            <a:tailEnd/>
          </a:ln>
        </p:spPr>
        <p:txBody>
          <a:bodyPr wrap="none" anchor="ctr"/>
          <a:lstStyle/>
          <a:p>
            <a:endParaRPr lang="en-US" sz="1800"/>
          </a:p>
        </p:txBody>
      </p:sp>
      <p:graphicFrame>
        <p:nvGraphicFramePr>
          <p:cNvPr id="32770" name="AutoShape 2"/>
          <p:cNvGraphicFramePr>
            <a:graphicFrameLocks noChangeAspect="1"/>
          </p:cNvGraphicFramePr>
          <p:nvPr/>
        </p:nvGraphicFramePr>
        <p:xfrm>
          <a:off x="6248400" y="914400"/>
          <a:ext cx="176213" cy="223838"/>
        </p:xfrm>
        <a:graphic>
          <a:graphicData uri="http://schemas.openxmlformats.org/presentationml/2006/ole">
            <p:oleObj spid="_x0000_s32770" name="Equation" r:id="rId6" imgW="0" imgH="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4708">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4708">
                                            <p:txEl>
                                              <p:pRg st="10" end="1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24708">
                                            <p:txEl>
                                              <p:pRg st="12" end="1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24708">
                                            <p:txEl>
                                              <p:pRg st="14" end="1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24708">
                                            <p:txEl>
                                              <p:pRg st="16" end="1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24708">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CC66"/>
        </a:solidFill>
        <a:effectLst/>
      </p:bgPr>
    </p:bg>
    <p:spTree>
      <p:nvGrpSpPr>
        <p:cNvPr id="1" name=""/>
        <p:cNvGrpSpPr/>
        <p:nvPr/>
      </p:nvGrpSpPr>
      <p:grpSpPr>
        <a:xfrm>
          <a:off x="0" y="0"/>
          <a:ext cx="0" cy="0"/>
          <a:chOff x="0" y="0"/>
          <a:chExt cx="0" cy="0"/>
        </a:xfrm>
      </p:grpSpPr>
      <p:sp>
        <p:nvSpPr>
          <p:cNvPr id="94210" name="Text Box 2"/>
          <p:cNvSpPr txBox="1">
            <a:spLocks noChangeArrowheads="1"/>
          </p:cNvSpPr>
          <p:nvPr/>
        </p:nvSpPr>
        <p:spPr bwMode="auto">
          <a:xfrm>
            <a:off x="457200" y="712788"/>
            <a:ext cx="8229600" cy="4595812"/>
          </a:xfrm>
          <a:prstGeom prst="rect">
            <a:avLst/>
          </a:prstGeom>
          <a:noFill/>
          <a:ln w="9525">
            <a:noFill/>
            <a:miter lim="800000"/>
            <a:headEnd/>
            <a:tailEnd/>
          </a:ln>
        </p:spPr>
        <p:txBody>
          <a:bodyPr>
            <a:spAutoFit/>
          </a:bodyPr>
          <a:lstStyle/>
          <a:p>
            <a:pPr>
              <a:lnSpc>
                <a:spcPct val="140000"/>
              </a:lnSpc>
            </a:pPr>
            <a:r>
              <a:rPr lang="en-US" sz="1800"/>
              <a:t>A study of the effect of smoking classifies subjects as nonsmokers, moderate smokers, and heavy smokers. The investigators interview a random sample of 200 people in each group and ask “How many hours do you sleep on a typical night?”</a:t>
            </a:r>
          </a:p>
          <a:p>
            <a:pPr>
              <a:lnSpc>
                <a:spcPct val="160000"/>
              </a:lnSpc>
            </a:pPr>
            <a:endParaRPr lang="en-US" sz="1800"/>
          </a:p>
          <a:p>
            <a:pPr>
              <a:lnSpc>
                <a:spcPct val="230000"/>
              </a:lnSpc>
            </a:pPr>
            <a:r>
              <a:rPr lang="en-US" sz="1800"/>
              <a:t>1. Study design?</a:t>
            </a:r>
          </a:p>
          <a:p>
            <a:pPr>
              <a:lnSpc>
                <a:spcPct val="230000"/>
              </a:lnSpc>
            </a:pPr>
            <a:r>
              <a:rPr lang="en-US" sz="1800"/>
              <a:t>2. Hypotheses?</a:t>
            </a:r>
          </a:p>
          <a:p>
            <a:pPr>
              <a:lnSpc>
                <a:spcPct val="230000"/>
              </a:lnSpc>
            </a:pPr>
            <a:r>
              <a:rPr lang="en-US" sz="1800"/>
              <a:t>3. ANOVA assumptions?</a:t>
            </a:r>
          </a:p>
          <a:p>
            <a:pPr>
              <a:lnSpc>
                <a:spcPct val="230000"/>
              </a:lnSpc>
            </a:pPr>
            <a:r>
              <a:rPr lang="en-US" sz="1800"/>
              <a:t>4. Degrees of freedom?</a:t>
            </a:r>
          </a:p>
        </p:txBody>
      </p:sp>
      <p:sp>
        <p:nvSpPr>
          <p:cNvPr id="1238019" name="Text Box 3"/>
          <p:cNvSpPr txBox="1">
            <a:spLocks noChangeArrowheads="1"/>
          </p:cNvSpPr>
          <p:nvPr/>
        </p:nvSpPr>
        <p:spPr bwMode="auto">
          <a:xfrm>
            <a:off x="3505200" y="2286000"/>
            <a:ext cx="5410200" cy="4314825"/>
          </a:xfrm>
          <a:prstGeom prst="rect">
            <a:avLst/>
          </a:prstGeom>
          <a:noFill/>
          <a:ln w="9525">
            <a:noFill/>
            <a:miter lim="800000"/>
            <a:headEnd/>
            <a:tailEnd/>
          </a:ln>
        </p:spPr>
        <p:txBody>
          <a:bodyPr>
            <a:spAutoFit/>
          </a:bodyPr>
          <a:lstStyle/>
          <a:p>
            <a:pPr>
              <a:lnSpc>
                <a:spcPct val="110000"/>
              </a:lnSpc>
            </a:pPr>
            <a:r>
              <a:rPr lang="en-US" sz="1800">
                <a:solidFill>
                  <a:srgbClr val="333399"/>
                </a:solidFill>
              </a:rPr>
              <a:t>1.</a:t>
            </a:r>
            <a:r>
              <a:rPr lang="en-US" sz="1800"/>
              <a:t> This is an observational study.</a:t>
            </a:r>
            <a:br>
              <a:rPr lang="en-US" sz="1800"/>
            </a:br>
            <a:r>
              <a:rPr lang="en-US" sz="1800"/>
              <a:t>Explanatory variable: smoking -- 3 levels: nonsmokers, moderate smokers, heavy smokers</a:t>
            </a:r>
            <a:br>
              <a:rPr lang="en-US" sz="1800"/>
            </a:br>
            <a:r>
              <a:rPr lang="en-US" sz="1800"/>
              <a:t>Response variable: # hours of sleep per night</a:t>
            </a:r>
          </a:p>
          <a:p>
            <a:pPr>
              <a:lnSpc>
                <a:spcPct val="110000"/>
              </a:lnSpc>
            </a:pPr>
            <a:endParaRPr lang="en-US" sz="1800"/>
          </a:p>
          <a:p>
            <a:pPr>
              <a:lnSpc>
                <a:spcPct val="110000"/>
              </a:lnSpc>
            </a:pPr>
            <a:r>
              <a:rPr lang="en-US" sz="1800">
                <a:solidFill>
                  <a:srgbClr val="333399"/>
                </a:solidFill>
              </a:rPr>
              <a:t>2.</a:t>
            </a:r>
            <a:r>
              <a:rPr lang="en-US" sz="1800"/>
              <a:t> H</a:t>
            </a:r>
            <a:r>
              <a:rPr lang="en-US" sz="1800" baseline="-25000"/>
              <a:t>0</a:t>
            </a:r>
            <a:r>
              <a:rPr lang="en-US" sz="1800"/>
              <a:t>: all 3 </a:t>
            </a:r>
            <a:r>
              <a:rPr lang="en-US" sz="1800">
                <a:latin typeface="Symbol" pitchFamily="18" charset="2"/>
              </a:rPr>
              <a:t>m</a:t>
            </a:r>
            <a:r>
              <a:rPr lang="en-US" sz="1800" baseline="-25000"/>
              <a:t>i</a:t>
            </a:r>
            <a:r>
              <a:rPr lang="en-US" sz="1800"/>
              <a:t> equal (versus not all equal)</a:t>
            </a:r>
          </a:p>
          <a:p>
            <a:pPr>
              <a:lnSpc>
                <a:spcPct val="110000"/>
              </a:lnSpc>
            </a:pPr>
            <a:endParaRPr lang="en-US" sz="1800"/>
          </a:p>
          <a:p>
            <a:pPr>
              <a:lnSpc>
                <a:spcPct val="110000"/>
              </a:lnSpc>
            </a:pPr>
            <a:r>
              <a:rPr lang="en-US" sz="1800">
                <a:solidFill>
                  <a:srgbClr val="333399"/>
                </a:solidFill>
              </a:rPr>
              <a:t>3.</a:t>
            </a:r>
            <a:r>
              <a:rPr lang="en-US" sz="1800"/>
              <a:t> Three obviously independent SRS. Sample size of 200 should accommodate any departure from normality. Would still be good to check for s</a:t>
            </a:r>
            <a:r>
              <a:rPr lang="en-US" sz="1800" baseline="-25000"/>
              <a:t>min</a:t>
            </a:r>
            <a:r>
              <a:rPr lang="en-US" sz="1800"/>
              <a:t>/s</a:t>
            </a:r>
            <a:r>
              <a:rPr lang="en-US" sz="1800" baseline="-25000"/>
              <a:t>max</a:t>
            </a:r>
            <a:r>
              <a:rPr lang="en-US" sz="1800"/>
              <a:t>. </a:t>
            </a:r>
          </a:p>
          <a:p>
            <a:pPr>
              <a:lnSpc>
                <a:spcPct val="110000"/>
              </a:lnSpc>
            </a:pPr>
            <a:endParaRPr lang="en-US" sz="1800"/>
          </a:p>
          <a:p>
            <a:pPr>
              <a:lnSpc>
                <a:spcPct val="110000"/>
              </a:lnSpc>
            </a:pPr>
            <a:r>
              <a:rPr lang="en-US" sz="1800">
                <a:solidFill>
                  <a:srgbClr val="333399"/>
                </a:solidFill>
              </a:rPr>
              <a:t>4.</a:t>
            </a:r>
            <a:r>
              <a:rPr lang="en-US" sz="1800"/>
              <a:t> I = 3, n1 = n2 = n3 = 200, and N = 600, </a:t>
            </a:r>
            <a:br>
              <a:rPr lang="en-US" sz="1800"/>
            </a:br>
            <a:r>
              <a:rPr lang="en-US" sz="1800"/>
              <a:t>so there are I - 1 = 2 (numerator) and N - I = 597 (denominator) degrees of freedom.</a:t>
            </a:r>
          </a:p>
        </p:txBody>
      </p:sp>
      <p:sp>
        <p:nvSpPr>
          <p:cNvPr id="1238020" name="Rectangle 4"/>
          <p:cNvSpPr>
            <a:spLocks noChangeArrowheads="1"/>
          </p:cNvSpPr>
          <p:nvPr/>
        </p:nvSpPr>
        <p:spPr bwMode="auto">
          <a:xfrm>
            <a:off x="3352800" y="2209800"/>
            <a:ext cx="5562600" cy="4419600"/>
          </a:xfrm>
          <a:prstGeom prst="rect">
            <a:avLst/>
          </a:prstGeom>
          <a:solidFill>
            <a:srgbClr val="FFCC66"/>
          </a:solidFill>
          <a:ln w="9525">
            <a:solidFill>
              <a:schemeClr val="tx1"/>
            </a:solidFill>
            <a:miter lim="800000"/>
            <a:headEnd/>
            <a:tailEnd/>
          </a:ln>
        </p:spPr>
        <p:txBody>
          <a:bodyPr wrap="none" anchor="ctr"/>
          <a:lstStyle/>
          <a:p>
            <a:endParaRPr lang="en-US" sz="1800"/>
          </a:p>
        </p:txBody>
      </p:sp>
      <p:sp>
        <p:nvSpPr>
          <p:cNvPr id="94213" name="Rectangle 5"/>
          <p:cNvSpPr>
            <a:spLocks noGrp="1" noChangeArrowheads="1"/>
          </p:cNvSpPr>
          <p:nvPr>
            <p:ph type="title"/>
          </p:nvPr>
        </p:nvSpPr>
        <p:spPr>
          <a:xfrm>
            <a:off x="457200" y="228600"/>
            <a:ext cx="8229600" cy="533400"/>
          </a:xfrm>
        </p:spPr>
        <p:txBody>
          <a:bodyPr/>
          <a:lstStyle/>
          <a:p>
            <a:pPr eaLnBrk="1" hangingPunct="1"/>
            <a:r>
              <a:rPr lang="en-US" sz="2400" b="1" smtClean="0">
                <a:solidFill>
                  <a:srgbClr val="333399"/>
                </a:solidFill>
                <a:ea typeface="ＭＳ Ｐゴシック"/>
                <a:cs typeface="ＭＳ Ｐゴシック"/>
              </a:rPr>
              <a:t>Smoking influence on sleep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499"/>
                                          </p:stCondLst>
                                        </p:cTn>
                                        <p:tgtEl>
                                          <p:spTgt spid="123802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3801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380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3801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2380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8019" grpId="0" build="p" autoUpdateAnimBg="0"/>
      <p:bldP spid="12380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
          <p:cNvSpPr>
            <a:spLocks noChangeArrowheads="1"/>
          </p:cNvSpPr>
          <p:nvPr/>
        </p:nvSpPr>
        <p:spPr bwMode="auto">
          <a:xfrm>
            <a:off x="533400" y="3733800"/>
            <a:ext cx="8077200" cy="685800"/>
          </a:xfrm>
          <a:prstGeom prst="rect">
            <a:avLst/>
          </a:prstGeom>
          <a:solidFill>
            <a:srgbClr val="CCCCFF"/>
          </a:solidFill>
          <a:ln w="28575">
            <a:solidFill>
              <a:schemeClr val="tx1"/>
            </a:solidFill>
            <a:miter lim="800000"/>
            <a:headEnd/>
            <a:tailEnd/>
          </a:ln>
        </p:spPr>
        <p:txBody>
          <a:bodyPr wrap="none" anchor="ctr"/>
          <a:lstStyle/>
          <a:p>
            <a:endParaRPr lang="en-US" sz="1800"/>
          </a:p>
        </p:txBody>
      </p:sp>
      <p:sp>
        <p:nvSpPr>
          <p:cNvPr id="34822" name="Rectangle 4"/>
          <p:cNvSpPr>
            <a:spLocks noChangeArrowheads="1"/>
          </p:cNvSpPr>
          <p:nvPr/>
        </p:nvSpPr>
        <p:spPr bwMode="auto">
          <a:xfrm>
            <a:off x="457200" y="228600"/>
            <a:ext cx="8229600" cy="609600"/>
          </a:xfrm>
          <a:prstGeom prst="rect">
            <a:avLst/>
          </a:prstGeom>
          <a:noFill/>
          <a:ln w="9525">
            <a:noFill/>
            <a:miter lim="800000"/>
            <a:headEnd/>
            <a:tailEnd/>
          </a:ln>
        </p:spPr>
        <p:txBody>
          <a:bodyPr/>
          <a:lstStyle/>
          <a:p>
            <a:pPr>
              <a:lnSpc>
                <a:spcPct val="90000"/>
              </a:lnSpc>
            </a:pPr>
            <a:r>
              <a:rPr lang="en-US" sz="4000">
                <a:solidFill>
                  <a:srgbClr val="CC0000"/>
                </a:solidFill>
                <a:latin typeface="Garamond" pitchFamily="18" charset="0"/>
              </a:rPr>
              <a:t>The ANOVA table</a:t>
            </a:r>
          </a:p>
        </p:txBody>
      </p:sp>
      <p:graphicFrame>
        <p:nvGraphicFramePr>
          <p:cNvPr id="1244165" name="Group 5"/>
          <p:cNvGraphicFramePr>
            <a:graphicFrameLocks noGrp="1"/>
          </p:cNvGraphicFramePr>
          <p:nvPr/>
        </p:nvGraphicFramePr>
        <p:xfrm>
          <a:off x="533400" y="1143000"/>
          <a:ext cx="8077200" cy="2590800"/>
        </p:xfrm>
        <a:graphic>
          <a:graphicData uri="http://schemas.openxmlformats.org/drawingml/2006/table">
            <a:tbl>
              <a:tblPr/>
              <a:tblGrid>
                <a:gridCol w="1676400"/>
                <a:gridCol w="1524000"/>
                <a:gridCol w="755650"/>
                <a:gridCol w="1236663"/>
                <a:gridCol w="1055687"/>
                <a:gridCol w="914400"/>
                <a:gridCol w="914400"/>
              </a:tblGrid>
              <a:tr h="604838">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0" u="none" strike="noStrike" cap="none" normalizeH="0" baseline="0">
                          <a:ln>
                            <a:noFill/>
                          </a:ln>
                          <a:solidFill>
                            <a:schemeClr val="tx1"/>
                          </a:solidFill>
                          <a:effectLst/>
                          <a:latin typeface="Arial" charset="0"/>
                        </a:rPr>
                        <a:t>Source of variation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0" u="none" strike="noStrike" cap="none" normalizeH="0" baseline="0">
                          <a:ln>
                            <a:noFill/>
                          </a:ln>
                          <a:solidFill>
                            <a:schemeClr val="tx1"/>
                          </a:solidFill>
                          <a:effectLst/>
                          <a:latin typeface="Arial" charset="0"/>
                        </a:rPr>
                        <a:t>Sum of squares 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0" u="none" strike="noStrike" cap="none" normalizeH="0" baseline="0">
                          <a:ln>
                            <a:noFill/>
                          </a:ln>
                          <a:solidFill>
                            <a:schemeClr val="tx1"/>
                          </a:solidFill>
                          <a:effectLst/>
                          <a:latin typeface="Arial" charset="0"/>
                        </a:rPr>
                        <a:t>DF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0" u="none" strike="noStrike" cap="none" normalizeH="0" baseline="0">
                          <a:ln>
                            <a:noFill/>
                          </a:ln>
                          <a:solidFill>
                            <a:schemeClr val="tx1"/>
                          </a:solidFill>
                          <a:effectLst/>
                          <a:latin typeface="Arial" charset="0"/>
                        </a:rPr>
                        <a:t>Mean square MS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0" u="none" strike="noStrike" cap="none" normalizeH="0" baseline="0">
                          <a:ln>
                            <a:noFill/>
                          </a:ln>
                          <a:solidFill>
                            <a:schemeClr val="tx1"/>
                          </a:solidFill>
                          <a:effectLst/>
                          <a:latin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0" u="none" strike="noStrike" cap="none" normalizeH="0" baseline="0">
                          <a:ln>
                            <a:noFill/>
                          </a:ln>
                          <a:solidFill>
                            <a:schemeClr val="tx1"/>
                          </a:solidFill>
                          <a:effectLst/>
                          <a:latin typeface="Arial" charset="0"/>
                        </a:rPr>
                        <a:t>P value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0" u="none" strike="noStrike" cap="none" normalizeH="0" baseline="0">
                          <a:ln>
                            <a:noFill/>
                          </a:ln>
                          <a:solidFill>
                            <a:schemeClr val="tx1"/>
                          </a:solidFill>
                          <a:effectLst/>
                          <a:latin typeface="Arial" charset="0"/>
                        </a:rPr>
                        <a:t>F crit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r>
              <a:tr h="604838">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0" u="none" strike="noStrike" cap="none" normalizeH="0" baseline="0">
                          <a:ln>
                            <a:noFill/>
                          </a:ln>
                          <a:solidFill>
                            <a:schemeClr val="tx1"/>
                          </a:solidFill>
                          <a:effectLst/>
                          <a:latin typeface="Arial" charset="0"/>
                        </a:rPr>
                        <a:t>Among or between “groups”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1" u="none" strike="noStrike" cap="none" normalizeH="0" baseline="0">
                          <a:ln>
                            <a:noFill/>
                          </a:ln>
                          <a:solidFill>
                            <a:schemeClr val="tx1"/>
                          </a:solidFill>
                          <a:effectLst/>
                          <a:latin typeface="Arial" charset="0"/>
                        </a:rPr>
                        <a:t>I</a:t>
                      </a:r>
                      <a:r>
                        <a:rPr kumimoji="0" lang="en-US" sz="1400" b="0" i="0" u="none" strike="noStrike" cap="none" normalizeH="0" baseline="0">
                          <a:ln>
                            <a:noFill/>
                          </a:ln>
                          <a:solidFill>
                            <a:schemeClr val="tx1"/>
                          </a:solidFill>
                          <a:effectLst/>
                          <a:latin typeface="Arial" charset="0"/>
                        </a:rPr>
                        <a:t>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0" u="none" strike="noStrike" cap="none" normalizeH="0" baseline="0">
                          <a:ln>
                            <a:noFill/>
                          </a:ln>
                          <a:solidFill>
                            <a:schemeClr val="tx1"/>
                          </a:solidFill>
                          <a:effectLst/>
                          <a:latin typeface="Arial" charset="0"/>
                        </a:rPr>
                        <a:t>SSG/DFG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0" u="none" strike="noStrike" cap="none" normalizeH="0" baseline="0">
                          <a:ln>
                            <a:noFill/>
                          </a:ln>
                          <a:solidFill>
                            <a:schemeClr val="tx1"/>
                          </a:solidFill>
                          <a:effectLst/>
                          <a:latin typeface="Arial" charset="0"/>
                        </a:rPr>
                        <a:t>MSG/MSE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0" u="none" strike="noStrike" cap="none" normalizeH="0" baseline="0">
                          <a:ln>
                            <a:noFill/>
                          </a:ln>
                          <a:solidFill>
                            <a:schemeClr val="tx1"/>
                          </a:solidFill>
                          <a:effectLst/>
                          <a:latin typeface="Arial" charset="0"/>
                        </a:rPr>
                        <a:t>Tail area above 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0" u="none" strike="noStrike" cap="none" normalizeH="0" baseline="0">
                          <a:ln>
                            <a:noFill/>
                          </a:ln>
                          <a:solidFill>
                            <a:schemeClr val="tx1"/>
                          </a:solidFill>
                          <a:effectLst/>
                          <a:latin typeface="Arial" charset="0"/>
                        </a:rPr>
                        <a:t>Value of F for </a:t>
                      </a:r>
                      <a:r>
                        <a:rPr kumimoji="0" lang="en-US" sz="1400" b="0" i="1" u="none" strike="noStrike" cap="none" normalizeH="0" baseline="0">
                          <a:ln>
                            <a:noFill/>
                          </a:ln>
                          <a:solidFill>
                            <a:schemeClr val="tx1"/>
                          </a:solidFill>
                          <a:effectLst/>
                          <a:latin typeface="Symbol" charset="2"/>
                        </a:rPr>
                        <a: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r>
              <a:tr h="603250">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0" u="none" strike="noStrike" cap="none" normalizeH="0" baseline="0">
                          <a:ln>
                            <a:noFill/>
                          </a:ln>
                          <a:solidFill>
                            <a:schemeClr val="tx1"/>
                          </a:solidFill>
                          <a:effectLst/>
                          <a:latin typeface="Arial" charset="0"/>
                        </a:rPr>
                        <a:t>Within groups or “error”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1" u="none" strike="noStrike" cap="none" normalizeH="0" baseline="0">
                          <a:ln>
                            <a:noFill/>
                          </a:ln>
                          <a:solidFill>
                            <a:schemeClr val="tx1"/>
                          </a:solidFill>
                          <a:effectLst/>
                          <a:latin typeface="Arial" charset="0"/>
                        </a:rPr>
                        <a:t>N - 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0" u="none" strike="noStrike" cap="none" normalizeH="0" baseline="0">
                          <a:ln>
                            <a:noFill/>
                          </a:ln>
                          <a:solidFill>
                            <a:schemeClr val="tx1"/>
                          </a:solidFill>
                          <a:effectLst/>
                          <a:latin typeface="Arial" charset="0"/>
                        </a:rPr>
                        <a:t>SSE/DFE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r>
              <a:tr h="777875">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0" u="none" strike="noStrike" cap="none" normalizeH="0" baseline="0">
                          <a:ln>
                            <a:noFill/>
                          </a:ln>
                          <a:solidFill>
                            <a:schemeClr val="tx1"/>
                          </a:solidFill>
                          <a:effectLst/>
                          <a:latin typeface="Arial" charset="0"/>
                        </a:rPr>
                        <a:t>Total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0" u="none" strike="noStrike" cap="none" normalizeH="0" baseline="0">
                          <a:ln>
                            <a:noFill/>
                          </a:ln>
                          <a:solidFill>
                            <a:schemeClr val="tx1"/>
                          </a:solidFill>
                          <a:effectLst/>
                          <a:latin typeface="Arial" charset="0"/>
                        </a:rPr>
                        <a:t>SST=SSG+SSE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r>
                        <a:rPr kumimoji="0" lang="en-US" sz="1400" b="0" i="1" u="none" strike="noStrike" cap="none" normalizeH="0" baseline="0">
                          <a:ln>
                            <a:noFill/>
                          </a:ln>
                          <a:solidFill>
                            <a:schemeClr val="tx1"/>
                          </a:solidFill>
                          <a:effectLst/>
                          <a:latin typeface="Arial" charset="0"/>
                        </a:rPr>
                        <a:t>N</a:t>
                      </a:r>
                      <a:r>
                        <a:rPr kumimoji="0" lang="en-US" sz="1400" b="0" i="0" u="none" strike="noStrike" cap="none" normalizeH="0" baseline="0">
                          <a:ln>
                            <a:noFill/>
                          </a:ln>
                          <a:solidFill>
                            <a:schemeClr val="tx1"/>
                          </a:solidFill>
                          <a:effectLst/>
                          <a:latin typeface="Arial" charset="0"/>
                        </a:rPr>
                        <a:t> –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charset="2"/>
                        <a:buNone/>
                        <a:tabLst/>
                      </a:pP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CCFF"/>
                    </a:solidFill>
                  </a:tcPr>
                </a:tc>
              </a:tr>
            </a:tbl>
          </a:graphicData>
        </a:graphic>
      </p:graphicFrame>
      <p:graphicFrame>
        <p:nvGraphicFramePr>
          <p:cNvPr id="34818" name="Object 2"/>
          <p:cNvGraphicFramePr>
            <a:graphicFrameLocks noChangeAspect="1"/>
          </p:cNvGraphicFramePr>
          <p:nvPr/>
        </p:nvGraphicFramePr>
        <p:xfrm>
          <a:off x="2311400" y="1828800"/>
          <a:ext cx="1295400" cy="382588"/>
        </p:xfrm>
        <a:graphic>
          <a:graphicData uri="http://schemas.openxmlformats.org/presentationml/2006/ole">
            <p:oleObj spid="_x0000_s34818" name="Equation" r:id="rId4" imgW="863280" imgH="253800" progId="Equation.3">
              <p:embed/>
            </p:oleObj>
          </a:graphicData>
        </a:graphic>
      </p:graphicFrame>
      <p:graphicFrame>
        <p:nvGraphicFramePr>
          <p:cNvPr id="34819" name="Object 3"/>
          <p:cNvGraphicFramePr>
            <a:graphicFrameLocks noChangeAspect="1"/>
          </p:cNvGraphicFramePr>
          <p:nvPr/>
        </p:nvGraphicFramePr>
        <p:xfrm>
          <a:off x="2311400" y="3276600"/>
          <a:ext cx="1104900" cy="368300"/>
        </p:xfrm>
        <a:graphic>
          <a:graphicData uri="http://schemas.openxmlformats.org/presentationml/2006/ole">
            <p:oleObj spid="_x0000_s34819" name="Equation" r:id="rId5" imgW="761760" imgH="253800" progId="Equation.3">
              <p:embed/>
            </p:oleObj>
          </a:graphicData>
        </a:graphic>
      </p:graphicFrame>
      <p:graphicFrame>
        <p:nvGraphicFramePr>
          <p:cNvPr id="34820" name="Object 4"/>
          <p:cNvGraphicFramePr>
            <a:graphicFrameLocks noChangeAspect="1"/>
          </p:cNvGraphicFramePr>
          <p:nvPr/>
        </p:nvGraphicFramePr>
        <p:xfrm>
          <a:off x="2311400" y="2439988"/>
          <a:ext cx="1216025" cy="404812"/>
        </p:xfrm>
        <a:graphic>
          <a:graphicData uri="http://schemas.openxmlformats.org/presentationml/2006/ole">
            <p:oleObj spid="_x0000_s34820" name="Equation" r:id="rId6" imgW="799920" imgH="266400" progId="Equation.3">
              <p:embed/>
            </p:oleObj>
          </a:graphicData>
        </a:graphic>
      </p:graphicFrame>
      <p:sp>
        <p:nvSpPr>
          <p:cNvPr id="34865" name="Text Box 50"/>
          <p:cNvSpPr txBox="1">
            <a:spLocks noChangeArrowheads="1"/>
          </p:cNvSpPr>
          <p:nvPr/>
        </p:nvSpPr>
        <p:spPr bwMode="auto">
          <a:xfrm>
            <a:off x="517525" y="3835400"/>
            <a:ext cx="7635875" cy="558800"/>
          </a:xfrm>
          <a:prstGeom prst="rect">
            <a:avLst/>
          </a:prstGeom>
          <a:noFill/>
          <a:ln w="9525">
            <a:noFill/>
            <a:miter lim="800000"/>
            <a:headEnd/>
            <a:tailEnd/>
          </a:ln>
        </p:spPr>
        <p:txBody>
          <a:bodyPr>
            <a:spAutoFit/>
          </a:bodyPr>
          <a:lstStyle/>
          <a:p>
            <a:pPr>
              <a:lnSpc>
                <a:spcPct val="110000"/>
              </a:lnSpc>
            </a:pPr>
            <a:r>
              <a:rPr lang="en-US" sz="1400" b="1" i="1"/>
              <a:t>R</a:t>
            </a:r>
            <a:r>
              <a:rPr lang="en-US" sz="1400" b="1" baseline="30000"/>
              <a:t>2</a:t>
            </a:r>
            <a:r>
              <a:rPr lang="en-US" sz="1400" b="1"/>
              <a:t> = SSG/SST			</a:t>
            </a:r>
            <a:r>
              <a:rPr lang="en-US" sz="1400" b="1">
                <a:cs typeface="Arial" charset="0"/>
              </a:rPr>
              <a:t>√</a:t>
            </a:r>
            <a:r>
              <a:rPr lang="en-US" sz="1400" b="1"/>
              <a:t>MSE = </a:t>
            </a:r>
            <a:r>
              <a:rPr lang="en-US" sz="1400" b="1" i="1"/>
              <a:t>s</a:t>
            </a:r>
            <a:r>
              <a:rPr lang="en-US" sz="1400" b="1" i="1" baseline="-25000"/>
              <a:t>p</a:t>
            </a:r>
          </a:p>
          <a:p>
            <a:pPr>
              <a:lnSpc>
                <a:spcPct val="110000"/>
              </a:lnSpc>
            </a:pPr>
            <a:r>
              <a:rPr lang="en-US" sz="1400" b="1"/>
              <a:t>     Coefficient of determination		Pooled standard deviation</a:t>
            </a:r>
            <a:endParaRPr lang="en-US" sz="1000">
              <a:solidFill>
                <a:schemeClr val="hlink"/>
              </a:solidFill>
            </a:endParaRPr>
          </a:p>
        </p:txBody>
      </p:sp>
      <p:sp>
        <p:nvSpPr>
          <p:cNvPr id="1244211" name="Text Box 51"/>
          <p:cNvSpPr txBox="1">
            <a:spLocks noChangeArrowheads="1"/>
          </p:cNvSpPr>
          <p:nvPr/>
        </p:nvSpPr>
        <p:spPr bwMode="auto">
          <a:xfrm>
            <a:off x="520700" y="4718050"/>
            <a:ext cx="8321675" cy="1454150"/>
          </a:xfrm>
          <a:prstGeom prst="rect">
            <a:avLst/>
          </a:prstGeom>
          <a:noFill/>
          <a:ln w="9525">
            <a:noFill/>
            <a:miter lim="800000"/>
            <a:headEnd/>
            <a:tailEnd/>
          </a:ln>
        </p:spPr>
        <p:txBody>
          <a:bodyPr>
            <a:spAutoFit/>
          </a:bodyPr>
          <a:lstStyle/>
          <a:p>
            <a:pPr>
              <a:lnSpc>
                <a:spcPct val="150000"/>
              </a:lnSpc>
            </a:pPr>
            <a:r>
              <a:rPr lang="en-US" sz="1800"/>
              <a:t>The sum of squares represents variation in the data: SST = SSG + SSE.  </a:t>
            </a:r>
          </a:p>
          <a:p>
            <a:pPr>
              <a:lnSpc>
                <a:spcPct val="150000"/>
              </a:lnSpc>
            </a:pPr>
            <a:r>
              <a:rPr lang="en-US" sz="1800"/>
              <a:t>The degrees of freedom likewise reflect the ANOVA model: DFT = DFG + DFE.</a:t>
            </a:r>
          </a:p>
          <a:p>
            <a:pPr algn="ctr">
              <a:lnSpc>
                <a:spcPct val="160000"/>
              </a:lnSpc>
              <a:spcBef>
                <a:spcPct val="35000"/>
              </a:spcBef>
            </a:pPr>
            <a:r>
              <a:rPr lang="en-US" sz="1800" b="1"/>
              <a:t>Data (“Total”) = fit (“Groups”) + residual (“Error”)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442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4211"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CC66"/>
        </a:solidFill>
        <a:effectLst/>
      </p:bgPr>
    </p:bg>
    <p:spTree>
      <p:nvGrpSpPr>
        <p:cNvPr id="1" name=""/>
        <p:cNvGrpSpPr/>
        <p:nvPr/>
      </p:nvGrpSpPr>
      <p:grpSpPr>
        <a:xfrm>
          <a:off x="0" y="0"/>
          <a:ext cx="0" cy="0"/>
          <a:chOff x="0" y="0"/>
          <a:chExt cx="0" cy="0"/>
        </a:xfrm>
      </p:grpSpPr>
      <p:graphicFrame>
        <p:nvGraphicFramePr>
          <p:cNvPr id="35842" name="Object 2"/>
          <p:cNvGraphicFramePr>
            <a:graphicFrameLocks noChangeAspect="1"/>
          </p:cNvGraphicFramePr>
          <p:nvPr/>
        </p:nvGraphicFramePr>
        <p:xfrm>
          <a:off x="1676400" y="838200"/>
          <a:ext cx="6705600" cy="4038600"/>
        </p:xfrm>
        <a:graphic>
          <a:graphicData uri="http://schemas.openxmlformats.org/presentationml/2006/ole">
            <p:oleObj spid="_x0000_s35842" name="Worksheet" r:id="rId4" imgW="5806440" imgH="2804160" progId="Excel.Sheet.8">
              <p:embed/>
            </p:oleObj>
          </a:graphicData>
        </a:graphic>
      </p:graphicFrame>
      <p:sp>
        <p:nvSpPr>
          <p:cNvPr id="35844" name="Rectangle 3"/>
          <p:cNvSpPr>
            <a:spLocks noGrp="1" noChangeArrowheads="1"/>
          </p:cNvSpPr>
          <p:nvPr>
            <p:ph type="title"/>
          </p:nvPr>
        </p:nvSpPr>
        <p:spPr/>
        <p:txBody>
          <a:bodyPr/>
          <a:lstStyle/>
          <a:p>
            <a:pPr eaLnBrk="1" hangingPunct="1"/>
            <a:r>
              <a:rPr lang="en-US" sz="1800" b="1" smtClean="0">
                <a:solidFill>
                  <a:schemeClr val="tx1"/>
                </a:solidFill>
                <a:latin typeface="Arial" charset="0"/>
                <a:ea typeface="ＭＳ Ｐゴシック"/>
                <a:cs typeface="ＭＳ Ｐゴシック"/>
              </a:rPr>
              <a:t>Excel output for the one-way ANOVA</a:t>
            </a:r>
          </a:p>
        </p:txBody>
      </p:sp>
      <p:sp>
        <p:nvSpPr>
          <p:cNvPr id="35845" name="Text Box 4"/>
          <p:cNvSpPr txBox="1">
            <a:spLocks noChangeArrowheads="1"/>
          </p:cNvSpPr>
          <p:nvPr/>
        </p:nvSpPr>
        <p:spPr bwMode="auto">
          <a:xfrm>
            <a:off x="261938" y="3808413"/>
            <a:ext cx="1416050" cy="581025"/>
          </a:xfrm>
          <a:prstGeom prst="rect">
            <a:avLst/>
          </a:prstGeom>
          <a:noFill/>
          <a:ln w="9525">
            <a:noFill/>
            <a:miter lim="800000"/>
            <a:headEnd/>
            <a:tailEnd/>
          </a:ln>
        </p:spPr>
        <p:txBody>
          <a:bodyPr wrap="none">
            <a:spAutoFit/>
          </a:bodyPr>
          <a:lstStyle/>
          <a:p>
            <a:pPr algn="r"/>
            <a:r>
              <a:rPr lang="en-US" sz="1600" b="1" i="1"/>
              <a:t>numerator</a:t>
            </a:r>
          </a:p>
          <a:p>
            <a:pPr algn="r"/>
            <a:r>
              <a:rPr lang="en-US" sz="1600" b="1" i="1"/>
              <a:t>denominator</a:t>
            </a:r>
          </a:p>
        </p:txBody>
      </p:sp>
      <p:pic>
        <p:nvPicPr>
          <p:cNvPr id="35846" name="Picture 5"/>
          <p:cNvPicPr>
            <a:picLocks noChangeAspect="1" noChangeArrowheads="1"/>
          </p:cNvPicPr>
          <p:nvPr/>
        </p:nvPicPr>
        <p:blipFill>
          <a:blip r:embed="rId5"/>
          <a:srcRect l="14476" t="15208" r="1108" b="10341"/>
          <a:stretch>
            <a:fillRect/>
          </a:stretch>
        </p:blipFill>
        <p:spPr bwMode="auto">
          <a:xfrm>
            <a:off x="7620000" y="76200"/>
            <a:ext cx="1447800" cy="1276350"/>
          </a:xfrm>
          <a:prstGeom prst="rect">
            <a:avLst/>
          </a:prstGeom>
          <a:noFill/>
          <a:ln w="9525">
            <a:noFill/>
            <a:miter lim="800000"/>
            <a:headEnd/>
            <a:tailEnd/>
          </a:ln>
        </p:spPr>
      </p:pic>
      <p:sp>
        <p:nvSpPr>
          <p:cNvPr id="35847" name="Text Box 6"/>
          <p:cNvSpPr txBox="1">
            <a:spLocks noChangeArrowheads="1"/>
          </p:cNvSpPr>
          <p:nvPr/>
        </p:nvSpPr>
        <p:spPr bwMode="auto">
          <a:xfrm>
            <a:off x="739775" y="4953000"/>
            <a:ext cx="7794625" cy="1492250"/>
          </a:xfrm>
          <a:prstGeom prst="rect">
            <a:avLst/>
          </a:prstGeom>
          <a:noFill/>
          <a:ln w="9525">
            <a:noFill/>
            <a:miter lim="800000"/>
            <a:headEnd/>
            <a:tailEnd/>
          </a:ln>
        </p:spPr>
        <p:txBody>
          <a:bodyPr>
            <a:spAutoFit/>
          </a:bodyPr>
          <a:lstStyle/>
          <a:p>
            <a:pPr>
              <a:lnSpc>
                <a:spcPct val="170000"/>
              </a:lnSpc>
            </a:pPr>
            <a:r>
              <a:rPr lang="en-US" sz="1800"/>
              <a:t>Here, the calculated F-value (12.08) is larger than F</a:t>
            </a:r>
            <a:r>
              <a:rPr lang="en-US" sz="1800" baseline="-25000"/>
              <a:t>critical</a:t>
            </a:r>
            <a:r>
              <a:rPr lang="en-US" sz="1800"/>
              <a:t> (3.49) for </a:t>
            </a:r>
            <a:r>
              <a:rPr lang="en-US" sz="1800" i="1">
                <a:latin typeface="Symbol" pitchFamily="18" charset="2"/>
              </a:rPr>
              <a:t>a</a:t>
            </a:r>
            <a:r>
              <a:rPr lang="en-US" sz="1800"/>
              <a:t> 0.05.</a:t>
            </a:r>
          </a:p>
          <a:p>
            <a:pPr>
              <a:lnSpc>
                <a:spcPct val="170000"/>
              </a:lnSpc>
            </a:pPr>
            <a:r>
              <a:rPr lang="en-US" sz="1800"/>
              <a:t>Thus, the test is significant at </a:t>
            </a:r>
            <a:r>
              <a:rPr lang="en-US" sz="1800" i="1">
                <a:latin typeface="Symbol" pitchFamily="18" charset="2"/>
              </a:rPr>
              <a:t>a</a:t>
            </a:r>
            <a:r>
              <a:rPr lang="en-US" sz="1800"/>
              <a:t> 5% </a:t>
            </a:r>
            <a:r>
              <a:rPr lang="en-US" sz="1800">
                <a:sym typeface="Wingdings" pitchFamily="2" charset="2"/>
              </a:rPr>
              <a:t> Not all mean seedling lengths are the same; the number of nematodes is an influential factor.</a:t>
            </a:r>
            <a:endParaRPr lang="en-US" sz="180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CC66"/>
        </a:solidFill>
        <a:effectLst/>
      </p:bgPr>
    </p:bg>
    <p:spTree>
      <p:nvGrpSpPr>
        <p:cNvPr id="1" name=""/>
        <p:cNvGrpSpPr/>
        <p:nvPr/>
      </p:nvGrpSpPr>
      <p:grpSpPr>
        <a:xfrm>
          <a:off x="0" y="0"/>
          <a:ext cx="0" cy="0"/>
          <a:chOff x="0" y="0"/>
          <a:chExt cx="0" cy="0"/>
        </a:xfrm>
      </p:grpSpPr>
      <p:pic>
        <p:nvPicPr>
          <p:cNvPr id="60418" name="Picture 5"/>
          <p:cNvPicPr>
            <a:picLocks noChangeAspect="1" noChangeArrowheads="1"/>
          </p:cNvPicPr>
          <p:nvPr/>
        </p:nvPicPr>
        <p:blipFill>
          <a:blip r:embed="rId3"/>
          <a:srcRect l="754" t="5096" r="4897" b="7645"/>
          <a:stretch>
            <a:fillRect/>
          </a:stretch>
        </p:blipFill>
        <p:spPr bwMode="auto">
          <a:xfrm>
            <a:off x="457200" y="838200"/>
            <a:ext cx="6553200" cy="2017713"/>
          </a:xfrm>
          <a:prstGeom prst="rect">
            <a:avLst/>
          </a:prstGeom>
          <a:noFill/>
          <a:ln w="9525">
            <a:noFill/>
            <a:miter lim="800000"/>
            <a:headEnd/>
            <a:tailEnd/>
          </a:ln>
        </p:spPr>
      </p:pic>
      <p:sp>
        <p:nvSpPr>
          <p:cNvPr id="60419" name="Rectangle 11"/>
          <p:cNvSpPr>
            <a:spLocks noChangeArrowheads="1"/>
          </p:cNvSpPr>
          <p:nvPr/>
        </p:nvSpPr>
        <p:spPr bwMode="auto">
          <a:xfrm>
            <a:off x="457200" y="228600"/>
            <a:ext cx="8229600" cy="762000"/>
          </a:xfrm>
          <a:prstGeom prst="rect">
            <a:avLst/>
          </a:prstGeom>
          <a:noFill/>
          <a:ln w="9525">
            <a:noFill/>
            <a:miter lim="800000"/>
            <a:headEnd/>
            <a:tailEnd/>
          </a:ln>
        </p:spPr>
        <p:txBody>
          <a:bodyPr/>
          <a:lstStyle/>
          <a:p>
            <a:r>
              <a:rPr lang="en-US" sz="1800" b="1"/>
              <a:t>SPSS output for the one-way ANOVA</a:t>
            </a:r>
          </a:p>
        </p:txBody>
      </p:sp>
      <p:pic>
        <p:nvPicPr>
          <p:cNvPr id="60420" name="Picture 12"/>
          <p:cNvPicPr>
            <a:picLocks noChangeAspect="1" noChangeArrowheads="1"/>
          </p:cNvPicPr>
          <p:nvPr/>
        </p:nvPicPr>
        <p:blipFill>
          <a:blip r:embed="rId4"/>
          <a:srcRect l="14476" t="15208" r="1108" b="10341"/>
          <a:stretch>
            <a:fillRect/>
          </a:stretch>
        </p:blipFill>
        <p:spPr bwMode="auto">
          <a:xfrm>
            <a:off x="7620000" y="76200"/>
            <a:ext cx="1447800" cy="1276350"/>
          </a:xfrm>
          <a:prstGeom prst="rect">
            <a:avLst/>
          </a:prstGeom>
          <a:noFill/>
          <a:ln w="9525">
            <a:noFill/>
            <a:miter lim="800000"/>
            <a:headEnd/>
            <a:tailEnd/>
          </a:ln>
        </p:spPr>
      </p:pic>
      <p:pic>
        <p:nvPicPr>
          <p:cNvPr id="60421" name="Picture 13"/>
          <p:cNvPicPr>
            <a:picLocks noChangeAspect="1" noChangeArrowheads="1"/>
          </p:cNvPicPr>
          <p:nvPr/>
        </p:nvPicPr>
        <p:blipFill>
          <a:blip r:embed="rId5"/>
          <a:srcRect/>
          <a:stretch>
            <a:fillRect/>
          </a:stretch>
        </p:blipFill>
        <p:spPr bwMode="auto">
          <a:xfrm>
            <a:off x="5334000" y="3810000"/>
            <a:ext cx="3657600" cy="2927350"/>
          </a:xfrm>
          <a:prstGeom prst="rect">
            <a:avLst/>
          </a:prstGeom>
          <a:noFill/>
          <a:ln w="9525">
            <a:noFill/>
            <a:miter lim="800000"/>
            <a:headEnd/>
            <a:tailEnd/>
          </a:ln>
        </p:spPr>
      </p:pic>
      <p:sp>
        <p:nvSpPr>
          <p:cNvPr id="1248270" name="Text Box 14"/>
          <p:cNvSpPr txBox="1">
            <a:spLocks noChangeArrowheads="1"/>
          </p:cNvSpPr>
          <p:nvPr/>
        </p:nvSpPr>
        <p:spPr bwMode="auto">
          <a:xfrm>
            <a:off x="609600" y="3352800"/>
            <a:ext cx="4572000" cy="2797175"/>
          </a:xfrm>
          <a:prstGeom prst="rect">
            <a:avLst/>
          </a:prstGeom>
          <a:noFill/>
          <a:ln w="9525">
            <a:noFill/>
            <a:miter lim="800000"/>
            <a:headEnd/>
            <a:tailEnd/>
          </a:ln>
        </p:spPr>
        <p:txBody>
          <a:bodyPr>
            <a:spAutoFit/>
          </a:bodyPr>
          <a:lstStyle/>
          <a:p>
            <a:pPr>
              <a:lnSpc>
                <a:spcPct val="150000"/>
              </a:lnSpc>
            </a:pPr>
            <a:r>
              <a:rPr lang="en-US" sz="1800"/>
              <a:t>The </a:t>
            </a:r>
            <a:r>
              <a:rPr lang="en-US" sz="1800" b="1"/>
              <a:t>ANOVA</a:t>
            </a:r>
            <a:r>
              <a:rPr lang="en-US" sz="1800"/>
              <a:t> found that the amount of nematodes in pots significantly impacts seedling growth.</a:t>
            </a:r>
          </a:p>
          <a:p>
            <a:pPr>
              <a:lnSpc>
                <a:spcPct val="150000"/>
              </a:lnSpc>
            </a:pPr>
            <a:endParaRPr lang="en-US" sz="1000"/>
          </a:p>
          <a:p>
            <a:pPr>
              <a:lnSpc>
                <a:spcPct val="150000"/>
              </a:lnSpc>
            </a:pPr>
            <a:r>
              <a:rPr lang="en-US" sz="1800"/>
              <a:t>The </a:t>
            </a:r>
            <a:r>
              <a:rPr lang="en-US" sz="1800" b="1"/>
              <a:t>graph</a:t>
            </a:r>
            <a:r>
              <a:rPr lang="en-US" sz="1800"/>
              <a:t> suggests that nematode amounts above 1,000 per pot are detrimental to seedling growth.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482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4827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8270"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5" name="Picture 2"/>
          <p:cNvPicPr>
            <a:picLocks noChangeAspect="1" noChangeArrowheads="1"/>
          </p:cNvPicPr>
          <p:nvPr/>
        </p:nvPicPr>
        <p:blipFill>
          <a:blip r:embed="rId3"/>
          <a:srcRect/>
          <a:stretch>
            <a:fillRect/>
          </a:stretch>
        </p:blipFill>
        <p:spPr bwMode="auto">
          <a:xfrm>
            <a:off x="1752600" y="3048000"/>
            <a:ext cx="5181600" cy="3552825"/>
          </a:xfrm>
          <a:prstGeom prst="rect">
            <a:avLst/>
          </a:prstGeom>
          <a:noFill/>
          <a:ln w="9525">
            <a:noFill/>
            <a:miter lim="800000"/>
            <a:headEnd/>
            <a:tailEnd/>
          </a:ln>
        </p:spPr>
      </p:pic>
      <p:sp>
        <p:nvSpPr>
          <p:cNvPr id="62466" name="Rectangle 4"/>
          <p:cNvSpPr>
            <a:spLocks noGrp="1" noChangeArrowheads="1"/>
          </p:cNvSpPr>
          <p:nvPr>
            <p:ph type="title"/>
          </p:nvPr>
        </p:nvSpPr>
        <p:spPr/>
        <p:txBody>
          <a:bodyPr/>
          <a:lstStyle/>
          <a:p>
            <a:pPr eaLnBrk="1" hangingPunct="1"/>
            <a:r>
              <a:rPr lang="en-US" smtClean="0">
                <a:ea typeface="ＭＳ Ｐゴシック"/>
                <a:cs typeface="ＭＳ Ｐゴシック"/>
              </a:rPr>
              <a:t>Using Table E</a:t>
            </a:r>
          </a:p>
        </p:txBody>
      </p:sp>
      <p:sp>
        <p:nvSpPr>
          <p:cNvPr id="62467" name="Rectangle 5"/>
          <p:cNvSpPr>
            <a:spLocks noGrp="1" noChangeArrowheads="1"/>
          </p:cNvSpPr>
          <p:nvPr>
            <p:ph type="body" idx="1"/>
          </p:nvPr>
        </p:nvSpPr>
        <p:spPr>
          <a:xfrm>
            <a:off x="457200" y="1066800"/>
            <a:ext cx="8229600" cy="3124200"/>
          </a:xfrm>
        </p:spPr>
        <p:txBody>
          <a:bodyPr/>
          <a:lstStyle/>
          <a:p>
            <a:pPr marL="0" indent="0" eaLnBrk="1" hangingPunct="1">
              <a:lnSpc>
                <a:spcPct val="130000"/>
              </a:lnSpc>
              <a:buFont typeface="Wingdings" pitchFamily="2" charset="2"/>
              <a:buNone/>
            </a:pPr>
            <a:r>
              <a:rPr lang="en-US" smtClean="0">
                <a:ea typeface="ＭＳ Ｐゴシック"/>
                <a:cs typeface="ＭＳ Ｐゴシック"/>
              </a:rPr>
              <a:t>The F distribution is asymmetrical and has two distinct degrees of freedom. This was discovered by Fisher, hence the label “F.”</a:t>
            </a:r>
          </a:p>
          <a:p>
            <a:pPr marL="0" indent="0" eaLnBrk="1" hangingPunct="1">
              <a:lnSpc>
                <a:spcPct val="130000"/>
              </a:lnSpc>
              <a:buFont typeface="Wingdings" pitchFamily="2" charset="2"/>
              <a:buNone/>
            </a:pPr>
            <a:endParaRPr lang="en-US" sz="1000" smtClean="0">
              <a:ea typeface="ＭＳ Ｐゴシック"/>
              <a:cs typeface="ＭＳ Ｐゴシック"/>
            </a:endParaRPr>
          </a:p>
          <a:p>
            <a:pPr marL="0" indent="0" eaLnBrk="1" hangingPunct="1">
              <a:lnSpc>
                <a:spcPct val="130000"/>
              </a:lnSpc>
              <a:buFont typeface="Wingdings" pitchFamily="2" charset="2"/>
              <a:buNone/>
            </a:pPr>
            <a:r>
              <a:rPr lang="en-US" smtClean="0">
                <a:ea typeface="ＭＳ Ｐゴシック"/>
                <a:cs typeface="ＭＳ Ｐゴシック"/>
              </a:rPr>
              <a:t>Once again, what we do is calculate the value of F for our sample data and then look up the corresponding area under the curve in </a:t>
            </a:r>
            <a:r>
              <a:rPr lang="en-US" u="sng" smtClean="0">
                <a:ea typeface="ＭＳ Ｐゴシック"/>
                <a:cs typeface="ＭＳ Ｐゴシック"/>
              </a:rPr>
              <a:t>Table E</a:t>
            </a:r>
            <a:r>
              <a:rPr lang="en-US" smtClean="0">
                <a:ea typeface="ＭＳ Ｐゴシック"/>
                <a:cs typeface="ＭＳ Ｐゴシック"/>
              </a:rPr>
              <a:t>.</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3" name="Picture 3"/>
          <p:cNvPicPr>
            <a:picLocks noChangeAspect="1" noChangeArrowheads="1"/>
          </p:cNvPicPr>
          <p:nvPr/>
        </p:nvPicPr>
        <p:blipFill>
          <a:blip r:embed="rId3"/>
          <a:srcRect b="22844"/>
          <a:stretch>
            <a:fillRect/>
          </a:stretch>
        </p:blipFill>
        <p:spPr bwMode="auto">
          <a:xfrm>
            <a:off x="577850" y="228600"/>
            <a:ext cx="7988300" cy="6477000"/>
          </a:xfrm>
          <a:prstGeom prst="rect">
            <a:avLst/>
          </a:prstGeom>
          <a:noFill/>
          <a:ln w="9525">
            <a:noFill/>
            <a:miter lim="800000"/>
            <a:headEnd/>
            <a:tailEnd/>
          </a:ln>
        </p:spPr>
      </p:pic>
      <p:grpSp>
        <p:nvGrpSpPr>
          <p:cNvPr id="2" name="Group 4"/>
          <p:cNvGrpSpPr>
            <a:grpSpLocks/>
          </p:cNvGrpSpPr>
          <p:nvPr/>
        </p:nvGrpSpPr>
        <p:grpSpPr bwMode="auto">
          <a:xfrm>
            <a:off x="1905000" y="319088"/>
            <a:ext cx="6705600" cy="1027112"/>
            <a:chOff x="1200" y="201"/>
            <a:chExt cx="4224" cy="647"/>
          </a:xfrm>
        </p:grpSpPr>
        <p:sp>
          <p:nvSpPr>
            <p:cNvPr id="64539" name="Oval 5"/>
            <p:cNvSpPr>
              <a:spLocks noChangeArrowheads="1"/>
            </p:cNvSpPr>
            <p:nvPr/>
          </p:nvSpPr>
          <p:spPr bwMode="auto">
            <a:xfrm>
              <a:off x="1200" y="416"/>
              <a:ext cx="4224" cy="432"/>
            </a:xfrm>
            <a:prstGeom prst="ellipse">
              <a:avLst/>
            </a:prstGeom>
            <a:noFill/>
            <a:ln w="9525">
              <a:solidFill>
                <a:srgbClr val="CC0000"/>
              </a:solidFill>
              <a:round/>
              <a:headEnd/>
              <a:tailEnd/>
            </a:ln>
          </p:spPr>
          <p:txBody>
            <a:bodyPr wrap="none" anchor="ctr"/>
            <a:lstStyle/>
            <a:p>
              <a:endParaRPr lang="en-US" sz="1800"/>
            </a:p>
          </p:txBody>
        </p:sp>
        <p:sp>
          <p:nvSpPr>
            <p:cNvPr id="64540" name="Text Box 6"/>
            <p:cNvSpPr txBox="1">
              <a:spLocks noChangeArrowheads="1"/>
            </p:cNvSpPr>
            <p:nvPr/>
          </p:nvSpPr>
          <p:spPr bwMode="auto">
            <a:xfrm>
              <a:off x="3998" y="201"/>
              <a:ext cx="898" cy="212"/>
            </a:xfrm>
            <a:prstGeom prst="rect">
              <a:avLst/>
            </a:prstGeom>
            <a:noFill/>
            <a:ln w="9525">
              <a:noFill/>
              <a:miter lim="800000"/>
              <a:headEnd/>
              <a:tailEnd/>
            </a:ln>
          </p:spPr>
          <p:txBody>
            <a:bodyPr>
              <a:spAutoFit/>
            </a:bodyPr>
            <a:lstStyle/>
            <a:p>
              <a:pPr>
                <a:spcBef>
                  <a:spcPct val="50000"/>
                </a:spcBef>
              </a:pPr>
              <a:r>
                <a:rPr lang="en-US" sz="1600">
                  <a:solidFill>
                    <a:srgbClr val="FF0000"/>
                  </a:solidFill>
                </a:rPr>
                <a:t>df</a:t>
              </a:r>
              <a:r>
                <a:rPr lang="en-US" sz="1600" baseline="-25000">
                  <a:solidFill>
                    <a:srgbClr val="FF0000"/>
                  </a:solidFill>
                </a:rPr>
                <a:t>num</a:t>
              </a:r>
              <a:r>
                <a:rPr lang="en-US" sz="1600">
                  <a:solidFill>
                    <a:srgbClr val="FF0000"/>
                  </a:solidFill>
                </a:rPr>
                <a:t> = </a:t>
              </a:r>
              <a:r>
                <a:rPr lang="en-US" sz="1600" i="1">
                  <a:solidFill>
                    <a:srgbClr val="FF0000"/>
                  </a:solidFill>
                </a:rPr>
                <a:t>I</a:t>
              </a:r>
              <a:r>
                <a:rPr lang="en-US" sz="1600">
                  <a:solidFill>
                    <a:srgbClr val="FF0000"/>
                  </a:solidFill>
                  <a:cs typeface="Arial" charset="0"/>
                </a:rPr>
                <a:t>−</a:t>
              </a:r>
              <a:r>
                <a:rPr lang="en-US" sz="1600">
                  <a:solidFill>
                    <a:srgbClr val="FF0000"/>
                  </a:solidFill>
                </a:rPr>
                <a:t> 1</a:t>
              </a:r>
            </a:p>
          </p:txBody>
        </p:sp>
      </p:grpSp>
      <p:grpSp>
        <p:nvGrpSpPr>
          <p:cNvPr id="3" name="Group 7"/>
          <p:cNvGrpSpPr>
            <a:grpSpLocks/>
          </p:cNvGrpSpPr>
          <p:nvPr/>
        </p:nvGrpSpPr>
        <p:grpSpPr bwMode="auto">
          <a:xfrm>
            <a:off x="0" y="1485900"/>
            <a:ext cx="1473200" cy="5105400"/>
            <a:chOff x="0" y="936"/>
            <a:chExt cx="928" cy="3216"/>
          </a:xfrm>
        </p:grpSpPr>
        <p:sp>
          <p:nvSpPr>
            <p:cNvPr id="64537" name="Oval 8"/>
            <p:cNvSpPr>
              <a:spLocks noChangeArrowheads="1"/>
            </p:cNvSpPr>
            <p:nvPr/>
          </p:nvSpPr>
          <p:spPr bwMode="auto">
            <a:xfrm>
              <a:off x="400" y="936"/>
              <a:ext cx="528" cy="3216"/>
            </a:xfrm>
            <a:prstGeom prst="ellipse">
              <a:avLst/>
            </a:prstGeom>
            <a:noFill/>
            <a:ln w="9525">
              <a:solidFill>
                <a:srgbClr val="CC0000"/>
              </a:solidFill>
              <a:round/>
              <a:headEnd/>
              <a:tailEnd/>
            </a:ln>
          </p:spPr>
          <p:txBody>
            <a:bodyPr wrap="none" anchor="ctr"/>
            <a:lstStyle/>
            <a:p>
              <a:endParaRPr lang="en-US" sz="1800"/>
            </a:p>
          </p:txBody>
        </p:sp>
        <p:sp>
          <p:nvSpPr>
            <p:cNvPr id="64538" name="Text Box 9"/>
            <p:cNvSpPr txBox="1">
              <a:spLocks noChangeArrowheads="1"/>
            </p:cNvSpPr>
            <p:nvPr/>
          </p:nvSpPr>
          <p:spPr bwMode="auto">
            <a:xfrm>
              <a:off x="0" y="3167"/>
              <a:ext cx="480" cy="520"/>
            </a:xfrm>
            <a:prstGeom prst="rect">
              <a:avLst/>
            </a:prstGeom>
            <a:noFill/>
            <a:ln w="9525">
              <a:noFill/>
              <a:miter lim="800000"/>
              <a:headEnd/>
              <a:tailEnd/>
            </a:ln>
          </p:spPr>
          <p:txBody>
            <a:bodyPr>
              <a:spAutoFit/>
            </a:bodyPr>
            <a:lstStyle/>
            <a:p>
              <a:pPr algn="ctr">
                <a:spcBef>
                  <a:spcPct val="50000"/>
                </a:spcBef>
              </a:pPr>
              <a:r>
                <a:rPr lang="en-US" sz="1600">
                  <a:solidFill>
                    <a:srgbClr val="FF0000"/>
                  </a:solidFill>
                </a:rPr>
                <a:t>df</a:t>
              </a:r>
              <a:r>
                <a:rPr lang="en-US" sz="1600" baseline="-25000">
                  <a:solidFill>
                    <a:srgbClr val="FF0000"/>
                  </a:solidFill>
                </a:rPr>
                <a:t>den</a:t>
              </a:r>
              <a:br>
                <a:rPr lang="en-US" sz="1600" baseline="-25000">
                  <a:solidFill>
                    <a:srgbClr val="FF0000"/>
                  </a:solidFill>
                </a:rPr>
              </a:br>
              <a:r>
                <a:rPr lang="en-US" sz="1600">
                  <a:solidFill>
                    <a:srgbClr val="FF0000"/>
                  </a:solidFill>
                </a:rPr>
                <a:t>=</a:t>
              </a:r>
              <a:br>
                <a:rPr lang="en-US" sz="1600">
                  <a:solidFill>
                    <a:srgbClr val="FF0000"/>
                  </a:solidFill>
                </a:rPr>
              </a:br>
              <a:r>
                <a:rPr lang="en-US" sz="1600" i="1">
                  <a:solidFill>
                    <a:srgbClr val="FF0000"/>
                  </a:solidFill>
                </a:rPr>
                <a:t>N</a:t>
              </a:r>
              <a:r>
                <a:rPr lang="en-US" sz="1600">
                  <a:solidFill>
                    <a:srgbClr val="FF0000"/>
                  </a:solidFill>
                  <a:cs typeface="Arial" charset="0"/>
                </a:rPr>
                <a:t>−</a:t>
              </a:r>
              <a:r>
                <a:rPr lang="en-US" sz="1600" i="1">
                  <a:solidFill>
                    <a:srgbClr val="FF0000"/>
                  </a:solidFill>
                </a:rPr>
                <a:t>I</a:t>
              </a:r>
            </a:p>
          </p:txBody>
        </p:sp>
      </p:grpSp>
      <p:grpSp>
        <p:nvGrpSpPr>
          <p:cNvPr id="4" name="Group 10"/>
          <p:cNvGrpSpPr>
            <a:grpSpLocks/>
          </p:cNvGrpSpPr>
          <p:nvPr/>
        </p:nvGrpSpPr>
        <p:grpSpPr bwMode="auto">
          <a:xfrm>
            <a:off x="1041400" y="914400"/>
            <a:ext cx="4775200" cy="3746500"/>
            <a:chOff x="656" y="576"/>
            <a:chExt cx="3008" cy="2360"/>
          </a:xfrm>
        </p:grpSpPr>
        <p:sp>
          <p:nvSpPr>
            <p:cNvPr id="64535" name="Oval 11"/>
            <p:cNvSpPr>
              <a:spLocks noChangeArrowheads="1"/>
            </p:cNvSpPr>
            <p:nvPr/>
          </p:nvSpPr>
          <p:spPr bwMode="auto">
            <a:xfrm>
              <a:off x="656" y="2696"/>
              <a:ext cx="192" cy="240"/>
            </a:xfrm>
            <a:prstGeom prst="ellipse">
              <a:avLst/>
            </a:prstGeom>
            <a:noFill/>
            <a:ln w="28575">
              <a:solidFill>
                <a:srgbClr val="333399"/>
              </a:solidFill>
              <a:round/>
              <a:headEnd/>
              <a:tailEnd/>
            </a:ln>
          </p:spPr>
          <p:txBody>
            <a:bodyPr wrap="none" anchor="ctr"/>
            <a:lstStyle/>
            <a:p>
              <a:endParaRPr lang="en-US" sz="1800"/>
            </a:p>
          </p:txBody>
        </p:sp>
        <p:sp>
          <p:nvSpPr>
            <p:cNvPr id="64536" name="Oval 12"/>
            <p:cNvSpPr>
              <a:spLocks noChangeArrowheads="1"/>
            </p:cNvSpPr>
            <p:nvPr/>
          </p:nvSpPr>
          <p:spPr bwMode="auto">
            <a:xfrm>
              <a:off x="3472" y="576"/>
              <a:ext cx="192" cy="240"/>
            </a:xfrm>
            <a:prstGeom prst="ellipse">
              <a:avLst/>
            </a:prstGeom>
            <a:noFill/>
            <a:ln w="28575">
              <a:solidFill>
                <a:srgbClr val="333399"/>
              </a:solidFill>
              <a:round/>
              <a:headEnd/>
              <a:tailEnd/>
            </a:ln>
          </p:spPr>
          <p:txBody>
            <a:bodyPr wrap="none" anchor="ctr"/>
            <a:lstStyle/>
            <a:p>
              <a:endParaRPr lang="en-US" sz="1800"/>
            </a:p>
          </p:txBody>
        </p:sp>
      </p:grpSp>
      <p:grpSp>
        <p:nvGrpSpPr>
          <p:cNvPr id="5" name="Group 13"/>
          <p:cNvGrpSpPr>
            <a:grpSpLocks/>
          </p:cNvGrpSpPr>
          <p:nvPr/>
        </p:nvGrpSpPr>
        <p:grpSpPr bwMode="auto">
          <a:xfrm>
            <a:off x="1371600" y="1295400"/>
            <a:ext cx="4292600" cy="3200400"/>
            <a:chOff x="864" y="816"/>
            <a:chExt cx="2704" cy="2016"/>
          </a:xfrm>
        </p:grpSpPr>
        <p:sp>
          <p:nvSpPr>
            <p:cNvPr id="64533" name="Line 14"/>
            <p:cNvSpPr>
              <a:spLocks noChangeShapeType="1"/>
            </p:cNvSpPr>
            <p:nvPr/>
          </p:nvSpPr>
          <p:spPr bwMode="auto">
            <a:xfrm>
              <a:off x="864" y="2832"/>
              <a:ext cx="2496" cy="0"/>
            </a:xfrm>
            <a:prstGeom prst="line">
              <a:avLst/>
            </a:prstGeom>
            <a:noFill/>
            <a:ln w="38100" cmpd="dbl">
              <a:solidFill>
                <a:srgbClr val="333399"/>
              </a:solidFill>
              <a:round/>
              <a:headEnd/>
              <a:tailEnd type="triangle" w="med" len="med"/>
            </a:ln>
          </p:spPr>
          <p:txBody>
            <a:bodyPr wrap="none" anchor="ctr"/>
            <a:lstStyle/>
            <a:p>
              <a:endParaRPr lang="en-US"/>
            </a:p>
          </p:txBody>
        </p:sp>
        <p:sp>
          <p:nvSpPr>
            <p:cNvPr id="64534" name="Line 15"/>
            <p:cNvSpPr>
              <a:spLocks noChangeShapeType="1"/>
            </p:cNvSpPr>
            <p:nvPr/>
          </p:nvSpPr>
          <p:spPr bwMode="auto">
            <a:xfrm>
              <a:off x="3568" y="816"/>
              <a:ext cx="0" cy="1680"/>
            </a:xfrm>
            <a:prstGeom prst="line">
              <a:avLst/>
            </a:prstGeom>
            <a:noFill/>
            <a:ln w="38100" cmpd="dbl">
              <a:solidFill>
                <a:srgbClr val="333399"/>
              </a:solidFill>
              <a:round/>
              <a:headEnd/>
              <a:tailEnd type="triangle" w="med" len="med"/>
            </a:ln>
          </p:spPr>
          <p:txBody>
            <a:bodyPr wrap="none" anchor="ctr"/>
            <a:lstStyle/>
            <a:p>
              <a:endParaRPr lang="en-US"/>
            </a:p>
          </p:txBody>
        </p:sp>
      </p:grpSp>
      <p:grpSp>
        <p:nvGrpSpPr>
          <p:cNvPr id="6" name="Group 16"/>
          <p:cNvGrpSpPr>
            <a:grpSpLocks/>
          </p:cNvGrpSpPr>
          <p:nvPr/>
        </p:nvGrpSpPr>
        <p:grpSpPr bwMode="auto">
          <a:xfrm>
            <a:off x="5334000" y="3870325"/>
            <a:ext cx="1054100" cy="1057275"/>
            <a:chOff x="3360" y="2438"/>
            <a:chExt cx="664" cy="666"/>
          </a:xfrm>
        </p:grpSpPr>
        <p:sp>
          <p:nvSpPr>
            <p:cNvPr id="64531" name="Rectangle 17"/>
            <p:cNvSpPr>
              <a:spLocks noChangeArrowheads="1"/>
            </p:cNvSpPr>
            <p:nvPr/>
          </p:nvSpPr>
          <p:spPr bwMode="auto">
            <a:xfrm>
              <a:off x="3360" y="2528"/>
              <a:ext cx="480" cy="576"/>
            </a:xfrm>
            <a:prstGeom prst="rect">
              <a:avLst/>
            </a:prstGeom>
            <a:noFill/>
            <a:ln w="38100">
              <a:solidFill>
                <a:srgbClr val="333399"/>
              </a:solidFill>
              <a:miter lim="800000"/>
              <a:headEnd/>
              <a:tailEnd/>
            </a:ln>
          </p:spPr>
          <p:txBody>
            <a:bodyPr wrap="none" anchor="ctr"/>
            <a:lstStyle/>
            <a:p>
              <a:endParaRPr lang="en-US" sz="1800"/>
            </a:p>
          </p:txBody>
        </p:sp>
        <p:sp>
          <p:nvSpPr>
            <p:cNvPr id="64532" name="Text Box 18"/>
            <p:cNvSpPr txBox="1">
              <a:spLocks noChangeArrowheads="1"/>
            </p:cNvSpPr>
            <p:nvPr/>
          </p:nvSpPr>
          <p:spPr bwMode="auto">
            <a:xfrm>
              <a:off x="3830" y="2438"/>
              <a:ext cx="194" cy="212"/>
            </a:xfrm>
            <a:prstGeom prst="rect">
              <a:avLst/>
            </a:prstGeom>
            <a:noFill/>
            <a:ln w="9525">
              <a:noFill/>
              <a:miter lim="800000"/>
              <a:headEnd/>
              <a:tailEnd/>
            </a:ln>
          </p:spPr>
          <p:txBody>
            <a:bodyPr wrap="none">
              <a:spAutoFit/>
            </a:bodyPr>
            <a:lstStyle/>
            <a:p>
              <a:r>
                <a:rPr lang="en-US" sz="1600" b="1">
                  <a:solidFill>
                    <a:srgbClr val="333399"/>
                  </a:solidFill>
                </a:rPr>
                <a:t>F</a:t>
              </a:r>
              <a:endParaRPr lang="en-US" sz="1800">
                <a:solidFill>
                  <a:srgbClr val="333399"/>
                </a:solidFill>
              </a:endParaRPr>
            </a:p>
          </p:txBody>
        </p:sp>
      </p:grpSp>
      <p:grpSp>
        <p:nvGrpSpPr>
          <p:cNvPr id="7" name="Group 19"/>
          <p:cNvGrpSpPr>
            <a:grpSpLocks/>
          </p:cNvGrpSpPr>
          <p:nvPr/>
        </p:nvGrpSpPr>
        <p:grpSpPr bwMode="auto">
          <a:xfrm>
            <a:off x="1216025" y="3781425"/>
            <a:ext cx="4117975" cy="1158875"/>
            <a:chOff x="766" y="2382"/>
            <a:chExt cx="2594" cy="730"/>
          </a:xfrm>
        </p:grpSpPr>
        <p:grpSp>
          <p:nvGrpSpPr>
            <p:cNvPr id="64522" name="Group 20"/>
            <p:cNvGrpSpPr>
              <a:grpSpLocks/>
            </p:cNvGrpSpPr>
            <p:nvPr/>
          </p:nvGrpSpPr>
          <p:grpSpPr bwMode="auto">
            <a:xfrm>
              <a:off x="766" y="2382"/>
              <a:ext cx="482" cy="730"/>
              <a:chOff x="766" y="2382"/>
              <a:chExt cx="482" cy="730"/>
            </a:xfrm>
          </p:grpSpPr>
          <p:sp>
            <p:nvSpPr>
              <p:cNvPr id="64529" name="Rectangle 21"/>
              <p:cNvSpPr>
                <a:spLocks noChangeArrowheads="1"/>
              </p:cNvSpPr>
              <p:nvPr/>
            </p:nvSpPr>
            <p:spPr bwMode="auto">
              <a:xfrm>
                <a:off x="912" y="2536"/>
                <a:ext cx="336" cy="576"/>
              </a:xfrm>
              <a:prstGeom prst="rect">
                <a:avLst/>
              </a:prstGeom>
              <a:noFill/>
              <a:ln w="38100">
                <a:solidFill>
                  <a:srgbClr val="333399"/>
                </a:solidFill>
                <a:miter lim="800000"/>
                <a:headEnd/>
                <a:tailEnd/>
              </a:ln>
            </p:spPr>
            <p:txBody>
              <a:bodyPr wrap="none" anchor="ctr"/>
              <a:lstStyle/>
              <a:p>
                <a:endParaRPr lang="en-US" sz="1800"/>
              </a:p>
            </p:txBody>
          </p:sp>
          <p:sp>
            <p:nvSpPr>
              <p:cNvPr id="64530" name="Text Box 22"/>
              <p:cNvSpPr txBox="1">
                <a:spLocks noChangeArrowheads="1"/>
              </p:cNvSpPr>
              <p:nvPr/>
            </p:nvSpPr>
            <p:spPr bwMode="auto">
              <a:xfrm>
                <a:off x="766" y="2382"/>
                <a:ext cx="194" cy="212"/>
              </a:xfrm>
              <a:prstGeom prst="rect">
                <a:avLst/>
              </a:prstGeom>
              <a:noFill/>
              <a:ln w="9525">
                <a:noFill/>
                <a:miter lim="800000"/>
                <a:headEnd/>
                <a:tailEnd/>
              </a:ln>
            </p:spPr>
            <p:txBody>
              <a:bodyPr wrap="none">
                <a:spAutoFit/>
              </a:bodyPr>
              <a:lstStyle/>
              <a:p>
                <a:r>
                  <a:rPr lang="en-US" sz="1600" b="1" i="1">
                    <a:solidFill>
                      <a:srgbClr val="333399"/>
                    </a:solidFill>
                  </a:rPr>
                  <a:t>p</a:t>
                </a:r>
              </a:p>
            </p:txBody>
          </p:sp>
        </p:grpSp>
        <p:grpSp>
          <p:nvGrpSpPr>
            <p:cNvPr id="64523" name="Group 23"/>
            <p:cNvGrpSpPr>
              <a:grpSpLocks/>
            </p:cNvGrpSpPr>
            <p:nvPr/>
          </p:nvGrpSpPr>
          <p:grpSpPr bwMode="auto">
            <a:xfrm>
              <a:off x="1248" y="2592"/>
              <a:ext cx="2112" cy="448"/>
              <a:chOff x="1248" y="2592"/>
              <a:chExt cx="2112" cy="448"/>
            </a:xfrm>
          </p:grpSpPr>
          <p:sp>
            <p:nvSpPr>
              <p:cNvPr id="64524" name="Line 24"/>
              <p:cNvSpPr>
                <a:spLocks noChangeShapeType="1"/>
              </p:cNvSpPr>
              <p:nvPr/>
            </p:nvSpPr>
            <p:spPr bwMode="auto">
              <a:xfrm flipH="1">
                <a:off x="1248" y="2592"/>
                <a:ext cx="2112" cy="0"/>
              </a:xfrm>
              <a:prstGeom prst="line">
                <a:avLst/>
              </a:prstGeom>
              <a:noFill/>
              <a:ln w="9525">
                <a:solidFill>
                  <a:srgbClr val="333399"/>
                </a:solidFill>
                <a:round/>
                <a:headEnd type="triangle" w="med" len="med"/>
                <a:tailEnd type="triangle" w="med" len="med"/>
              </a:ln>
            </p:spPr>
            <p:txBody>
              <a:bodyPr wrap="none" anchor="ctr"/>
              <a:lstStyle/>
              <a:p>
                <a:endParaRPr lang="en-US"/>
              </a:p>
            </p:txBody>
          </p:sp>
          <p:sp>
            <p:nvSpPr>
              <p:cNvPr id="64525" name="Line 25"/>
              <p:cNvSpPr>
                <a:spLocks noChangeShapeType="1"/>
              </p:cNvSpPr>
              <p:nvPr/>
            </p:nvSpPr>
            <p:spPr bwMode="auto">
              <a:xfrm flipH="1">
                <a:off x="1248" y="2704"/>
                <a:ext cx="2112" cy="0"/>
              </a:xfrm>
              <a:prstGeom prst="line">
                <a:avLst/>
              </a:prstGeom>
              <a:noFill/>
              <a:ln w="9525">
                <a:solidFill>
                  <a:srgbClr val="333399"/>
                </a:solidFill>
                <a:round/>
                <a:headEnd type="triangle" w="med" len="med"/>
                <a:tailEnd type="triangle" w="med" len="med"/>
              </a:ln>
            </p:spPr>
            <p:txBody>
              <a:bodyPr wrap="none" anchor="ctr"/>
              <a:lstStyle/>
              <a:p>
                <a:endParaRPr lang="en-US"/>
              </a:p>
            </p:txBody>
          </p:sp>
          <p:sp>
            <p:nvSpPr>
              <p:cNvPr id="64526" name="Line 26"/>
              <p:cNvSpPr>
                <a:spLocks noChangeShapeType="1"/>
              </p:cNvSpPr>
              <p:nvPr/>
            </p:nvSpPr>
            <p:spPr bwMode="auto">
              <a:xfrm flipH="1">
                <a:off x="1248" y="2808"/>
                <a:ext cx="2112" cy="0"/>
              </a:xfrm>
              <a:prstGeom prst="line">
                <a:avLst/>
              </a:prstGeom>
              <a:noFill/>
              <a:ln w="9525">
                <a:solidFill>
                  <a:srgbClr val="333399"/>
                </a:solidFill>
                <a:round/>
                <a:headEnd type="triangle" w="med" len="med"/>
                <a:tailEnd type="triangle" w="med" len="med"/>
              </a:ln>
            </p:spPr>
            <p:txBody>
              <a:bodyPr wrap="none" anchor="ctr"/>
              <a:lstStyle/>
              <a:p>
                <a:endParaRPr lang="en-US"/>
              </a:p>
            </p:txBody>
          </p:sp>
          <p:sp>
            <p:nvSpPr>
              <p:cNvPr id="64527" name="Line 27"/>
              <p:cNvSpPr>
                <a:spLocks noChangeShapeType="1"/>
              </p:cNvSpPr>
              <p:nvPr/>
            </p:nvSpPr>
            <p:spPr bwMode="auto">
              <a:xfrm flipH="1">
                <a:off x="1248" y="2928"/>
                <a:ext cx="2112" cy="0"/>
              </a:xfrm>
              <a:prstGeom prst="line">
                <a:avLst/>
              </a:prstGeom>
              <a:noFill/>
              <a:ln w="9525">
                <a:solidFill>
                  <a:srgbClr val="333399"/>
                </a:solidFill>
                <a:round/>
                <a:headEnd type="triangle" w="med" len="med"/>
                <a:tailEnd type="triangle" w="med" len="med"/>
              </a:ln>
            </p:spPr>
            <p:txBody>
              <a:bodyPr wrap="none" anchor="ctr"/>
              <a:lstStyle/>
              <a:p>
                <a:endParaRPr lang="en-US"/>
              </a:p>
            </p:txBody>
          </p:sp>
          <p:sp>
            <p:nvSpPr>
              <p:cNvPr id="64528" name="Line 28"/>
              <p:cNvSpPr>
                <a:spLocks noChangeShapeType="1"/>
              </p:cNvSpPr>
              <p:nvPr/>
            </p:nvSpPr>
            <p:spPr bwMode="auto">
              <a:xfrm flipH="1">
                <a:off x="1248" y="3040"/>
                <a:ext cx="2112" cy="0"/>
              </a:xfrm>
              <a:prstGeom prst="line">
                <a:avLst/>
              </a:prstGeom>
              <a:noFill/>
              <a:ln w="9525">
                <a:solidFill>
                  <a:srgbClr val="333399"/>
                </a:solidFill>
                <a:round/>
                <a:headEnd type="triangle" w="med" len="med"/>
                <a:tailEnd type="triangle" w="med" len="med"/>
              </a:ln>
            </p:spPr>
            <p:txBody>
              <a:bodyPr wrap="none" anchor="ctr"/>
              <a:lstStyle/>
              <a:p>
                <a:endParaRPr lang="en-US"/>
              </a:p>
            </p:txBody>
          </p:sp>
        </p:grpSp>
      </p:grpSp>
      <p:sp>
        <p:nvSpPr>
          <p:cNvPr id="1226782" name="Text Box 30"/>
          <p:cNvSpPr txBox="1">
            <a:spLocks noChangeArrowheads="1"/>
          </p:cNvSpPr>
          <p:nvPr/>
        </p:nvSpPr>
        <p:spPr bwMode="auto">
          <a:xfrm>
            <a:off x="136525" y="928688"/>
            <a:ext cx="1225550" cy="366712"/>
          </a:xfrm>
          <a:prstGeom prst="rect">
            <a:avLst/>
          </a:prstGeom>
          <a:noFill/>
          <a:ln w="9525">
            <a:noFill/>
            <a:miter lim="800000"/>
            <a:headEnd/>
            <a:tailEnd/>
          </a:ln>
        </p:spPr>
        <p:txBody>
          <a:bodyPr wrap="none">
            <a:spAutoFit/>
          </a:bodyPr>
          <a:lstStyle/>
          <a:p>
            <a:r>
              <a:rPr lang="en-US" sz="1800">
                <a:solidFill>
                  <a:srgbClr val="333399"/>
                </a:solidFill>
              </a:rPr>
              <a:t>For df: 5,4</a:t>
            </a:r>
          </a:p>
        </p:txBody>
      </p:sp>
      <p:sp>
        <p:nvSpPr>
          <p:cNvPr id="64521" name="Text Box 31"/>
          <p:cNvSpPr txBox="1">
            <a:spLocks noChangeArrowheads="1"/>
          </p:cNvSpPr>
          <p:nvPr/>
        </p:nvSpPr>
        <p:spPr bwMode="auto">
          <a:xfrm>
            <a:off x="377825" y="304800"/>
            <a:ext cx="906463" cy="238125"/>
          </a:xfrm>
          <a:prstGeom prst="rect">
            <a:avLst/>
          </a:prstGeom>
          <a:solidFill>
            <a:schemeClr val="bg1"/>
          </a:solidFill>
          <a:ln w="9525">
            <a:noFill/>
            <a:miter lim="800000"/>
            <a:headEnd/>
            <a:tailEnd/>
          </a:ln>
        </p:spPr>
        <p:txBody>
          <a:bodyPr wrap="none">
            <a:spAutoFit/>
          </a:bodyPr>
          <a:lstStyle/>
          <a:p>
            <a:pPr>
              <a:lnSpc>
                <a:spcPct val="60000"/>
              </a:lnSpc>
            </a:pPr>
            <a:r>
              <a:rPr lang="en-US" sz="1600" b="1">
                <a:solidFill>
                  <a:srgbClr val="333399"/>
                </a:solidFill>
              </a:rPr>
              <a:t>Table 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par>
                          <p:cTn id="15" fill="hold">
                            <p:stCondLst>
                              <p:cond delay="500"/>
                            </p:stCondLst>
                            <p:childTnLst>
                              <p:par>
                                <p:cTn id="16" presetID="1" presetClass="entr" presetSubtype="0" fill="hold" grpId="0" nodeType="afterEffect">
                                  <p:stCondLst>
                                    <p:cond delay="0"/>
                                  </p:stCondLst>
                                  <p:childTnLst>
                                    <p:set>
                                      <p:cBhvr>
                                        <p:cTn id="17" dur="1" fill="hold">
                                          <p:stCondLst>
                                            <p:cond delay="499"/>
                                          </p:stCondLst>
                                        </p:cTn>
                                        <p:tgtEl>
                                          <p:spTgt spid="122678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nodeType="clickEffect">
                                  <p:stCondLst>
                                    <p:cond delay="0"/>
                                  </p:stCondLst>
                                  <p:childTnLst>
                                    <p:set>
                                      <p:cBhvr>
                                        <p:cTn id="25" dur="1" fill="hold">
                                          <p:stCondLst>
                                            <p:cond delay="499"/>
                                          </p:stCondLst>
                                        </p:cTn>
                                        <p:tgtEl>
                                          <p:spTgt spid="5"/>
                                        </p:tgtEl>
                                        <p:attrNameLst>
                                          <p:attrName>style.visibility</p:attrName>
                                        </p:attrNameLst>
                                      </p:cBhvr>
                                      <p:to>
                                        <p:strVal val="hidden"/>
                                      </p:to>
                                    </p:set>
                                  </p:childTnLst>
                                </p:cTn>
                              </p:par>
                            </p:childTnLst>
                          </p:cTn>
                        </p:par>
                        <p:par>
                          <p:cTn id="26" fill="hold">
                            <p:stCondLst>
                              <p:cond delay="500"/>
                            </p:stCondLst>
                            <p:childTnLst>
                              <p:par>
                                <p:cTn id="27" presetID="1" presetClass="entr" presetSubtype="0" fill="hold" nodeType="afterEffect">
                                  <p:stCondLst>
                                    <p:cond delay="0"/>
                                  </p:stCondLst>
                                  <p:childTnLst>
                                    <p:set>
                                      <p:cBhvr>
                                        <p:cTn id="28" dur="1" fill="hold">
                                          <p:stCondLst>
                                            <p:cond delay="499"/>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6782"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CC66"/>
        </a:solidFill>
        <a:effectLst/>
      </p:bgPr>
    </p:bg>
    <p:spTree>
      <p:nvGrpSpPr>
        <p:cNvPr id="1" name=""/>
        <p:cNvGrpSpPr/>
        <p:nvPr/>
      </p:nvGrpSpPr>
      <p:grpSpPr>
        <a:xfrm>
          <a:off x="0" y="0"/>
          <a:ext cx="0" cy="0"/>
          <a:chOff x="0" y="0"/>
          <a:chExt cx="0" cy="0"/>
        </a:xfrm>
      </p:grpSpPr>
      <p:pic>
        <p:nvPicPr>
          <p:cNvPr id="39940" name="Picture 2"/>
          <p:cNvPicPr>
            <a:picLocks noChangeAspect="1" noChangeArrowheads="1"/>
          </p:cNvPicPr>
          <p:nvPr/>
        </p:nvPicPr>
        <p:blipFill>
          <a:blip r:embed="rId4"/>
          <a:srcRect t="4181" b="24739"/>
          <a:stretch>
            <a:fillRect/>
          </a:stretch>
        </p:blipFill>
        <p:spPr bwMode="auto">
          <a:xfrm>
            <a:off x="749300" y="1524000"/>
            <a:ext cx="7861300" cy="5181600"/>
          </a:xfrm>
          <a:prstGeom prst="rect">
            <a:avLst/>
          </a:prstGeom>
          <a:noFill/>
          <a:ln w="9525">
            <a:noFill/>
            <a:miter lim="800000"/>
            <a:headEnd/>
            <a:tailEnd/>
          </a:ln>
        </p:spPr>
      </p:pic>
      <p:sp>
        <p:nvSpPr>
          <p:cNvPr id="39941" name="Rectangle 3"/>
          <p:cNvSpPr>
            <a:spLocks noChangeArrowheads="1"/>
          </p:cNvSpPr>
          <p:nvPr/>
        </p:nvSpPr>
        <p:spPr bwMode="auto">
          <a:xfrm>
            <a:off x="3581400" y="3962400"/>
            <a:ext cx="609600" cy="914400"/>
          </a:xfrm>
          <a:prstGeom prst="rect">
            <a:avLst/>
          </a:prstGeom>
          <a:noFill/>
          <a:ln w="38100">
            <a:solidFill>
              <a:srgbClr val="CC0000"/>
            </a:solidFill>
            <a:miter lim="800000"/>
            <a:headEnd/>
            <a:tailEnd/>
          </a:ln>
        </p:spPr>
        <p:txBody>
          <a:bodyPr wrap="none" anchor="ctr"/>
          <a:lstStyle/>
          <a:p>
            <a:endParaRPr lang="en-US" sz="1800"/>
          </a:p>
        </p:txBody>
      </p:sp>
      <p:sp>
        <p:nvSpPr>
          <p:cNvPr id="39942" name="Oval 4"/>
          <p:cNvSpPr>
            <a:spLocks noChangeArrowheads="1"/>
          </p:cNvSpPr>
          <p:nvPr/>
        </p:nvSpPr>
        <p:spPr bwMode="auto">
          <a:xfrm>
            <a:off x="1308100" y="4216400"/>
            <a:ext cx="304800" cy="381000"/>
          </a:xfrm>
          <a:prstGeom prst="ellipse">
            <a:avLst/>
          </a:prstGeom>
          <a:noFill/>
          <a:ln w="28575">
            <a:solidFill>
              <a:srgbClr val="CC0000"/>
            </a:solidFill>
            <a:round/>
            <a:headEnd/>
            <a:tailEnd/>
          </a:ln>
        </p:spPr>
        <p:txBody>
          <a:bodyPr wrap="none" anchor="ctr"/>
          <a:lstStyle/>
          <a:p>
            <a:endParaRPr lang="en-US" sz="1800"/>
          </a:p>
        </p:txBody>
      </p:sp>
      <p:sp>
        <p:nvSpPr>
          <p:cNvPr id="39943" name="Oval 5"/>
          <p:cNvSpPr>
            <a:spLocks noChangeArrowheads="1"/>
          </p:cNvSpPr>
          <p:nvPr/>
        </p:nvSpPr>
        <p:spPr bwMode="auto">
          <a:xfrm>
            <a:off x="3695700" y="1816100"/>
            <a:ext cx="304800" cy="381000"/>
          </a:xfrm>
          <a:prstGeom prst="ellipse">
            <a:avLst/>
          </a:prstGeom>
          <a:noFill/>
          <a:ln w="28575">
            <a:solidFill>
              <a:srgbClr val="CC0000"/>
            </a:solidFill>
            <a:round/>
            <a:headEnd/>
            <a:tailEnd/>
          </a:ln>
        </p:spPr>
        <p:txBody>
          <a:bodyPr wrap="none" anchor="ctr"/>
          <a:lstStyle/>
          <a:p>
            <a:endParaRPr lang="en-US" sz="1800"/>
          </a:p>
        </p:txBody>
      </p:sp>
      <p:sp>
        <p:nvSpPr>
          <p:cNvPr id="39944" name="Rectangle 6"/>
          <p:cNvSpPr>
            <a:spLocks noChangeArrowheads="1"/>
          </p:cNvSpPr>
          <p:nvPr/>
        </p:nvSpPr>
        <p:spPr bwMode="auto">
          <a:xfrm>
            <a:off x="1676400" y="3962400"/>
            <a:ext cx="609600" cy="914400"/>
          </a:xfrm>
          <a:prstGeom prst="rect">
            <a:avLst/>
          </a:prstGeom>
          <a:noFill/>
          <a:ln w="38100" cmpd="dbl">
            <a:solidFill>
              <a:srgbClr val="CC0000"/>
            </a:solidFill>
            <a:miter lim="800000"/>
            <a:headEnd/>
            <a:tailEnd/>
          </a:ln>
        </p:spPr>
        <p:txBody>
          <a:bodyPr wrap="none" anchor="ctr"/>
          <a:lstStyle/>
          <a:p>
            <a:endParaRPr lang="en-US" sz="1800"/>
          </a:p>
        </p:txBody>
      </p:sp>
      <p:pic>
        <p:nvPicPr>
          <p:cNvPr id="39945" name="Picture 7"/>
          <p:cNvPicPr>
            <a:picLocks noChangeAspect="1" noChangeArrowheads="1"/>
          </p:cNvPicPr>
          <p:nvPr/>
        </p:nvPicPr>
        <p:blipFill>
          <a:blip r:embed="rId5"/>
          <a:srcRect l="14476" t="15208" r="1108" b="10341"/>
          <a:stretch>
            <a:fillRect/>
          </a:stretch>
        </p:blipFill>
        <p:spPr bwMode="auto">
          <a:xfrm>
            <a:off x="7620000" y="76200"/>
            <a:ext cx="1447800" cy="1276350"/>
          </a:xfrm>
          <a:prstGeom prst="rect">
            <a:avLst/>
          </a:prstGeom>
          <a:noFill/>
          <a:ln w="9525">
            <a:noFill/>
            <a:miter lim="800000"/>
            <a:headEnd/>
            <a:tailEnd/>
          </a:ln>
        </p:spPr>
      </p:pic>
      <p:grpSp>
        <p:nvGrpSpPr>
          <p:cNvPr id="2" name="Group 8"/>
          <p:cNvGrpSpPr>
            <a:grpSpLocks/>
          </p:cNvGrpSpPr>
          <p:nvPr/>
        </p:nvGrpSpPr>
        <p:grpSpPr bwMode="auto">
          <a:xfrm>
            <a:off x="1828800" y="4092575"/>
            <a:ext cx="5043488" cy="412750"/>
            <a:chOff x="1152" y="2578"/>
            <a:chExt cx="3177" cy="260"/>
          </a:xfrm>
        </p:grpSpPr>
        <p:sp>
          <p:nvSpPr>
            <p:cNvPr id="39952" name="Text Box 9"/>
            <p:cNvSpPr txBox="1">
              <a:spLocks noChangeArrowheads="1"/>
            </p:cNvSpPr>
            <p:nvPr/>
          </p:nvSpPr>
          <p:spPr bwMode="auto">
            <a:xfrm>
              <a:off x="2712" y="2578"/>
              <a:ext cx="1617" cy="260"/>
            </a:xfrm>
            <a:prstGeom prst="rect">
              <a:avLst/>
            </a:prstGeom>
            <a:solidFill>
              <a:schemeClr val="bg1"/>
            </a:solidFill>
            <a:ln w="19050">
              <a:solidFill>
                <a:srgbClr val="333399"/>
              </a:solidFill>
              <a:miter lim="800000"/>
              <a:headEnd/>
              <a:tailEnd/>
            </a:ln>
          </p:spPr>
          <p:txBody>
            <a:bodyPr wrap="none">
              <a:spAutoFit/>
            </a:bodyPr>
            <a:lstStyle/>
            <a:p>
              <a:pPr>
                <a:lnSpc>
                  <a:spcPct val="110000"/>
                </a:lnSpc>
              </a:pPr>
              <a:r>
                <a:rPr lang="en-US" sz="1800" b="1">
                  <a:solidFill>
                    <a:srgbClr val="333399"/>
                  </a:solidFill>
                </a:rPr>
                <a:t>F</a:t>
              </a:r>
              <a:r>
                <a:rPr lang="en-US" sz="1800" b="1" baseline="-25000">
                  <a:solidFill>
                    <a:srgbClr val="333399"/>
                  </a:solidFill>
                </a:rPr>
                <a:t>critical</a:t>
              </a:r>
              <a:r>
                <a:rPr lang="en-US" sz="1800" b="1">
                  <a:solidFill>
                    <a:srgbClr val="333399"/>
                  </a:solidFill>
                </a:rPr>
                <a:t> for </a:t>
              </a:r>
              <a:r>
                <a:rPr lang="en-US" sz="1800" b="1" i="1">
                  <a:solidFill>
                    <a:srgbClr val="333399"/>
                  </a:solidFill>
                  <a:latin typeface="Symbol" pitchFamily="18" charset="2"/>
                </a:rPr>
                <a:t>a</a:t>
              </a:r>
              <a:r>
                <a:rPr lang="en-US" sz="1800" b="1">
                  <a:solidFill>
                    <a:srgbClr val="333399"/>
                  </a:solidFill>
                </a:rPr>
                <a:t> 5% is 3.49</a:t>
              </a:r>
            </a:p>
          </p:txBody>
        </p:sp>
        <p:sp>
          <p:nvSpPr>
            <p:cNvPr id="39953" name="Line 10"/>
            <p:cNvSpPr>
              <a:spLocks noChangeShapeType="1"/>
            </p:cNvSpPr>
            <p:nvPr/>
          </p:nvSpPr>
          <p:spPr bwMode="auto">
            <a:xfrm>
              <a:off x="1152" y="2751"/>
              <a:ext cx="1584" cy="0"/>
            </a:xfrm>
            <a:prstGeom prst="line">
              <a:avLst/>
            </a:prstGeom>
            <a:noFill/>
            <a:ln w="19050">
              <a:solidFill>
                <a:srgbClr val="333399"/>
              </a:solidFill>
              <a:round/>
              <a:headEnd/>
              <a:tailEnd type="triangle" w="med" len="med"/>
            </a:ln>
          </p:spPr>
          <p:txBody>
            <a:bodyPr wrap="none" anchor="ctr"/>
            <a:lstStyle/>
            <a:p>
              <a:endParaRPr lang="en-US"/>
            </a:p>
          </p:txBody>
        </p:sp>
      </p:grpSp>
      <p:sp>
        <p:nvSpPr>
          <p:cNvPr id="39947" name="Text Box 11"/>
          <p:cNvSpPr txBox="1">
            <a:spLocks noChangeArrowheads="1"/>
          </p:cNvSpPr>
          <p:nvPr/>
        </p:nvSpPr>
        <p:spPr bwMode="auto">
          <a:xfrm>
            <a:off x="2057400" y="4968875"/>
            <a:ext cx="1998663" cy="762000"/>
          </a:xfrm>
          <a:prstGeom prst="rect">
            <a:avLst/>
          </a:prstGeom>
          <a:solidFill>
            <a:schemeClr val="bg1"/>
          </a:solidFill>
          <a:ln w="9525">
            <a:solidFill>
              <a:srgbClr val="CC0000"/>
            </a:solidFill>
            <a:miter lim="800000"/>
            <a:headEnd/>
            <a:tailEnd/>
          </a:ln>
        </p:spPr>
        <p:txBody>
          <a:bodyPr wrap="none">
            <a:spAutoFit/>
          </a:bodyPr>
          <a:lstStyle/>
          <a:p>
            <a:pPr>
              <a:lnSpc>
                <a:spcPct val="120000"/>
              </a:lnSpc>
            </a:pPr>
            <a:r>
              <a:rPr lang="en-US" sz="1800" b="1">
                <a:solidFill>
                  <a:srgbClr val="CC0000"/>
                </a:solidFill>
              </a:rPr>
              <a:t>F = 12.08 &gt; 10.80</a:t>
            </a:r>
          </a:p>
          <a:p>
            <a:pPr>
              <a:lnSpc>
                <a:spcPct val="120000"/>
              </a:lnSpc>
            </a:pPr>
            <a:r>
              <a:rPr lang="en-US" sz="1800" b="1">
                <a:solidFill>
                  <a:srgbClr val="CC0000"/>
                </a:solidFill>
              </a:rPr>
              <a:t>Thus </a:t>
            </a:r>
            <a:r>
              <a:rPr lang="en-US" sz="1800" b="1" i="1">
                <a:solidFill>
                  <a:srgbClr val="CC0000"/>
                </a:solidFill>
              </a:rPr>
              <a:t>p</a:t>
            </a:r>
            <a:r>
              <a:rPr lang="en-US" sz="1800" b="1">
                <a:solidFill>
                  <a:srgbClr val="CC0000"/>
                </a:solidFill>
              </a:rPr>
              <a:t>&lt; 0.001</a:t>
            </a:r>
          </a:p>
        </p:txBody>
      </p:sp>
      <p:sp>
        <p:nvSpPr>
          <p:cNvPr id="39948" name="Line 12"/>
          <p:cNvSpPr>
            <a:spLocks noChangeShapeType="1"/>
          </p:cNvSpPr>
          <p:nvPr/>
        </p:nvSpPr>
        <p:spPr bwMode="auto">
          <a:xfrm>
            <a:off x="2209800" y="4800600"/>
            <a:ext cx="1447800" cy="0"/>
          </a:xfrm>
          <a:prstGeom prst="line">
            <a:avLst/>
          </a:prstGeom>
          <a:noFill/>
          <a:ln w="19050">
            <a:solidFill>
              <a:srgbClr val="CC0000"/>
            </a:solidFill>
            <a:round/>
            <a:headEnd type="triangle" w="med" len="med"/>
            <a:tailEnd type="triangle" w="med" len="med"/>
          </a:ln>
        </p:spPr>
        <p:txBody>
          <a:bodyPr wrap="none" anchor="ctr"/>
          <a:lstStyle/>
          <a:p>
            <a:endParaRPr lang="en-US"/>
          </a:p>
        </p:txBody>
      </p:sp>
      <p:graphicFrame>
        <p:nvGraphicFramePr>
          <p:cNvPr id="39938" name="Object 2"/>
          <p:cNvGraphicFramePr>
            <a:graphicFrameLocks noChangeAspect="1"/>
          </p:cNvGraphicFramePr>
          <p:nvPr/>
        </p:nvGraphicFramePr>
        <p:xfrm>
          <a:off x="1752600" y="169863"/>
          <a:ext cx="4876800" cy="1257300"/>
        </p:xfrm>
        <a:graphic>
          <a:graphicData uri="http://schemas.openxmlformats.org/presentationml/2006/ole">
            <p:oleObj spid="_x0000_s39938" name="Worksheet" r:id="rId6" imgW="3685032" imgH="950976" progId="Excel.Sheet.8">
              <p:embed/>
            </p:oleObj>
          </a:graphicData>
        </a:graphic>
      </p:graphicFrame>
      <p:sp>
        <p:nvSpPr>
          <p:cNvPr id="39949" name="Oval 14"/>
          <p:cNvSpPr>
            <a:spLocks noChangeArrowheads="1"/>
          </p:cNvSpPr>
          <p:nvPr/>
        </p:nvSpPr>
        <p:spPr bwMode="auto">
          <a:xfrm>
            <a:off x="4572000" y="342900"/>
            <a:ext cx="609600" cy="533400"/>
          </a:xfrm>
          <a:prstGeom prst="ellipse">
            <a:avLst/>
          </a:prstGeom>
          <a:noFill/>
          <a:ln w="28575">
            <a:solidFill>
              <a:srgbClr val="CC0000"/>
            </a:solidFill>
            <a:round/>
            <a:headEnd/>
            <a:tailEnd/>
          </a:ln>
        </p:spPr>
        <p:txBody>
          <a:bodyPr wrap="none" anchor="ctr"/>
          <a:lstStyle/>
          <a:p>
            <a:endParaRPr lang="en-US" sz="1800"/>
          </a:p>
        </p:txBody>
      </p:sp>
      <p:sp>
        <p:nvSpPr>
          <p:cNvPr id="39950" name="Oval 15"/>
          <p:cNvSpPr>
            <a:spLocks noChangeArrowheads="1"/>
          </p:cNvSpPr>
          <p:nvPr/>
        </p:nvSpPr>
        <p:spPr bwMode="auto">
          <a:xfrm>
            <a:off x="3695700" y="254000"/>
            <a:ext cx="457200" cy="838200"/>
          </a:xfrm>
          <a:prstGeom prst="ellipse">
            <a:avLst/>
          </a:prstGeom>
          <a:noFill/>
          <a:ln w="28575">
            <a:solidFill>
              <a:srgbClr val="CC0000"/>
            </a:solidFill>
            <a:round/>
            <a:headEnd/>
            <a:tailEnd/>
          </a:ln>
        </p:spPr>
        <p:txBody>
          <a:bodyPr wrap="none" anchor="ctr"/>
          <a:lstStyle/>
          <a:p>
            <a:endParaRPr lang="en-US" sz="1800"/>
          </a:p>
        </p:txBody>
      </p:sp>
      <p:sp>
        <p:nvSpPr>
          <p:cNvPr id="1232912" name="Oval 16"/>
          <p:cNvSpPr>
            <a:spLocks noChangeArrowheads="1"/>
          </p:cNvSpPr>
          <p:nvPr/>
        </p:nvSpPr>
        <p:spPr bwMode="auto">
          <a:xfrm>
            <a:off x="5930900" y="330200"/>
            <a:ext cx="762000" cy="533400"/>
          </a:xfrm>
          <a:prstGeom prst="ellipse">
            <a:avLst/>
          </a:prstGeom>
          <a:noFill/>
          <a:ln w="28575">
            <a:solidFill>
              <a:srgbClr val="333399"/>
            </a:solidFill>
            <a:round/>
            <a:headEnd/>
            <a:tailEnd/>
          </a:ln>
        </p:spPr>
        <p:txBody>
          <a:bodyPr wrap="none" anchor="ctr"/>
          <a:lstStyle/>
          <a:p>
            <a:endParaRPr lang="en-US"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29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2912"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CC66"/>
        </a:solidFill>
        <a:effectLst/>
      </p:bgPr>
    </p:bg>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sz="2400" b="1" smtClean="0">
                <a:solidFill>
                  <a:srgbClr val="333399"/>
                </a:solidFill>
                <a:ea typeface="ＭＳ Ｐゴシック"/>
                <a:cs typeface="ＭＳ Ｐゴシック"/>
              </a:rPr>
              <a:t>Yogurt preparation and taste</a:t>
            </a:r>
          </a:p>
        </p:txBody>
      </p:sp>
      <p:sp>
        <p:nvSpPr>
          <p:cNvPr id="68611" name="Rectangle 3"/>
          <p:cNvSpPr>
            <a:spLocks noGrp="1" noChangeArrowheads="1"/>
          </p:cNvSpPr>
          <p:nvPr>
            <p:ph type="body" idx="1"/>
          </p:nvPr>
        </p:nvSpPr>
        <p:spPr>
          <a:xfrm>
            <a:off x="457200" y="838200"/>
            <a:ext cx="8229600" cy="5486400"/>
          </a:xfrm>
        </p:spPr>
        <p:txBody>
          <a:bodyPr/>
          <a:lstStyle/>
          <a:p>
            <a:pPr marL="0" indent="0" eaLnBrk="1" hangingPunct="1">
              <a:lnSpc>
                <a:spcPct val="120000"/>
              </a:lnSpc>
              <a:buFont typeface="Wingdings" pitchFamily="2" charset="2"/>
              <a:buNone/>
            </a:pPr>
            <a:r>
              <a:rPr lang="en-US" smtClean="0">
                <a:ea typeface="ＭＳ Ｐゴシック"/>
                <a:cs typeface="ＭＳ Ｐゴシック"/>
              </a:rPr>
              <a:t>Yogurt can be made using three distinct commercial preparation methods: traditional, ultra filtration, and reverse osmosis.</a:t>
            </a:r>
          </a:p>
          <a:p>
            <a:pPr marL="0" indent="0" eaLnBrk="1" hangingPunct="1">
              <a:lnSpc>
                <a:spcPct val="120000"/>
              </a:lnSpc>
              <a:spcBef>
                <a:spcPct val="50000"/>
              </a:spcBef>
              <a:buFont typeface="Wingdings" pitchFamily="2" charset="2"/>
              <a:buNone/>
            </a:pPr>
            <a:r>
              <a:rPr lang="en-US" smtClean="0">
                <a:ea typeface="ＭＳ Ｐゴシック"/>
                <a:cs typeface="ＭＳ Ｐゴシック"/>
              </a:rPr>
              <a:t>To study the effect of these methods on taste, an experiment was designed where three batches of yogurt were prepared for each of the three methods. A trained expert tasted each of the nine samples, presented in random order, and judged them on a scale of 1 to 10.</a:t>
            </a:r>
          </a:p>
          <a:p>
            <a:pPr marL="0" indent="0" eaLnBrk="1" hangingPunct="1">
              <a:lnSpc>
                <a:spcPct val="120000"/>
              </a:lnSpc>
              <a:spcBef>
                <a:spcPct val="50000"/>
              </a:spcBef>
              <a:buFont typeface="Wingdings" pitchFamily="2" charset="2"/>
              <a:buNone/>
            </a:pPr>
            <a:endParaRPr lang="en-US" sz="1000" smtClean="0">
              <a:ea typeface="ＭＳ Ｐゴシック"/>
              <a:cs typeface="ＭＳ Ｐゴシック"/>
            </a:endParaRPr>
          </a:p>
          <a:p>
            <a:pPr marL="0" indent="0" eaLnBrk="1" hangingPunct="1">
              <a:lnSpc>
                <a:spcPct val="120000"/>
              </a:lnSpc>
              <a:spcBef>
                <a:spcPct val="50000"/>
              </a:spcBef>
              <a:buFont typeface="Wingdings" pitchFamily="2" charset="2"/>
              <a:buNone/>
            </a:pPr>
            <a:r>
              <a:rPr lang="en-US" b="1" i="1" smtClean="0">
                <a:ea typeface="ＭＳ Ｐゴシック"/>
                <a:cs typeface="ＭＳ Ｐゴシック"/>
              </a:rPr>
              <a:t>Variables, hypotheses, assumptions, calculations? </a:t>
            </a:r>
            <a:endParaRPr lang="en-US" b="1" smtClean="0">
              <a:ea typeface="ＭＳ Ｐゴシック"/>
              <a:cs typeface="ＭＳ Ｐゴシック"/>
            </a:endParaRPr>
          </a:p>
        </p:txBody>
      </p:sp>
      <p:graphicFrame>
        <p:nvGraphicFramePr>
          <p:cNvPr id="60473" name="Group 57"/>
          <p:cNvGraphicFramePr>
            <a:graphicFrameLocks noGrp="1"/>
          </p:cNvGraphicFramePr>
          <p:nvPr/>
        </p:nvGraphicFramePr>
        <p:xfrm>
          <a:off x="685800" y="4238625"/>
          <a:ext cx="7467600" cy="2011363"/>
        </p:xfrm>
        <a:graphic>
          <a:graphicData uri="http://schemas.openxmlformats.org/drawingml/2006/table">
            <a:tbl>
              <a:tblPr/>
              <a:tblGrid>
                <a:gridCol w="2176463"/>
                <a:gridCol w="884237"/>
                <a:gridCol w="879475"/>
                <a:gridCol w="882650"/>
                <a:gridCol w="882650"/>
                <a:gridCol w="879475"/>
                <a:gridCol w="882650"/>
              </a:tblGrid>
              <a:tr h="155575">
                <a:tc gridSpan="7">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0" u="none" strike="noStrike" cap="none" normalizeH="0" baseline="0">
                          <a:ln>
                            <a:noFill/>
                          </a:ln>
                          <a:solidFill>
                            <a:srgbClr val="000000"/>
                          </a:solidFill>
                          <a:effectLst/>
                          <a:latin typeface="Arial" pitchFamily="-72" charset="0"/>
                          <a:ea typeface="ＭＳ Ｐゴシック" pitchFamily="-72" charset="-128"/>
                          <a:cs typeface="ＭＳ Ｐゴシック" pitchFamily="-72" charset="-128"/>
                        </a:rPr>
                        <a:t>ANOVA table</a:t>
                      </a: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42875">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1" u="none" strike="noStrike" cap="none" normalizeH="0" baseline="0">
                          <a:ln>
                            <a:noFill/>
                          </a:ln>
                          <a:solidFill>
                            <a:srgbClr val="000000"/>
                          </a:solidFill>
                          <a:effectLst/>
                          <a:latin typeface="Arial" pitchFamily="-72" charset="0"/>
                          <a:ea typeface="ＭＳ Ｐゴシック" pitchFamily="-72" charset="-128"/>
                          <a:cs typeface="ＭＳ Ｐゴシック" pitchFamily="-72" charset="-128"/>
                        </a:rPr>
                        <a:t>Source of variation</a:t>
                      </a: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1" u="none" strike="noStrike" cap="none" normalizeH="0" baseline="0">
                          <a:ln>
                            <a:noFill/>
                          </a:ln>
                          <a:solidFill>
                            <a:srgbClr val="000000"/>
                          </a:solidFill>
                          <a:effectLst/>
                          <a:latin typeface="Arial" pitchFamily="-72" charset="0"/>
                          <a:ea typeface="ＭＳ Ｐゴシック" pitchFamily="-72" charset="-128"/>
                          <a:cs typeface="ＭＳ Ｐゴシック" pitchFamily="-72" charset="-128"/>
                        </a:rPr>
                        <a:t>SS</a:t>
                      </a: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1" u="none" strike="noStrike" cap="none" normalizeH="0" baseline="0">
                          <a:ln>
                            <a:noFill/>
                          </a:ln>
                          <a:solidFill>
                            <a:srgbClr val="000000"/>
                          </a:solidFill>
                          <a:effectLst/>
                          <a:latin typeface="Arial" pitchFamily="-72" charset="0"/>
                          <a:ea typeface="ＭＳ Ｐゴシック" pitchFamily="-72" charset="-128"/>
                          <a:cs typeface="ＭＳ Ｐゴシック" pitchFamily="-72" charset="-128"/>
                        </a:rPr>
                        <a:t>df</a:t>
                      </a: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1" u="none" strike="noStrike" cap="none" normalizeH="0" baseline="0">
                          <a:ln>
                            <a:noFill/>
                          </a:ln>
                          <a:solidFill>
                            <a:srgbClr val="000000"/>
                          </a:solidFill>
                          <a:effectLst/>
                          <a:latin typeface="Arial" pitchFamily="-72" charset="0"/>
                          <a:ea typeface="ＭＳ Ｐゴシック" pitchFamily="-72" charset="-128"/>
                          <a:cs typeface="ＭＳ Ｐゴシック" pitchFamily="-72" charset="-128"/>
                        </a:rPr>
                        <a:t>MS</a:t>
                      </a: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1" u="none" strike="noStrike" cap="none" normalizeH="0" baseline="0">
                          <a:ln>
                            <a:noFill/>
                          </a:ln>
                          <a:solidFill>
                            <a:srgbClr val="000000"/>
                          </a:solidFill>
                          <a:effectLst/>
                          <a:latin typeface="Arial" pitchFamily="-72" charset="0"/>
                          <a:ea typeface="ＭＳ Ｐゴシック" pitchFamily="-72" charset="-128"/>
                          <a:cs typeface="ＭＳ Ｐゴシック" pitchFamily="-72" charset="-128"/>
                        </a:rPr>
                        <a:t>F</a:t>
                      </a: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1" u="none" strike="noStrike" cap="none" normalizeH="0" baseline="0">
                          <a:ln>
                            <a:noFill/>
                          </a:ln>
                          <a:solidFill>
                            <a:srgbClr val="000000"/>
                          </a:solidFill>
                          <a:effectLst/>
                          <a:latin typeface="Arial" pitchFamily="-72" charset="0"/>
                          <a:ea typeface="ＭＳ Ｐゴシック" pitchFamily="-72" charset="-128"/>
                          <a:cs typeface="ＭＳ Ｐゴシック" pitchFamily="-72" charset="-128"/>
                        </a:rPr>
                        <a:t>P-value</a:t>
                      </a: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1" u="none" strike="noStrike" cap="none" normalizeH="0" baseline="0">
                          <a:ln>
                            <a:noFill/>
                          </a:ln>
                          <a:solidFill>
                            <a:srgbClr val="000000"/>
                          </a:solidFill>
                          <a:effectLst/>
                          <a:latin typeface="Arial" pitchFamily="-72" charset="0"/>
                          <a:ea typeface="ＭＳ Ｐゴシック" pitchFamily="-72" charset="-128"/>
                          <a:cs typeface="ＭＳ Ｐゴシック" pitchFamily="-72" charset="-128"/>
                        </a:rPr>
                        <a:t>F crit</a:t>
                      </a: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2875">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0" u="none" strike="noStrike" cap="none" normalizeH="0" baseline="0">
                          <a:ln>
                            <a:noFill/>
                          </a:ln>
                          <a:solidFill>
                            <a:srgbClr val="000000"/>
                          </a:solidFill>
                          <a:effectLst/>
                          <a:latin typeface="Arial" pitchFamily="-72" charset="0"/>
                          <a:ea typeface="ＭＳ Ｐゴシック" pitchFamily="-72" charset="-128"/>
                          <a:cs typeface="ＭＳ Ｐゴシック" pitchFamily="-72" charset="-128"/>
                        </a:rPr>
                        <a:t>Between groups</a:t>
                      </a: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0" u="none" strike="noStrike" cap="none" normalizeH="0" baseline="0">
                          <a:ln>
                            <a:noFill/>
                          </a:ln>
                          <a:solidFill>
                            <a:srgbClr val="000000"/>
                          </a:solidFill>
                          <a:effectLst/>
                          <a:latin typeface="Arial" pitchFamily="-72" charset="0"/>
                          <a:ea typeface="ＭＳ Ｐゴシック" pitchFamily="-72" charset="-128"/>
                          <a:cs typeface="ＭＳ Ｐゴシック" pitchFamily="-72" charset="-128"/>
                        </a:rPr>
                        <a:t>17.3</a:t>
                      </a: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rPr>
                        <a:t>I-1=2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rPr>
                        <a:t>8.65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rPr>
                        <a:t>11.283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2875">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0" u="none" strike="noStrike" cap="none" normalizeH="0" baseline="0">
                          <a:ln>
                            <a:noFill/>
                          </a:ln>
                          <a:solidFill>
                            <a:srgbClr val="000000"/>
                          </a:solidFill>
                          <a:effectLst/>
                          <a:latin typeface="Arial" pitchFamily="-72" charset="0"/>
                          <a:ea typeface="ＭＳ Ｐゴシック" pitchFamily="-72" charset="-128"/>
                          <a:cs typeface="ＭＳ Ｐゴシック" pitchFamily="-72" charset="-128"/>
                        </a:rPr>
                        <a:t>Within groups</a:t>
                      </a: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0" u="none" strike="noStrike" cap="none" normalizeH="0" baseline="0">
                          <a:ln>
                            <a:noFill/>
                          </a:ln>
                          <a:solidFill>
                            <a:srgbClr val="000000"/>
                          </a:solidFill>
                          <a:effectLst/>
                          <a:latin typeface="Arial" pitchFamily="-72" charset="0"/>
                          <a:ea typeface="ＭＳ Ｐゴシック" pitchFamily="-72" charset="-128"/>
                          <a:cs typeface="ＭＳ Ｐゴシック" pitchFamily="-72" charset="-128"/>
                        </a:rPr>
                        <a:t>4.6</a:t>
                      </a: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rPr>
                        <a:t>N-I=6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rPr>
                        <a:t>0.767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2875">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8438">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0" u="none" strike="noStrike" cap="none" normalizeH="0" baseline="0">
                          <a:ln>
                            <a:noFill/>
                          </a:ln>
                          <a:solidFill>
                            <a:srgbClr val="000000"/>
                          </a:solidFill>
                          <a:effectLst/>
                          <a:latin typeface="Arial" pitchFamily="-72" charset="0"/>
                          <a:ea typeface="ＭＳ Ｐゴシック" pitchFamily="-72" charset="-128"/>
                          <a:cs typeface="ＭＳ Ｐゴシック" pitchFamily="-72" charset="-128"/>
                        </a:rPr>
                        <a:t>Total</a:t>
                      </a: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r>
                        <a:rPr kumimoji="0" lang="en-US" sz="1600" b="0" i="0" u="none" strike="noStrike" cap="none" normalizeH="0" baseline="0">
                          <a:ln>
                            <a:noFill/>
                          </a:ln>
                          <a:solidFill>
                            <a:srgbClr val="000000"/>
                          </a:solidFill>
                          <a:effectLst/>
                          <a:latin typeface="Arial" pitchFamily="-72" charset="0"/>
                          <a:ea typeface="ＭＳ Ｐゴシック" pitchFamily="-72" charset="-128"/>
                          <a:cs typeface="ＭＳ Ｐゴシック" pitchFamily="-72" charset="-128"/>
                        </a:rPr>
                        <a:t>17.769</a:t>
                      </a: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72" charset="2"/>
                        <a:buNone/>
                        <a:tabLst/>
                      </a:pPr>
                      <a:endParaRPr kumimoji="0" lang="en-US" sz="1600" b="0" i="0" u="none" strike="noStrike" cap="none" normalizeH="0" baseline="0">
                        <a:ln>
                          <a:noFill/>
                        </a:ln>
                        <a:solidFill>
                          <a:schemeClr val="tx1"/>
                        </a:solidFill>
                        <a:effectLst/>
                        <a:latin typeface="Arial" pitchFamily="-72" charset="0"/>
                        <a:ea typeface="ＭＳ Ｐゴシック" pitchFamily="-72" charset="-128"/>
                        <a:cs typeface="ＭＳ Ｐゴシック" pitchFamily="-72"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39098" name="Rectangle 58"/>
          <p:cNvSpPr>
            <a:spLocks noChangeArrowheads="1"/>
          </p:cNvSpPr>
          <p:nvPr/>
        </p:nvSpPr>
        <p:spPr bwMode="auto">
          <a:xfrm>
            <a:off x="4635500" y="4911725"/>
            <a:ext cx="1752600" cy="685800"/>
          </a:xfrm>
          <a:prstGeom prst="rect">
            <a:avLst/>
          </a:prstGeom>
          <a:solidFill>
            <a:srgbClr val="CCFFFF"/>
          </a:solidFill>
          <a:ln w="9525">
            <a:solidFill>
              <a:schemeClr val="tx1"/>
            </a:solidFill>
            <a:miter lim="800000"/>
            <a:headEnd/>
            <a:tailEnd/>
          </a:ln>
        </p:spPr>
        <p:txBody>
          <a:bodyPr wrap="none" anchor="ctr"/>
          <a:lstStyle/>
          <a:p>
            <a:endParaRPr lang="en-US" sz="1800"/>
          </a:p>
        </p:txBody>
      </p:sp>
      <p:sp>
        <p:nvSpPr>
          <p:cNvPr id="1239099" name="Rectangle 59"/>
          <p:cNvSpPr>
            <a:spLocks noChangeArrowheads="1"/>
          </p:cNvSpPr>
          <p:nvPr/>
        </p:nvSpPr>
        <p:spPr bwMode="auto">
          <a:xfrm>
            <a:off x="3746500" y="4902200"/>
            <a:ext cx="1752600" cy="685800"/>
          </a:xfrm>
          <a:prstGeom prst="rect">
            <a:avLst/>
          </a:prstGeom>
          <a:solidFill>
            <a:srgbClr val="CCFFFF"/>
          </a:solidFill>
          <a:ln w="9525">
            <a:solidFill>
              <a:schemeClr val="tx1"/>
            </a:solidFill>
            <a:miter lim="800000"/>
            <a:headEnd/>
            <a:tailEnd/>
          </a:ln>
        </p:spPr>
        <p:txBody>
          <a:bodyPr wrap="none" anchor="ctr"/>
          <a:lstStyle/>
          <a:p>
            <a:endParaRPr lang="en-US"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499"/>
                                          </p:stCondLst>
                                        </p:cTn>
                                        <p:tgtEl>
                                          <p:spTgt spid="123909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499"/>
                                          </p:stCondLst>
                                        </p:cTn>
                                        <p:tgtEl>
                                          <p:spTgt spid="123909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98" grpId="0" animBg="1"/>
      <p:bldP spid="1239099"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CC66"/>
        </a:solidFill>
        <a:effectLst/>
      </p:bgPr>
    </p:bg>
    <p:spTree>
      <p:nvGrpSpPr>
        <p:cNvPr id="1" name=""/>
        <p:cNvGrpSpPr/>
        <p:nvPr/>
      </p:nvGrpSpPr>
      <p:grpSpPr>
        <a:xfrm>
          <a:off x="0" y="0"/>
          <a:ext cx="0" cy="0"/>
          <a:chOff x="0" y="0"/>
          <a:chExt cx="0" cy="0"/>
        </a:xfrm>
      </p:grpSpPr>
      <p:pic>
        <p:nvPicPr>
          <p:cNvPr id="70658" name="Picture 2"/>
          <p:cNvPicPr>
            <a:picLocks noChangeAspect="1" noChangeArrowheads="1"/>
          </p:cNvPicPr>
          <p:nvPr/>
        </p:nvPicPr>
        <p:blipFill>
          <a:blip r:embed="rId3"/>
          <a:srcRect b="22844"/>
          <a:stretch>
            <a:fillRect/>
          </a:stretch>
        </p:blipFill>
        <p:spPr bwMode="auto">
          <a:xfrm>
            <a:off x="577850" y="228600"/>
            <a:ext cx="7988300" cy="6477000"/>
          </a:xfrm>
          <a:prstGeom prst="rect">
            <a:avLst/>
          </a:prstGeom>
          <a:noFill/>
          <a:ln w="9525">
            <a:noFill/>
            <a:miter lim="800000"/>
            <a:headEnd/>
            <a:tailEnd/>
          </a:ln>
        </p:spPr>
      </p:pic>
      <p:grpSp>
        <p:nvGrpSpPr>
          <p:cNvPr id="2" name="Group 3"/>
          <p:cNvGrpSpPr>
            <a:grpSpLocks/>
          </p:cNvGrpSpPr>
          <p:nvPr/>
        </p:nvGrpSpPr>
        <p:grpSpPr bwMode="auto">
          <a:xfrm>
            <a:off x="1905000" y="319088"/>
            <a:ext cx="6705600" cy="1027112"/>
            <a:chOff x="1200" y="201"/>
            <a:chExt cx="4224" cy="647"/>
          </a:xfrm>
        </p:grpSpPr>
        <p:sp>
          <p:nvSpPr>
            <p:cNvPr id="70666" name="Oval 4"/>
            <p:cNvSpPr>
              <a:spLocks noChangeArrowheads="1"/>
            </p:cNvSpPr>
            <p:nvPr/>
          </p:nvSpPr>
          <p:spPr bwMode="auto">
            <a:xfrm>
              <a:off x="1200" y="416"/>
              <a:ext cx="4224" cy="432"/>
            </a:xfrm>
            <a:prstGeom prst="ellipse">
              <a:avLst/>
            </a:prstGeom>
            <a:noFill/>
            <a:ln w="9525">
              <a:solidFill>
                <a:srgbClr val="FF0000"/>
              </a:solidFill>
              <a:round/>
              <a:headEnd/>
              <a:tailEnd/>
            </a:ln>
          </p:spPr>
          <p:txBody>
            <a:bodyPr wrap="none" anchor="ctr"/>
            <a:lstStyle/>
            <a:p>
              <a:endParaRPr lang="en-US" sz="1800"/>
            </a:p>
          </p:txBody>
        </p:sp>
        <p:sp>
          <p:nvSpPr>
            <p:cNvPr id="70667" name="Text Box 5"/>
            <p:cNvSpPr txBox="1">
              <a:spLocks noChangeArrowheads="1"/>
            </p:cNvSpPr>
            <p:nvPr/>
          </p:nvSpPr>
          <p:spPr bwMode="auto">
            <a:xfrm>
              <a:off x="3998" y="201"/>
              <a:ext cx="898" cy="212"/>
            </a:xfrm>
            <a:prstGeom prst="rect">
              <a:avLst/>
            </a:prstGeom>
            <a:noFill/>
            <a:ln w="9525">
              <a:noFill/>
              <a:miter lim="800000"/>
              <a:headEnd/>
              <a:tailEnd/>
            </a:ln>
          </p:spPr>
          <p:txBody>
            <a:bodyPr>
              <a:spAutoFit/>
            </a:bodyPr>
            <a:lstStyle/>
            <a:p>
              <a:pPr>
                <a:spcBef>
                  <a:spcPct val="50000"/>
                </a:spcBef>
              </a:pPr>
              <a:r>
                <a:rPr lang="en-US" sz="1600">
                  <a:solidFill>
                    <a:srgbClr val="FF0000"/>
                  </a:solidFill>
                </a:rPr>
                <a:t>df</a:t>
              </a:r>
              <a:r>
                <a:rPr lang="en-US" sz="1600" baseline="-25000">
                  <a:solidFill>
                    <a:srgbClr val="FF0000"/>
                  </a:solidFill>
                </a:rPr>
                <a:t>num</a:t>
              </a:r>
              <a:r>
                <a:rPr lang="en-US" sz="1600">
                  <a:solidFill>
                    <a:srgbClr val="FF0000"/>
                  </a:solidFill>
                </a:rPr>
                <a:t> = </a:t>
              </a:r>
              <a:r>
                <a:rPr lang="en-US" sz="1600" i="1">
                  <a:solidFill>
                    <a:srgbClr val="FF0000"/>
                  </a:solidFill>
                </a:rPr>
                <a:t>I</a:t>
              </a:r>
              <a:r>
                <a:rPr lang="en-US" sz="1600">
                  <a:solidFill>
                    <a:srgbClr val="FF0000"/>
                  </a:solidFill>
                  <a:cs typeface="Arial" charset="0"/>
                </a:rPr>
                <a:t>−</a:t>
              </a:r>
              <a:r>
                <a:rPr lang="en-US" sz="1600">
                  <a:solidFill>
                    <a:srgbClr val="FF0000"/>
                  </a:solidFill>
                </a:rPr>
                <a:t> 1</a:t>
              </a:r>
            </a:p>
          </p:txBody>
        </p:sp>
      </p:grpSp>
      <p:grpSp>
        <p:nvGrpSpPr>
          <p:cNvPr id="3" name="Group 6"/>
          <p:cNvGrpSpPr>
            <a:grpSpLocks/>
          </p:cNvGrpSpPr>
          <p:nvPr/>
        </p:nvGrpSpPr>
        <p:grpSpPr bwMode="auto">
          <a:xfrm>
            <a:off x="0" y="1485900"/>
            <a:ext cx="1473200" cy="5105400"/>
            <a:chOff x="0" y="936"/>
            <a:chExt cx="928" cy="3216"/>
          </a:xfrm>
        </p:grpSpPr>
        <p:sp>
          <p:nvSpPr>
            <p:cNvPr id="70664" name="Oval 7"/>
            <p:cNvSpPr>
              <a:spLocks noChangeArrowheads="1"/>
            </p:cNvSpPr>
            <p:nvPr/>
          </p:nvSpPr>
          <p:spPr bwMode="auto">
            <a:xfrm>
              <a:off x="400" y="936"/>
              <a:ext cx="528" cy="3216"/>
            </a:xfrm>
            <a:prstGeom prst="ellipse">
              <a:avLst/>
            </a:prstGeom>
            <a:noFill/>
            <a:ln w="9525">
              <a:solidFill>
                <a:srgbClr val="FF0000"/>
              </a:solidFill>
              <a:round/>
              <a:headEnd/>
              <a:tailEnd/>
            </a:ln>
          </p:spPr>
          <p:txBody>
            <a:bodyPr wrap="none" anchor="ctr"/>
            <a:lstStyle/>
            <a:p>
              <a:endParaRPr lang="en-US" sz="1800"/>
            </a:p>
          </p:txBody>
        </p:sp>
        <p:sp>
          <p:nvSpPr>
            <p:cNvPr id="70665" name="Text Box 8"/>
            <p:cNvSpPr txBox="1">
              <a:spLocks noChangeArrowheads="1"/>
            </p:cNvSpPr>
            <p:nvPr/>
          </p:nvSpPr>
          <p:spPr bwMode="auto">
            <a:xfrm>
              <a:off x="0" y="3167"/>
              <a:ext cx="480" cy="520"/>
            </a:xfrm>
            <a:prstGeom prst="rect">
              <a:avLst/>
            </a:prstGeom>
            <a:noFill/>
            <a:ln w="9525">
              <a:noFill/>
              <a:miter lim="800000"/>
              <a:headEnd/>
              <a:tailEnd/>
            </a:ln>
          </p:spPr>
          <p:txBody>
            <a:bodyPr>
              <a:spAutoFit/>
            </a:bodyPr>
            <a:lstStyle/>
            <a:p>
              <a:pPr algn="ctr">
                <a:spcBef>
                  <a:spcPct val="50000"/>
                </a:spcBef>
              </a:pPr>
              <a:r>
                <a:rPr lang="en-US" sz="1600">
                  <a:solidFill>
                    <a:srgbClr val="FF0000"/>
                  </a:solidFill>
                </a:rPr>
                <a:t>df</a:t>
              </a:r>
              <a:r>
                <a:rPr lang="en-US" sz="1600" baseline="-25000">
                  <a:solidFill>
                    <a:srgbClr val="FF0000"/>
                  </a:solidFill>
                </a:rPr>
                <a:t>den</a:t>
              </a:r>
              <a:br>
                <a:rPr lang="en-US" sz="1600" baseline="-25000">
                  <a:solidFill>
                    <a:srgbClr val="FF0000"/>
                  </a:solidFill>
                </a:rPr>
              </a:br>
              <a:r>
                <a:rPr lang="en-US" sz="1600">
                  <a:solidFill>
                    <a:srgbClr val="FF0000"/>
                  </a:solidFill>
                </a:rPr>
                <a:t>=</a:t>
              </a:r>
              <a:br>
                <a:rPr lang="en-US" sz="1600">
                  <a:solidFill>
                    <a:srgbClr val="FF0000"/>
                  </a:solidFill>
                </a:rPr>
              </a:br>
              <a:r>
                <a:rPr lang="en-US" sz="1600" i="1">
                  <a:solidFill>
                    <a:srgbClr val="FF0000"/>
                  </a:solidFill>
                </a:rPr>
                <a:t>N</a:t>
              </a:r>
              <a:r>
                <a:rPr lang="en-US" sz="1600">
                  <a:solidFill>
                    <a:srgbClr val="FF0000"/>
                  </a:solidFill>
                  <a:cs typeface="Arial" charset="0"/>
                </a:rPr>
                <a:t>−</a:t>
              </a:r>
              <a:r>
                <a:rPr lang="en-US" sz="1600" i="1">
                  <a:solidFill>
                    <a:srgbClr val="FF0000"/>
                  </a:solidFill>
                </a:rPr>
                <a:t>I</a:t>
              </a:r>
            </a:p>
          </p:txBody>
        </p:sp>
      </p:grpSp>
      <p:grpSp>
        <p:nvGrpSpPr>
          <p:cNvPr id="4" name="Group 9"/>
          <p:cNvGrpSpPr>
            <a:grpSpLocks/>
          </p:cNvGrpSpPr>
          <p:nvPr/>
        </p:nvGrpSpPr>
        <p:grpSpPr bwMode="auto">
          <a:xfrm>
            <a:off x="2908300" y="5638800"/>
            <a:ext cx="1054100" cy="1057275"/>
            <a:chOff x="3360" y="2438"/>
            <a:chExt cx="664" cy="666"/>
          </a:xfrm>
        </p:grpSpPr>
        <p:sp>
          <p:nvSpPr>
            <p:cNvPr id="70662" name="Rectangle 10"/>
            <p:cNvSpPr>
              <a:spLocks noChangeArrowheads="1"/>
            </p:cNvSpPr>
            <p:nvPr/>
          </p:nvSpPr>
          <p:spPr bwMode="auto">
            <a:xfrm>
              <a:off x="3360" y="2528"/>
              <a:ext cx="480" cy="576"/>
            </a:xfrm>
            <a:prstGeom prst="rect">
              <a:avLst/>
            </a:prstGeom>
            <a:noFill/>
            <a:ln w="38100">
              <a:solidFill>
                <a:srgbClr val="0000FF"/>
              </a:solidFill>
              <a:miter lim="800000"/>
              <a:headEnd/>
              <a:tailEnd/>
            </a:ln>
          </p:spPr>
          <p:txBody>
            <a:bodyPr wrap="none" anchor="ctr"/>
            <a:lstStyle/>
            <a:p>
              <a:endParaRPr lang="en-US" sz="1800"/>
            </a:p>
          </p:txBody>
        </p:sp>
        <p:sp>
          <p:nvSpPr>
            <p:cNvPr id="70663" name="Text Box 11"/>
            <p:cNvSpPr txBox="1">
              <a:spLocks noChangeArrowheads="1"/>
            </p:cNvSpPr>
            <p:nvPr/>
          </p:nvSpPr>
          <p:spPr bwMode="auto">
            <a:xfrm>
              <a:off x="3830" y="2438"/>
              <a:ext cx="194" cy="212"/>
            </a:xfrm>
            <a:prstGeom prst="rect">
              <a:avLst/>
            </a:prstGeom>
            <a:noFill/>
            <a:ln w="9525">
              <a:noFill/>
              <a:miter lim="800000"/>
              <a:headEnd/>
              <a:tailEnd/>
            </a:ln>
          </p:spPr>
          <p:txBody>
            <a:bodyPr wrap="none">
              <a:spAutoFit/>
            </a:bodyPr>
            <a:lstStyle/>
            <a:p>
              <a:r>
                <a:rPr lang="en-US" sz="1600" b="1">
                  <a:solidFill>
                    <a:srgbClr val="0000FF"/>
                  </a:solidFill>
                </a:rPr>
                <a:t>F</a:t>
              </a:r>
              <a:endParaRPr lang="en-US" sz="18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4402" name="Rectangle 2"/>
          <p:cNvSpPr>
            <a:spLocks noGrp="1" noChangeArrowheads="1"/>
          </p:cNvSpPr>
          <p:nvPr>
            <p:ph type="body" idx="1"/>
          </p:nvPr>
        </p:nvSpPr>
        <p:spPr>
          <a:xfrm>
            <a:off x="457200" y="1212850"/>
            <a:ext cx="8229600" cy="4044950"/>
          </a:xfrm>
        </p:spPr>
        <p:txBody>
          <a:bodyPr/>
          <a:lstStyle/>
          <a:p>
            <a:pPr marL="0" indent="0" eaLnBrk="1" hangingPunct="1">
              <a:lnSpc>
                <a:spcPct val="160000"/>
              </a:lnSpc>
              <a:buFont typeface="Wingdings" pitchFamily="2" charset="2"/>
              <a:buNone/>
            </a:pPr>
            <a:r>
              <a:rPr lang="en-US" sz="1800" b="1" smtClean="0">
                <a:solidFill>
                  <a:srgbClr val="333399"/>
                </a:solidFill>
                <a:ea typeface="ＭＳ Ｐゴシック"/>
                <a:cs typeface="ＭＳ Ｐゴシック"/>
              </a:rPr>
              <a:t>MSG</a:t>
            </a:r>
            <a:r>
              <a:rPr lang="en-US" sz="1800" b="1" smtClean="0">
                <a:ea typeface="ＭＳ Ｐゴシック"/>
                <a:cs typeface="ＭＳ Ｐゴシック"/>
              </a:rPr>
              <a:t>,</a:t>
            </a:r>
            <a:r>
              <a:rPr lang="en-US" sz="1800" smtClean="0">
                <a:ea typeface="ＭＳ Ｐゴシック"/>
                <a:cs typeface="ＭＳ Ｐゴシック"/>
              </a:rPr>
              <a:t> the mean square for groups, measures how different the individual means are from the overall mean (~ weighted average of square distances of sample averages to the overall mean). SSG is the sum of squares for groups.</a:t>
            </a:r>
          </a:p>
          <a:p>
            <a:pPr marL="0" indent="0" eaLnBrk="1" hangingPunct="1">
              <a:lnSpc>
                <a:spcPct val="160000"/>
              </a:lnSpc>
              <a:buFont typeface="Wingdings" pitchFamily="2" charset="2"/>
              <a:buNone/>
            </a:pPr>
            <a:endParaRPr lang="en-US" sz="1400" smtClean="0">
              <a:ea typeface="ＭＳ Ｐゴシック"/>
              <a:cs typeface="ＭＳ Ｐゴシック"/>
            </a:endParaRPr>
          </a:p>
          <a:p>
            <a:pPr marL="0" indent="0" eaLnBrk="1" hangingPunct="1">
              <a:lnSpc>
                <a:spcPct val="160000"/>
              </a:lnSpc>
              <a:buFont typeface="Wingdings" pitchFamily="2" charset="2"/>
              <a:buNone/>
            </a:pPr>
            <a:endParaRPr lang="en-US" sz="1200" smtClean="0">
              <a:ea typeface="ＭＳ Ｐゴシック"/>
              <a:cs typeface="ＭＳ Ｐゴシック"/>
            </a:endParaRPr>
          </a:p>
          <a:p>
            <a:pPr marL="0" indent="0" eaLnBrk="1" hangingPunct="1">
              <a:lnSpc>
                <a:spcPct val="160000"/>
              </a:lnSpc>
              <a:buFont typeface="Wingdings" pitchFamily="2" charset="2"/>
              <a:buNone/>
            </a:pPr>
            <a:endParaRPr lang="en-US" sz="1400" smtClean="0">
              <a:ea typeface="ＭＳ Ｐゴシック"/>
              <a:cs typeface="ＭＳ Ｐゴシック"/>
            </a:endParaRPr>
          </a:p>
          <a:p>
            <a:pPr marL="0" indent="0" eaLnBrk="1" hangingPunct="1">
              <a:lnSpc>
                <a:spcPct val="160000"/>
              </a:lnSpc>
              <a:buFont typeface="Wingdings" pitchFamily="2" charset="2"/>
              <a:buNone/>
            </a:pPr>
            <a:r>
              <a:rPr lang="en-US" sz="1800" b="1" smtClean="0">
                <a:solidFill>
                  <a:srgbClr val="333399"/>
                </a:solidFill>
                <a:ea typeface="ＭＳ Ｐゴシック"/>
                <a:cs typeface="ＭＳ Ｐゴシック"/>
              </a:rPr>
              <a:t>MSE</a:t>
            </a:r>
            <a:r>
              <a:rPr lang="en-US" sz="1800" b="1" smtClean="0">
                <a:ea typeface="ＭＳ Ｐゴシック"/>
                <a:cs typeface="ＭＳ Ｐゴシック"/>
              </a:rPr>
              <a:t>,</a:t>
            </a:r>
            <a:r>
              <a:rPr lang="en-US" sz="1800" smtClean="0">
                <a:ea typeface="ＭＳ Ｐゴシック"/>
                <a:cs typeface="ＭＳ Ｐゴシック"/>
              </a:rPr>
              <a:t> the mean square for error is the </a:t>
            </a:r>
            <a:r>
              <a:rPr lang="en-US" sz="1800" b="1" smtClean="0">
                <a:solidFill>
                  <a:srgbClr val="333399"/>
                </a:solidFill>
                <a:ea typeface="ＭＳ Ｐゴシック"/>
                <a:cs typeface="ＭＳ Ｐゴシック"/>
              </a:rPr>
              <a:t>pooled sample variance </a:t>
            </a:r>
            <a:r>
              <a:rPr lang="en-US" sz="1800" b="1" i="1" smtClean="0">
                <a:solidFill>
                  <a:srgbClr val="333399"/>
                </a:solidFill>
                <a:ea typeface="ＭＳ Ｐゴシック"/>
                <a:cs typeface="ＭＳ Ｐゴシック"/>
              </a:rPr>
              <a:t>s</a:t>
            </a:r>
            <a:r>
              <a:rPr lang="en-US" sz="1800" b="1" i="1" baseline="-25000" smtClean="0">
                <a:solidFill>
                  <a:srgbClr val="333399"/>
                </a:solidFill>
                <a:ea typeface="ＭＳ Ｐゴシック"/>
                <a:cs typeface="ＭＳ Ｐゴシック"/>
              </a:rPr>
              <a:t>p</a:t>
            </a:r>
            <a:r>
              <a:rPr lang="en-US" sz="1800" b="1" baseline="30000" smtClean="0">
                <a:solidFill>
                  <a:srgbClr val="333399"/>
                </a:solidFill>
                <a:ea typeface="ＭＳ Ｐゴシック"/>
                <a:cs typeface="ＭＳ Ｐゴシック"/>
              </a:rPr>
              <a:t>2</a:t>
            </a:r>
            <a:r>
              <a:rPr lang="en-US" sz="1800" smtClean="0">
                <a:ea typeface="ＭＳ Ｐゴシック"/>
                <a:cs typeface="ＭＳ Ｐゴシック"/>
              </a:rPr>
              <a:t> and estimates the common variance </a:t>
            </a:r>
            <a:r>
              <a:rPr lang="el-GR" sz="1800" i="1" smtClean="0">
                <a:ea typeface="ＭＳ Ｐゴシック"/>
                <a:cs typeface="Arial" charset="0"/>
              </a:rPr>
              <a:t>σ</a:t>
            </a:r>
            <a:r>
              <a:rPr lang="en-US" sz="1800" baseline="30000" smtClean="0">
                <a:ea typeface="ＭＳ Ｐゴシック"/>
                <a:cs typeface="Arial" charset="0"/>
              </a:rPr>
              <a:t>2</a:t>
            </a:r>
            <a:r>
              <a:rPr lang="en-US" sz="1800" smtClean="0">
                <a:ea typeface="ＭＳ Ｐゴシック"/>
                <a:cs typeface="ＭＳ Ｐゴシック"/>
              </a:rPr>
              <a:t>of the </a:t>
            </a:r>
            <a:r>
              <a:rPr lang="en-US" sz="1800" i="1" smtClean="0">
                <a:ea typeface="ＭＳ Ｐゴシック"/>
                <a:cs typeface="ＭＳ Ｐゴシック"/>
              </a:rPr>
              <a:t>I</a:t>
            </a:r>
            <a:r>
              <a:rPr lang="en-US" sz="1800" smtClean="0">
                <a:ea typeface="ＭＳ Ｐゴシック"/>
                <a:cs typeface="ＭＳ Ｐゴシック"/>
              </a:rPr>
              <a:t> populations (~ weighted average of the variances from each of the </a:t>
            </a:r>
            <a:r>
              <a:rPr lang="en-US" sz="1800" i="1" smtClean="0">
                <a:ea typeface="ＭＳ Ｐゴシック"/>
                <a:cs typeface="ＭＳ Ｐゴシック"/>
              </a:rPr>
              <a:t>I</a:t>
            </a:r>
            <a:r>
              <a:rPr lang="en-US" sz="1800" smtClean="0">
                <a:ea typeface="ＭＳ Ｐゴシック"/>
                <a:cs typeface="ＭＳ Ｐゴシック"/>
              </a:rPr>
              <a:t> samples). SSE is the sum of squares for error.</a:t>
            </a:r>
          </a:p>
        </p:txBody>
      </p:sp>
      <p:graphicFrame>
        <p:nvGraphicFramePr>
          <p:cNvPr id="43010" name="Object 2"/>
          <p:cNvGraphicFramePr>
            <a:graphicFrameLocks noChangeAspect="1"/>
          </p:cNvGraphicFramePr>
          <p:nvPr/>
        </p:nvGraphicFramePr>
        <p:xfrm>
          <a:off x="6400800" y="381000"/>
          <a:ext cx="2455863" cy="661988"/>
        </p:xfrm>
        <a:graphic>
          <a:graphicData uri="http://schemas.openxmlformats.org/presentationml/2006/ole">
            <p:oleObj spid="_x0000_s43010" name="Equation" r:id="rId4" imgW="1612800" imgH="431640" progId="Equation.3">
              <p:embed/>
            </p:oleObj>
          </a:graphicData>
        </a:graphic>
      </p:graphicFrame>
      <p:sp>
        <p:nvSpPr>
          <p:cNvPr id="43016" name="Rectangle 8"/>
          <p:cNvSpPr>
            <a:spLocks noGrp="1" noChangeArrowheads="1"/>
          </p:cNvSpPr>
          <p:nvPr>
            <p:ph type="title"/>
          </p:nvPr>
        </p:nvSpPr>
        <p:spPr/>
        <p:txBody>
          <a:bodyPr/>
          <a:lstStyle/>
          <a:p>
            <a:pPr eaLnBrk="1" hangingPunct="1"/>
            <a:r>
              <a:rPr lang="en-US" smtClean="0">
                <a:ea typeface="ＭＳ Ｐゴシック"/>
                <a:cs typeface="ＭＳ Ｐゴシック"/>
              </a:rPr>
              <a:t>Computation details</a:t>
            </a:r>
          </a:p>
        </p:txBody>
      </p:sp>
      <p:graphicFrame>
        <p:nvGraphicFramePr>
          <p:cNvPr id="43013" name="AutoShape 5"/>
          <p:cNvGraphicFramePr>
            <a:graphicFrameLocks noChangeAspect="1"/>
          </p:cNvGraphicFramePr>
          <p:nvPr/>
        </p:nvGraphicFramePr>
        <p:xfrm>
          <a:off x="1838325" y="2895600"/>
          <a:ext cx="5235575" cy="646113"/>
        </p:xfrm>
        <a:graphic>
          <a:graphicData uri="http://schemas.openxmlformats.org/presentationml/2006/ole">
            <p:oleObj spid="_x0000_s43013" name="Equation" r:id="rId5" imgW="0" imgH="0" progId="Equation.3">
              <p:embed/>
            </p:oleObj>
          </a:graphicData>
        </a:graphic>
      </p:graphicFrame>
      <p:graphicFrame>
        <p:nvGraphicFramePr>
          <p:cNvPr id="8" name="AutoShape 6"/>
          <p:cNvGraphicFramePr>
            <a:graphicFrameLocks noChangeAspect="1"/>
          </p:cNvGraphicFramePr>
          <p:nvPr/>
        </p:nvGraphicFramePr>
        <p:xfrm>
          <a:off x="1900238" y="5480050"/>
          <a:ext cx="4957762" cy="692150"/>
        </p:xfrm>
        <a:graphic>
          <a:graphicData uri="http://schemas.openxmlformats.org/presentationml/2006/ole">
            <p:oleObj spid="_x0000_s43014" name="Equation" r:id="rId6" imgW="0" imgH="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440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ChangeArrowheads="1"/>
          </p:cNvSpPr>
          <p:nvPr>
            <p:ph type="ctrTitle"/>
          </p:nvPr>
        </p:nvSpPr>
        <p:spPr/>
        <p:txBody>
          <a:bodyPr/>
          <a:lstStyle/>
          <a:p>
            <a:pPr eaLnBrk="1" hangingPunct="1"/>
            <a:r>
              <a:rPr lang="en-US" sz="3600" smtClean="0">
                <a:solidFill>
                  <a:srgbClr val="333399"/>
                </a:solidFill>
                <a:ea typeface="ＭＳ Ｐゴシック"/>
                <a:cs typeface="ＭＳ Ｐゴシック"/>
              </a:rPr>
              <a:t>One-Way ANOVA</a:t>
            </a:r>
            <a:r>
              <a:rPr lang="en-US" smtClean="0">
                <a:ea typeface="ＭＳ Ｐゴシック"/>
                <a:cs typeface="ＭＳ Ｐゴシック"/>
              </a:rPr>
              <a:t/>
            </a:r>
            <a:br>
              <a:rPr lang="en-US" smtClean="0">
                <a:ea typeface="ＭＳ Ｐゴシック"/>
                <a:cs typeface="ＭＳ Ｐゴシック"/>
              </a:rPr>
            </a:br>
            <a:r>
              <a:rPr lang="en-US" b="1" smtClean="0">
                <a:ea typeface="ＭＳ Ｐゴシック"/>
                <a:cs typeface="ＭＳ Ｐゴシック"/>
              </a:rPr>
              <a:t>12.2 Comparing the Means</a:t>
            </a:r>
          </a:p>
        </p:txBody>
      </p:sp>
      <p:sp>
        <p:nvSpPr>
          <p:cNvPr id="75778" name="Text Box 4"/>
          <p:cNvSpPr txBox="1">
            <a:spLocks noChangeArrowheads="1"/>
          </p:cNvSpPr>
          <p:nvPr/>
        </p:nvSpPr>
        <p:spPr bwMode="auto">
          <a:xfrm>
            <a:off x="5867400" y="6223000"/>
            <a:ext cx="3471863" cy="304800"/>
          </a:xfrm>
          <a:prstGeom prst="rect">
            <a:avLst/>
          </a:prstGeom>
          <a:noFill/>
          <a:ln w="9525">
            <a:noFill/>
            <a:miter lim="800000"/>
            <a:headEnd/>
            <a:tailEnd/>
          </a:ln>
        </p:spPr>
        <p:txBody>
          <a:bodyPr>
            <a:spAutoFit/>
          </a:bodyPr>
          <a:lstStyle/>
          <a:p>
            <a:r>
              <a:rPr lang="en-US" sz="1400" i="1">
                <a:solidFill>
                  <a:schemeClr val="bg2"/>
                </a:solidFill>
              </a:rPr>
              <a:t>© 2012 W.H. Freeman and Company</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ChangeArrowheads="1"/>
          </p:cNvSpPr>
          <p:nvPr>
            <p:ph type="title"/>
          </p:nvPr>
        </p:nvSpPr>
        <p:spPr/>
        <p:txBody>
          <a:bodyPr/>
          <a:lstStyle/>
          <a:p>
            <a:pPr eaLnBrk="1" hangingPunct="1"/>
            <a:r>
              <a:rPr lang="en-US" smtClean="0">
                <a:ea typeface="ＭＳ Ｐゴシック"/>
                <a:cs typeface="ＭＳ Ｐゴシック"/>
              </a:rPr>
              <a:t>Objectives</a:t>
            </a:r>
          </a:p>
        </p:txBody>
      </p:sp>
      <p:sp>
        <p:nvSpPr>
          <p:cNvPr id="77826" name="Rectangle 3"/>
          <p:cNvSpPr>
            <a:spLocks noGrp="1" noChangeArrowheads="1"/>
          </p:cNvSpPr>
          <p:nvPr>
            <p:ph type="body" idx="1"/>
          </p:nvPr>
        </p:nvSpPr>
        <p:spPr>
          <a:xfrm>
            <a:off x="457200" y="1447800"/>
            <a:ext cx="8229600" cy="5181600"/>
          </a:xfrm>
        </p:spPr>
        <p:txBody>
          <a:bodyPr/>
          <a:lstStyle/>
          <a:p>
            <a:pPr marL="381000" indent="-381000" eaLnBrk="1" hangingPunct="1">
              <a:lnSpc>
                <a:spcPct val="180000"/>
              </a:lnSpc>
              <a:buFont typeface="Times"/>
              <a:buNone/>
            </a:pPr>
            <a:r>
              <a:rPr lang="en-US" b="1" smtClean="0">
                <a:solidFill>
                  <a:srgbClr val="333399"/>
                </a:solidFill>
                <a:ea typeface="ＭＳ Ｐゴシック"/>
                <a:cs typeface="ＭＳ Ｐゴシック"/>
              </a:rPr>
              <a:t>12.2	Comparing the means</a:t>
            </a:r>
          </a:p>
          <a:p>
            <a:pPr marL="381000" indent="-381000" eaLnBrk="1" hangingPunct="1">
              <a:lnSpc>
                <a:spcPct val="180000"/>
              </a:lnSpc>
              <a:buClr>
                <a:srgbClr val="CC0000"/>
              </a:buClr>
              <a:buSzPct val="60000"/>
            </a:pPr>
            <a:r>
              <a:rPr lang="en-US" smtClean="0">
                <a:ea typeface="ＭＳ Ｐゴシック"/>
                <a:cs typeface="ＭＳ Ｐゴシック"/>
              </a:rPr>
              <a:t>Contrasts</a:t>
            </a:r>
          </a:p>
          <a:p>
            <a:pPr marL="381000" indent="-381000" eaLnBrk="1" hangingPunct="1">
              <a:lnSpc>
                <a:spcPct val="180000"/>
              </a:lnSpc>
              <a:buClr>
                <a:srgbClr val="CC0000"/>
              </a:buClr>
              <a:buSzPct val="60000"/>
            </a:pPr>
            <a:r>
              <a:rPr lang="en-US" smtClean="0">
                <a:ea typeface="ＭＳ Ｐゴシック"/>
                <a:cs typeface="ＭＳ Ｐゴシック"/>
              </a:rPr>
              <a:t>Multiple comparisons</a:t>
            </a:r>
          </a:p>
          <a:p>
            <a:pPr marL="381000" indent="-381000" eaLnBrk="1" hangingPunct="1">
              <a:lnSpc>
                <a:spcPct val="180000"/>
              </a:lnSpc>
              <a:buClr>
                <a:srgbClr val="CC0000"/>
              </a:buClr>
              <a:buSzPct val="60000"/>
            </a:pPr>
            <a:r>
              <a:rPr lang="en-US" smtClean="0">
                <a:ea typeface="ＭＳ Ｐゴシック"/>
                <a:cs typeface="ＭＳ Ｐゴシック"/>
              </a:rPr>
              <a:t>Power of the one-way ANOVA test</a:t>
            </a:r>
          </a:p>
          <a:p>
            <a:pPr marL="381000" indent="-381000" eaLnBrk="1" hangingPunct="1">
              <a:lnSpc>
                <a:spcPct val="180000"/>
              </a:lnSpc>
              <a:buClr>
                <a:srgbClr val="CC0000"/>
              </a:buClr>
              <a:buSzPct val="60000"/>
            </a:pPr>
            <a:endParaRPr lang="en-US" smtClean="0">
              <a:ea typeface="ＭＳ Ｐゴシック"/>
              <a:cs typeface="ＭＳ Ｐゴシック"/>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body" idx="1"/>
          </p:nvPr>
        </p:nvSpPr>
        <p:spPr>
          <a:xfrm>
            <a:off x="457200" y="685800"/>
            <a:ext cx="8229600" cy="5715000"/>
          </a:xfrm>
        </p:spPr>
        <p:txBody>
          <a:bodyPr/>
          <a:lstStyle/>
          <a:p>
            <a:pPr marL="0" indent="0" eaLnBrk="1" hangingPunct="1">
              <a:lnSpc>
                <a:spcPct val="140000"/>
              </a:lnSpc>
              <a:spcBef>
                <a:spcPct val="10000"/>
              </a:spcBef>
              <a:spcAft>
                <a:spcPct val="30000"/>
              </a:spcAft>
              <a:buFont typeface="Wingdings" pitchFamily="2" charset="2"/>
              <a:buNone/>
            </a:pPr>
            <a:r>
              <a:rPr lang="en-US" smtClean="0">
                <a:ea typeface="ＭＳ Ｐゴシック"/>
                <a:cs typeface="ＭＳ Ｐゴシック"/>
              </a:rPr>
              <a:t>You have calculated a p-value for your ANOVA test. Now what?  </a:t>
            </a:r>
          </a:p>
          <a:p>
            <a:pPr marL="0" indent="0" eaLnBrk="1" hangingPunct="1">
              <a:lnSpc>
                <a:spcPct val="140000"/>
              </a:lnSpc>
              <a:buFont typeface="Wingdings" pitchFamily="2" charset="2"/>
              <a:buNone/>
            </a:pPr>
            <a:endParaRPr lang="en-US" sz="1400" smtClean="0">
              <a:ea typeface="ＭＳ Ｐゴシック"/>
              <a:cs typeface="ＭＳ Ｐゴシック"/>
            </a:endParaRPr>
          </a:p>
          <a:p>
            <a:pPr marL="0" indent="0" eaLnBrk="1" hangingPunct="1">
              <a:lnSpc>
                <a:spcPct val="140000"/>
              </a:lnSpc>
              <a:spcAft>
                <a:spcPct val="65000"/>
              </a:spcAft>
              <a:buFont typeface="Wingdings" pitchFamily="2" charset="2"/>
              <a:buNone/>
            </a:pPr>
            <a:r>
              <a:rPr lang="en-US" smtClean="0">
                <a:ea typeface="ＭＳ Ｐゴシック"/>
                <a:cs typeface="ＭＳ Ｐゴシック"/>
              </a:rPr>
              <a:t>If you found a significant result, you still need to determine which treatments were different from which.</a:t>
            </a:r>
          </a:p>
          <a:p>
            <a:pPr marL="635000" lvl="1" indent="-290513" eaLnBrk="1" hangingPunct="1">
              <a:lnSpc>
                <a:spcPct val="140000"/>
              </a:lnSpc>
              <a:spcBef>
                <a:spcPct val="45000"/>
              </a:spcBef>
              <a:spcAft>
                <a:spcPct val="65000"/>
              </a:spcAft>
            </a:pPr>
            <a:r>
              <a:rPr lang="en-US" smtClean="0">
                <a:ea typeface="ＭＳ Ｐゴシック"/>
              </a:rPr>
              <a:t>You can gain insight by looking back at your plots (boxplot, mean ± </a:t>
            </a:r>
            <a:r>
              <a:rPr lang="en-US" i="1" smtClean="0">
                <a:ea typeface="ＭＳ Ｐゴシック"/>
              </a:rPr>
              <a:t>s</a:t>
            </a:r>
            <a:r>
              <a:rPr lang="en-US" smtClean="0">
                <a:ea typeface="ＭＳ Ｐゴシック"/>
              </a:rPr>
              <a:t>).</a:t>
            </a:r>
            <a:endParaRPr lang="en-US" baseline="-25000" smtClean="0">
              <a:ea typeface="ＭＳ Ｐゴシック"/>
            </a:endParaRPr>
          </a:p>
          <a:p>
            <a:pPr marL="635000" lvl="1" indent="-290513" eaLnBrk="1" hangingPunct="1">
              <a:lnSpc>
                <a:spcPct val="150000"/>
              </a:lnSpc>
              <a:spcAft>
                <a:spcPct val="65000"/>
              </a:spcAft>
            </a:pPr>
            <a:r>
              <a:rPr lang="en-US" smtClean="0">
                <a:ea typeface="ＭＳ Ｐゴシック"/>
              </a:rPr>
              <a:t>There are several tests of statistical significance designed specifically for multiple tests. You can choose </a:t>
            </a:r>
            <a:r>
              <a:rPr lang="en-US" i="1" smtClean="0">
                <a:ea typeface="ＭＳ Ｐゴシック"/>
              </a:rPr>
              <a:t>apriori</a:t>
            </a:r>
            <a:r>
              <a:rPr lang="en-US" b="1" smtClean="0">
                <a:solidFill>
                  <a:srgbClr val="333399"/>
                </a:solidFill>
                <a:ea typeface="ＭＳ Ｐゴシック"/>
              </a:rPr>
              <a:t>contrasts</a:t>
            </a:r>
            <a:r>
              <a:rPr lang="en-US" b="1" smtClean="0">
                <a:ea typeface="ＭＳ Ｐゴシック"/>
              </a:rPr>
              <a:t>,</a:t>
            </a:r>
            <a:r>
              <a:rPr lang="en-US" smtClean="0">
                <a:ea typeface="ＭＳ Ｐゴシック"/>
              </a:rPr>
              <a:t> or </a:t>
            </a:r>
            <a:r>
              <a:rPr lang="en-US" i="1" smtClean="0">
                <a:ea typeface="ＭＳ Ｐゴシック"/>
              </a:rPr>
              <a:t>aposteriori</a:t>
            </a:r>
            <a:r>
              <a:rPr lang="en-US" b="1" smtClean="0">
                <a:solidFill>
                  <a:srgbClr val="333399"/>
                </a:solidFill>
                <a:ea typeface="ＭＳ Ｐゴシック"/>
              </a:rPr>
              <a:t>multiple comparisons</a:t>
            </a:r>
            <a:r>
              <a:rPr lang="en-US" b="1" smtClean="0">
                <a:ea typeface="ＭＳ Ｐゴシック"/>
              </a:rPr>
              <a:t>.</a:t>
            </a:r>
          </a:p>
          <a:p>
            <a:pPr marL="635000" lvl="1" indent="-290513" eaLnBrk="1" hangingPunct="1">
              <a:lnSpc>
                <a:spcPct val="150000"/>
              </a:lnSpc>
              <a:spcAft>
                <a:spcPct val="65000"/>
              </a:spcAft>
            </a:pPr>
            <a:r>
              <a:rPr lang="en-US" smtClean="0">
                <a:ea typeface="ＭＳ Ｐゴシック"/>
              </a:rPr>
              <a:t>You can find the confidence interval for each mean </a:t>
            </a:r>
            <a:r>
              <a:rPr lang="en-US" i="1" smtClean="0">
                <a:latin typeface="Symbol" pitchFamily="18" charset="2"/>
                <a:ea typeface="ＭＳ Ｐゴシック"/>
              </a:rPr>
              <a:t>m</a:t>
            </a:r>
            <a:r>
              <a:rPr lang="en-US" i="1" baseline="-25000" smtClean="0">
                <a:ea typeface="ＭＳ Ｐゴシック"/>
              </a:rPr>
              <a:t>i</a:t>
            </a:r>
            <a:r>
              <a:rPr lang="en-US" smtClean="0">
                <a:ea typeface="ＭＳ Ｐゴシック"/>
              </a:rPr>
              <a:t> shown to be significantly different from the others</a:t>
            </a:r>
            <a:r>
              <a:rPr lang="en-US" sz="1600" smtClean="0">
                <a:ea typeface="ＭＳ Ｐゴシック"/>
              </a:rPr>
              <a:t>.</a:t>
            </a:r>
            <a:endParaRPr lang="en-US" sz="1600" baseline="-25000" smtClean="0">
              <a:ea typeface="ＭＳ Ｐゴシック"/>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99458">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299458">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29945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9458"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82" name="Rectangle 2"/>
          <p:cNvSpPr>
            <a:spLocks noChangeArrowheads="1"/>
          </p:cNvSpPr>
          <p:nvPr/>
        </p:nvSpPr>
        <p:spPr bwMode="auto">
          <a:xfrm>
            <a:off x="762000" y="4013200"/>
            <a:ext cx="7924800" cy="1371600"/>
          </a:xfrm>
          <a:prstGeom prst="rect">
            <a:avLst/>
          </a:prstGeom>
          <a:solidFill>
            <a:srgbClr val="FFCC66"/>
          </a:solidFill>
          <a:ln w="9525">
            <a:noFill/>
            <a:miter lim="800000"/>
            <a:headEnd/>
            <a:tailEnd/>
          </a:ln>
        </p:spPr>
        <p:txBody>
          <a:bodyPr wrap="none" anchor="ctr"/>
          <a:lstStyle/>
          <a:p>
            <a:endParaRPr lang="en-US" sz="1800"/>
          </a:p>
        </p:txBody>
      </p:sp>
      <p:sp>
        <p:nvSpPr>
          <p:cNvPr id="81922" name="Rectangle 3"/>
          <p:cNvSpPr>
            <a:spLocks noChangeArrowheads="1"/>
          </p:cNvSpPr>
          <p:nvPr/>
        </p:nvSpPr>
        <p:spPr bwMode="auto">
          <a:xfrm>
            <a:off x="762000" y="1905000"/>
            <a:ext cx="7924800" cy="965200"/>
          </a:xfrm>
          <a:prstGeom prst="rect">
            <a:avLst/>
          </a:prstGeom>
          <a:solidFill>
            <a:srgbClr val="FFCC66"/>
          </a:solidFill>
          <a:ln w="9525">
            <a:noFill/>
            <a:miter lim="800000"/>
            <a:headEnd/>
            <a:tailEnd/>
          </a:ln>
        </p:spPr>
        <p:txBody>
          <a:bodyPr wrap="none" anchor="ctr"/>
          <a:lstStyle/>
          <a:p>
            <a:endParaRPr lang="en-US" sz="1800"/>
          </a:p>
        </p:txBody>
      </p:sp>
      <p:sp>
        <p:nvSpPr>
          <p:cNvPr id="1300484" name="Rectangle 4"/>
          <p:cNvSpPr>
            <a:spLocks noGrp="1" noChangeArrowheads="1"/>
          </p:cNvSpPr>
          <p:nvPr>
            <p:ph type="body" idx="1"/>
          </p:nvPr>
        </p:nvSpPr>
        <p:spPr>
          <a:xfrm>
            <a:off x="457200" y="685800"/>
            <a:ext cx="8229600" cy="5791200"/>
          </a:xfrm>
        </p:spPr>
        <p:txBody>
          <a:bodyPr/>
          <a:lstStyle/>
          <a:p>
            <a:pPr marL="0" indent="0" eaLnBrk="1" hangingPunct="1">
              <a:lnSpc>
                <a:spcPct val="110000"/>
              </a:lnSpc>
            </a:pPr>
            <a:r>
              <a:rPr lang="en-US" b="1" smtClean="0">
                <a:solidFill>
                  <a:srgbClr val="333399"/>
                </a:solidFill>
                <a:ea typeface="ＭＳ Ｐゴシック"/>
                <a:cs typeface="ＭＳ Ｐゴシック"/>
              </a:rPr>
              <a:t>Contrasts</a:t>
            </a:r>
            <a:r>
              <a:rPr lang="en-US" smtClean="0">
                <a:ea typeface="ＭＳ Ｐゴシック"/>
                <a:cs typeface="ＭＳ Ｐゴシック"/>
              </a:rPr>
              <a:t> can be used only when there are clear expectations BEFORE starting an experiment, and these are reflected in the experimental design. Contrasts are </a:t>
            </a:r>
            <a:r>
              <a:rPr lang="en-US" b="1" smtClean="0">
                <a:solidFill>
                  <a:srgbClr val="333399"/>
                </a:solidFill>
                <a:ea typeface="ＭＳ Ｐゴシック"/>
                <a:cs typeface="ＭＳ Ｐゴシック"/>
              </a:rPr>
              <a:t>planned comparisons</a:t>
            </a:r>
            <a:r>
              <a:rPr lang="en-US" b="1" smtClean="0">
                <a:ea typeface="ＭＳ Ｐゴシック"/>
                <a:cs typeface="ＭＳ Ｐゴシック"/>
              </a:rPr>
              <a:t>.</a:t>
            </a:r>
          </a:p>
          <a:p>
            <a:pPr lvl="1" eaLnBrk="1" hangingPunct="1">
              <a:lnSpc>
                <a:spcPct val="110000"/>
              </a:lnSpc>
              <a:spcBef>
                <a:spcPct val="65000"/>
              </a:spcBef>
            </a:pPr>
            <a:r>
              <a:rPr lang="en-US" smtClean="0">
                <a:ea typeface="ＭＳ Ｐゴシック"/>
              </a:rPr>
              <a:t>Patients are given either drug A, drug B, or a placebo. The three treatments are not symmetrical. The placebo is meant to provide a baseline against which the other drugs can be compared. </a:t>
            </a:r>
          </a:p>
          <a:p>
            <a:pPr marL="0" indent="0" eaLnBrk="1" hangingPunct="1">
              <a:lnSpc>
                <a:spcPct val="110000"/>
              </a:lnSpc>
            </a:pPr>
            <a:endParaRPr lang="en-US" sz="1600" smtClean="0">
              <a:ea typeface="ＭＳ Ｐゴシック"/>
              <a:cs typeface="ＭＳ Ｐゴシック"/>
            </a:endParaRPr>
          </a:p>
          <a:p>
            <a:pPr marL="0" indent="0" eaLnBrk="1" hangingPunct="1">
              <a:lnSpc>
                <a:spcPct val="110000"/>
              </a:lnSpc>
            </a:pPr>
            <a:r>
              <a:rPr lang="en-US" b="1" smtClean="0">
                <a:solidFill>
                  <a:srgbClr val="333399"/>
                </a:solidFill>
                <a:ea typeface="ＭＳ Ｐゴシック"/>
                <a:cs typeface="ＭＳ Ｐゴシック"/>
              </a:rPr>
              <a:t>Multiple comparisons</a:t>
            </a:r>
            <a:r>
              <a:rPr lang="en-US" smtClean="0">
                <a:ea typeface="ＭＳ Ｐゴシック"/>
                <a:cs typeface="ＭＳ Ｐゴシック"/>
              </a:rPr>
              <a:t> should be used when there are no justified expectations. Those are </a:t>
            </a:r>
            <a:r>
              <a:rPr lang="en-US" i="1" smtClean="0">
                <a:ea typeface="ＭＳ Ｐゴシック"/>
                <a:cs typeface="ＭＳ Ｐゴシック"/>
              </a:rPr>
              <a:t>aposteriori</a:t>
            </a:r>
            <a:r>
              <a:rPr lang="en-US" smtClean="0">
                <a:ea typeface="ＭＳ Ｐゴシック"/>
                <a:cs typeface="ＭＳ Ｐゴシック"/>
              </a:rPr>
              <a:t>, </a:t>
            </a:r>
            <a:r>
              <a:rPr lang="en-US" b="1" smtClean="0">
                <a:solidFill>
                  <a:srgbClr val="333399"/>
                </a:solidFill>
                <a:ea typeface="ＭＳ Ｐゴシック"/>
                <a:cs typeface="ＭＳ Ｐゴシック"/>
              </a:rPr>
              <a:t>pair-wise tests</a:t>
            </a:r>
            <a:r>
              <a:rPr lang="en-US" smtClean="0">
                <a:ea typeface="ＭＳ Ｐゴシック"/>
                <a:cs typeface="ＭＳ Ｐゴシック"/>
              </a:rPr>
              <a:t> of significance. </a:t>
            </a:r>
          </a:p>
          <a:p>
            <a:pPr lvl="1" eaLnBrk="1" hangingPunct="1">
              <a:lnSpc>
                <a:spcPct val="110000"/>
              </a:lnSpc>
              <a:spcBef>
                <a:spcPct val="65000"/>
              </a:spcBef>
            </a:pPr>
            <a:r>
              <a:rPr lang="en-US" smtClean="0">
                <a:ea typeface="ＭＳ Ｐゴシック"/>
              </a:rPr>
              <a:t>We compare gas mileage for eight brands of SUVs. We have no prior knowledge to expect any brand to perform differently from the rest. Pair-wise comparisons should be performed here, but only if an ANOVA test on all eight brands reached statistical significance first.</a:t>
            </a:r>
          </a:p>
          <a:p>
            <a:pPr marL="0" indent="0" eaLnBrk="1" hangingPunct="1">
              <a:lnSpc>
                <a:spcPct val="110000"/>
              </a:lnSpc>
              <a:spcBef>
                <a:spcPct val="65000"/>
              </a:spcBef>
              <a:buFont typeface="Wingdings" pitchFamily="2" charset="2"/>
              <a:buNone/>
            </a:pPr>
            <a:endParaRPr lang="en-US" sz="800" smtClean="0">
              <a:ea typeface="ＭＳ Ｐゴシック"/>
              <a:cs typeface="ＭＳ Ｐゴシック"/>
            </a:endParaRPr>
          </a:p>
          <a:p>
            <a:pPr marL="0" indent="0" algn="ctr" eaLnBrk="1" hangingPunct="1">
              <a:lnSpc>
                <a:spcPct val="110000"/>
              </a:lnSpc>
              <a:spcBef>
                <a:spcPct val="65000"/>
              </a:spcBef>
              <a:buFont typeface="Wingdings" pitchFamily="2" charset="2"/>
              <a:buNone/>
            </a:pPr>
            <a:r>
              <a:rPr lang="en-US" b="1" smtClean="0">
                <a:solidFill>
                  <a:srgbClr val="CC0000"/>
                </a:solidFill>
                <a:ea typeface="ＭＳ Ｐゴシック"/>
                <a:cs typeface="ＭＳ Ｐゴシック"/>
              </a:rPr>
              <a:t>It is NOT appropriate to use a contrast test when suggested comparisons appear only after the data is collected.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48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00484">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004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0048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48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ChangeArrowheads="1"/>
          </p:cNvSpPr>
          <p:nvPr>
            <p:ph type="title"/>
          </p:nvPr>
        </p:nvSpPr>
        <p:spPr/>
        <p:txBody>
          <a:bodyPr/>
          <a:lstStyle/>
          <a:p>
            <a:pPr eaLnBrk="1" hangingPunct="1"/>
            <a:r>
              <a:rPr lang="en-US" smtClean="0">
                <a:ea typeface="ＭＳ Ｐゴシック"/>
                <a:cs typeface="ＭＳ Ｐゴシック"/>
              </a:rPr>
              <a:t>Contrasts: planned comparisons </a:t>
            </a:r>
          </a:p>
        </p:txBody>
      </p:sp>
      <p:sp>
        <p:nvSpPr>
          <p:cNvPr id="1301507" name="Rectangle 3"/>
          <p:cNvSpPr>
            <a:spLocks noGrp="1" noChangeArrowheads="1"/>
          </p:cNvSpPr>
          <p:nvPr>
            <p:ph type="body" idx="1"/>
          </p:nvPr>
        </p:nvSpPr>
        <p:spPr/>
        <p:txBody>
          <a:bodyPr/>
          <a:lstStyle/>
          <a:p>
            <a:pPr marL="0" indent="0" eaLnBrk="1" hangingPunct="1">
              <a:lnSpc>
                <a:spcPct val="150000"/>
              </a:lnSpc>
              <a:spcAft>
                <a:spcPct val="45000"/>
              </a:spcAft>
              <a:buFont typeface="Wingdings" pitchFamily="2" charset="2"/>
              <a:buNone/>
            </a:pPr>
            <a:r>
              <a:rPr lang="en-US" smtClean="0">
                <a:ea typeface="ＭＳ Ｐゴシック"/>
                <a:cs typeface="ＭＳ Ｐゴシック"/>
              </a:rPr>
              <a:t>When an experiment is designed to test a specific hypothesis that some treatments are different from other treatments, we can use contrasts to test for significant differences between these specific treatments.</a:t>
            </a:r>
          </a:p>
          <a:p>
            <a:pPr marL="635000" lvl="1" indent="-279400" eaLnBrk="1" hangingPunct="1">
              <a:lnSpc>
                <a:spcPct val="150000"/>
              </a:lnSpc>
              <a:spcBef>
                <a:spcPct val="50000"/>
              </a:spcBef>
              <a:spcAft>
                <a:spcPct val="45000"/>
              </a:spcAft>
            </a:pPr>
            <a:r>
              <a:rPr lang="en-US" smtClean="0">
                <a:ea typeface="ＭＳ Ｐゴシック"/>
              </a:rPr>
              <a:t>Contrasts are more powerful than multiple comparisons because they are more specific. They are more able to pick up a significant difference.</a:t>
            </a:r>
          </a:p>
          <a:p>
            <a:pPr marL="635000" lvl="1" indent="-279400" eaLnBrk="1" hangingPunct="1">
              <a:lnSpc>
                <a:spcPct val="150000"/>
              </a:lnSpc>
              <a:spcAft>
                <a:spcPct val="45000"/>
              </a:spcAft>
            </a:pPr>
            <a:r>
              <a:rPr lang="en-US" smtClean="0">
                <a:ea typeface="ＭＳ Ｐゴシック"/>
              </a:rPr>
              <a:t>You can use a </a:t>
            </a:r>
            <a:r>
              <a:rPr lang="en-US" i="1" smtClean="0">
                <a:ea typeface="ＭＳ Ｐゴシック"/>
              </a:rPr>
              <a:t>t</a:t>
            </a:r>
            <a:r>
              <a:rPr lang="en-US" smtClean="0">
                <a:ea typeface="ＭＳ Ｐゴシック"/>
              </a:rPr>
              <a:t>-test on the contrasts or calculate a </a:t>
            </a:r>
            <a:r>
              <a:rPr lang="en-US" i="1" smtClean="0">
                <a:ea typeface="ＭＳ Ｐゴシック"/>
              </a:rPr>
              <a:t>t-</a:t>
            </a:r>
            <a:r>
              <a:rPr lang="en-US" smtClean="0">
                <a:ea typeface="ＭＳ Ｐゴシック"/>
              </a:rPr>
              <a:t>confidence interval.</a:t>
            </a:r>
          </a:p>
          <a:p>
            <a:pPr marL="635000" lvl="1" indent="-279400" eaLnBrk="1" hangingPunct="1">
              <a:lnSpc>
                <a:spcPct val="150000"/>
              </a:lnSpc>
              <a:spcAft>
                <a:spcPct val="45000"/>
              </a:spcAft>
            </a:pPr>
            <a:r>
              <a:rPr lang="en-US" smtClean="0">
                <a:ea typeface="ＭＳ Ｐゴシック"/>
              </a:rPr>
              <a:t>The results are valid regardless of the results of your multiple sample ANOVA test (you are still testing a valid hypothesis).</a:t>
            </a:r>
            <a:endParaRPr lang="en-US" sz="1600" smtClean="0">
              <a:ea typeface="ＭＳ Ｐゴシック"/>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150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0150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015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9" name="Rectangle 2"/>
          <p:cNvSpPr>
            <a:spLocks noGrp="1" noChangeArrowheads="1"/>
          </p:cNvSpPr>
          <p:nvPr>
            <p:ph type="body" sz="half" idx="1"/>
          </p:nvPr>
        </p:nvSpPr>
        <p:spPr>
          <a:xfrm>
            <a:off x="381000" y="533400"/>
            <a:ext cx="4191000" cy="6096000"/>
          </a:xfrm>
        </p:spPr>
        <p:txBody>
          <a:bodyPr/>
          <a:lstStyle/>
          <a:p>
            <a:pPr marL="0" indent="0" eaLnBrk="1" hangingPunct="1">
              <a:lnSpc>
                <a:spcPct val="130000"/>
              </a:lnSpc>
              <a:buFont typeface="Wingdings" pitchFamily="2" charset="2"/>
              <a:buNone/>
            </a:pPr>
            <a:r>
              <a:rPr lang="en-US" sz="1800" smtClean="0">
                <a:ea typeface="ＭＳ Ｐゴシック"/>
                <a:cs typeface="ＭＳ Ｐゴシック"/>
              </a:rPr>
              <a:t>A contrast is a combination of population means of the form :</a:t>
            </a:r>
          </a:p>
          <a:p>
            <a:pPr marL="0" indent="0" eaLnBrk="1" hangingPunct="1">
              <a:lnSpc>
                <a:spcPct val="130000"/>
              </a:lnSpc>
              <a:buFont typeface="Wingdings" pitchFamily="2" charset="2"/>
              <a:buNone/>
            </a:pPr>
            <a:endParaRPr lang="en-US" sz="1400" smtClean="0">
              <a:ea typeface="ＭＳ Ｐゴシック"/>
              <a:cs typeface="ＭＳ Ｐゴシック"/>
            </a:endParaRPr>
          </a:p>
          <a:p>
            <a:pPr marL="0" indent="0" eaLnBrk="1" hangingPunct="1">
              <a:lnSpc>
                <a:spcPct val="130000"/>
              </a:lnSpc>
              <a:buFont typeface="Wingdings" pitchFamily="2" charset="2"/>
              <a:buNone/>
            </a:pPr>
            <a:endParaRPr lang="en-US" sz="1400" smtClean="0">
              <a:ea typeface="ＭＳ Ｐゴシック"/>
              <a:cs typeface="ＭＳ Ｐゴシック"/>
            </a:endParaRPr>
          </a:p>
          <a:p>
            <a:pPr marL="0" indent="0" eaLnBrk="1" hangingPunct="1">
              <a:lnSpc>
                <a:spcPct val="130000"/>
              </a:lnSpc>
              <a:buFont typeface="Wingdings" pitchFamily="2" charset="2"/>
              <a:buNone/>
            </a:pPr>
            <a:endParaRPr lang="en-US" sz="1000" smtClean="0">
              <a:ea typeface="ＭＳ Ｐゴシック"/>
              <a:cs typeface="ＭＳ Ｐゴシック"/>
            </a:endParaRPr>
          </a:p>
          <a:p>
            <a:pPr marL="0" indent="0" eaLnBrk="1" hangingPunct="1">
              <a:lnSpc>
                <a:spcPct val="130000"/>
              </a:lnSpc>
              <a:buFont typeface="Wingdings" pitchFamily="2" charset="2"/>
              <a:buNone/>
            </a:pPr>
            <a:r>
              <a:rPr lang="en-US" sz="1800" smtClean="0">
                <a:ea typeface="ＭＳ Ｐゴシック"/>
                <a:cs typeface="ＭＳ Ｐゴシック"/>
              </a:rPr>
              <a:t>Where the coefficients </a:t>
            </a:r>
            <a:r>
              <a:rPr lang="en-US" sz="1800" i="1" smtClean="0">
                <a:ea typeface="ＭＳ Ｐゴシック"/>
                <a:cs typeface="ＭＳ Ｐゴシック"/>
              </a:rPr>
              <a:t>a</a:t>
            </a:r>
            <a:r>
              <a:rPr lang="en-US" sz="1800" i="1" baseline="-25000" smtClean="0">
                <a:ea typeface="ＭＳ Ｐゴシック"/>
                <a:cs typeface="ＭＳ Ｐゴシック"/>
              </a:rPr>
              <a:t>i</a:t>
            </a:r>
            <a:r>
              <a:rPr lang="en-US" sz="1800" smtClean="0">
                <a:ea typeface="ＭＳ Ｐゴシック"/>
                <a:cs typeface="ＭＳ Ｐゴシック"/>
              </a:rPr>
              <a:t> have sum 0. </a:t>
            </a:r>
          </a:p>
          <a:p>
            <a:pPr marL="0" indent="0" eaLnBrk="1" hangingPunct="1">
              <a:lnSpc>
                <a:spcPct val="130000"/>
              </a:lnSpc>
              <a:buFont typeface="Wingdings" pitchFamily="2" charset="2"/>
              <a:buNone/>
            </a:pPr>
            <a:endParaRPr lang="en-US" sz="1800" smtClean="0">
              <a:ea typeface="ＭＳ Ｐゴシック"/>
              <a:cs typeface="ＭＳ Ｐゴシック"/>
            </a:endParaRPr>
          </a:p>
          <a:p>
            <a:pPr marL="0" indent="0" eaLnBrk="1" hangingPunct="1">
              <a:lnSpc>
                <a:spcPct val="130000"/>
              </a:lnSpc>
              <a:buFont typeface="Wingdings" pitchFamily="2" charset="2"/>
              <a:buNone/>
            </a:pPr>
            <a:r>
              <a:rPr lang="en-US" sz="1800" smtClean="0">
                <a:ea typeface="ＭＳ Ｐゴシック"/>
                <a:cs typeface="ＭＳ Ｐゴシック"/>
              </a:rPr>
              <a:t>The corresponding sample contrast is :</a:t>
            </a:r>
          </a:p>
          <a:p>
            <a:pPr marL="0" indent="0" eaLnBrk="1" hangingPunct="1">
              <a:lnSpc>
                <a:spcPct val="130000"/>
              </a:lnSpc>
              <a:buFont typeface="Wingdings" pitchFamily="2" charset="2"/>
              <a:buNone/>
            </a:pPr>
            <a:endParaRPr lang="en-US" sz="1800" smtClean="0">
              <a:ea typeface="ＭＳ Ｐゴシック"/>
              <a:cs typeface="ＭＳ Ｐゴシック"/>
            </a:endParaRPr>
          </a:p>
          <a:p>
            <a:pPr marL="0" indent="0" eaLnBrk="1" hangingPunct="1">
              <a:lnSpc>
                <a:spcPct val="130000"/>
              </a:lnSpc>
              <a:buFont typeface="Wingdings" pitchFamily="2" charset="2"/>
              <a:buNone/>
            </a:pPr>
            <a:endParaRPr lang="en-US" sz="1800" smtClean="0">
              <a:ea typeface="ＭＳ Ｐゴシック"/>
              <a:cs typeface="ＭＳ Ｐゴシック"/>
            </a:endParaRPr>
          </a:p>
          <a:p>
            <a:pPr marL="0" indent="0" eaLnBrk="1" hangingPunct="1">
              <a:lnSpc>
                <a:spcPct val="130000"/>
              </a:lnSpc>
              <a:buFont typeface="Wingdings" pitchFamily="2" charset="2"/>
              <a:buNone/>
            </a:pPr>
            <a:r>
              <a:rPr lang="en-US" sz="1800" smtClean="0">
                <a:ea typeface="ＭＳ Ｐゴシック"/>
                <a:cs typeface="ＭＳ Ｐゴシック"/>
              </a:rPr>
              <a:t>The standard error of </a:t>
            </a:r>
            <a:r>
              <a:rPr lang="en-US" sz="1800" i="1" smtClean="0">
                <a:ea typeface="ＭＳ Ｐゴシック"/>
                <a:cs typeface="ＭＳ Ｐゴシック"/>
              </a:rPr>
              <a:t>c</a:t>
            </a:r>
            <a:r>
              <a:rPr lang="en-US" sz="1800" smtClean="0">
                <a:ea typeface="ＭＳ Ｐゴシック"/>
                <a:cs typeface="ＭＳ Ｐゴシック"/>
              </a:rPr>
              <a:t> is :</a:t>
            </a:r>
          </a:p>
        </p:txBody>
      </p:sp>
      <p:graphicFrame>
        <p:nvGraphicFramePr>
          <p:cNvPr id="49154" name="Object 2"/>
          <p:cNvGraphicFramePr>
            <a:graphicFrameLocks noChangeAspect="1"/>
          </p:cNvGraphicFramePr>
          <p:nvPr>
            <p:ph sz="quarter" idx="2"/>
          </p:nvPr>
        </p:nvGraphicFramePr>
        <p:xfrm>
          <a:off x="1371600" y="1412875"/>
          <a:ext cx="1447800" cy="492125"/>
        </p:xfrm>
        <a:graphic>
          <a:graphicData uri="http://schemas.openxmlformats.org/presentationml/2006/ole">
            <p:oleObj spid="_x0000_s49154" name="Equation" r:id="rId4" imgW="723600" imgH="253800" progId="Equation.3">
              <p:embed/>
            </p:oleObj>
          </a:graphicData>
        </a:graphic>
      </p:graphicFrame>
      <p:graphicFrame>
        <p:nvGraphicFramePr>
          <p:cNvPr id="49155" name="Object 3"/>
          <p:cNvGraphicFramePr>
            <a:graphicFrameLocks noChangeAspect="1"/>
          </p:cNvGraphicFramePr>
          <p:nvPr>
            <p:ph sz="quarter" idx="3"/>
          </p:nvPr>
        </p:nvGraphicFramePr>
        <p:xfrm>
          <a:off x="1447800" y="3505200"/>
          <a:ext cx="1371600" cy="515938"/>
        </p:xfrm>
        <a:graphic>
          <a:graphicData uri="http://schemas.openxmlformats.org/presentationml/2006/ole">
            <p:oleObj spid="_x0000_s49155" name="Equation" r:id="rId5" imgW="660240" imgH="253800" progId="Equation.3">
              <p:embed/>
            </p:oleObj>
          </a:graphicData>
        </a:graphic>
      </p:graphicFrame>
      <p:graphicFrame>
        <p:nvGraphicFramePr>
          <p:cNvPr id="49156" name="Object 4"/>
          <p:cNvGraphicFramePr>
            <a:graphicFrameLocks noChangeAspect="1"/>
          </p:cNvGraphicFramePr>
          <p:nvPr/>
        </p:nvGraphicFramePr>
        <p:xfrm>
          <a:off x="5715000" y="1371600"/>
          <a:ext cx="1447800" cy="542925"/>
        </p:xfrm>
        <a:graphic>
          <a:graphicData uri="http://schemas.openxmlformats.org/presentationml/2006/ole">
            <p:oleObj spid="_x0000_s49156" name="Equation" r:id="rId6" imgW="609480" imgH="228600" progId="Equation.3">
              <p:embed/>
            </p:oleObj>
          </a:graphicData>
        </a:graphic>
      </p:graphicFrame>
      <p:graphicFrame>
        <p:nvGraphicFramePr>
          <p:cNvPr id="49157" name="Object 5"/>
          <p:cNvGraphicFramePr>
            <a:graphicFrameLocks noChangeAspect="1"/>
          </p:cNvGraphicFramePr>
          <p:nvPr/>
        </p:nvGraphicFramePr>
        <p:xfrm>
          <a:off x="533400" y="4800600"/>
          <a:ext cx="3429000" cy="857250"/>
        </p:xfrm>
        <a:graphic>
          <a:graphicData uri="http://schemas.openxmlformats.org/presentationml/2006/ole">
            <p:oleObj spid="_x0000_s49157" name="Equation" r:id="rId7" imgW="1981080" imgH="495000" progId="Equation.3">
              <p:embed/>
            </p:oleObj>
          </a:graphicData>
        </a:graphic>
      </p:graphicFrame>
      <p:sp>
        <p:nvSpPr>
          <p:cNvPr id="49160" name="Rectangle 7"/>
          <p:cNvSpPr>
            <a:spLocks noChangeArrowheads="1"/>
          </p:cNvSpPr>
          <p:nvPr/>
        </p:nvSpPr>
        <p:spPr bwMode="auto">
          <a:xfrm>
            <a:off x="4724400" y="533400"/>
            <a:ext cx="3962400" cy="2667000"/>
          </a:xfrm>
          <a:prstGeom prst="rect">
            <a:avLst/>
          </a:prstGeom>
          <a:noFill/>
          <a:ln w="38100" cmpd="dbl">
            <a:solidFill>
              <a:srgbClr val="CC0000"/>
            </a:solidFill>
            <a:miter lim="800000"/>
            <a:headEnd/>
            <a:tailEnd/>
          </a:ln>
        </p:spPr>
        <p:txBody>
          <a:bodyPr/>
          <a:lstStyle/>
          <a:p>
            <a:pPr>
              <a:spcBef>
                <a:spcPct val="20000"/>
              </a:spcBef>
              <a:buClr>
                <a:srgbClr val="00CC99"/>
              </a:buClr>
              <a:buSzPct val="65000"/>
              <a:buFont typeface="Wingdings" pitchFamily="2" charset="2"/>
              <a:buNone/>
            </a:pPr>
            <a:r>
              <a:rPr lang="en-US" sz="1800" b="1"/>
              <a:t>To test the null hypothesis </a:t>
            </a:r>
            <a:br>
              <a:rPr lang="en-US" sz="1800" b="1"/>
            </a:br>
            <a:r>
              <a:rPr lang="en-US" sz="1800" b="1" i="1"/>
              <a:t>H</a:t>
            </a:r>
            <a:r>
              <a:rPr lang="en-US" sz="1800" b="1" baseline="-25000"/>
              <a:t>0</a:t>
            </a:r>
            <a:r>
              <a:rPr lang="en-US" sz="1800" b="1"/>
              <a:t>: </a:t>
            </a:r>
            <a:r>
              <a:rPr lang="en-US" sz="1800" b="1" i="1">
                <a:latin typeface="Symbol" pitchFamily="18" charset="2"/>
              </a:rPr>
              <a:t>y</a:t>
            </a:r>
            <a:r>
              <a:rPr lang="en-US" sz="1800" b="1"/>
              <a:t> = 0 use the </a:t>
            </a:r>
            <a:r>
              <a:rPr lang="en-US" sz="1800" b="1" i="1"/>
              <a:t>t-</a:t>
            </a:r>
            <a:r>
              <a:rPr lang="en-US" sz="1800" b="1"/>
              <a:t>statistic:</a:t>
            </a:r>
          </a:p>
          <a:p>
            <a:pPr>
              <a:spcBef>
                <a:spcPct val="20000"/>
              </a:spcBef>
              <a:buClr>
                <a:srgbClr val="00CC99"/>
              </a:buClr>
              <a:buSzPct val="65000"/>
              <a:buFont typeface="Wingdings" pitchFamily="2" charset="2"/>
              <a:buNone/>
            </a:pPr>
            <a:endParaRPr lang="en-US" sz="1800"/>
          </a:p>
          <a:p>
            <a:pPr>
              <a:spcBef>
                <a:spcPct val="20000"/>
              </a:spcBef>
              <a:buClr>
                <a:srgbClr val="00CC99"/>
              </a:buClr>
              <a:buSzPct val="65000"/>
              <a:buFont typeface="Wingdings" pitchFamily="2" charset="2"/>
              <a:buNone/>
            </a:pPr>
            <a:endParaRPr lang="en-US" sz="1800"/>
          </a:p>
          <a:p>
            <a:pPr>
              <a:spcBef>
                <a:spcPct val="20000"/>
              </a:spcBef>
              <a:buClr>
                <a:srgbClr val="00CC99"/>
              </a:buClr>
              <a:buSzPct val="65000"/>
              <a:buFont typeface="Wingdings" pitchFamily="2" charset="2"/>
              <a:buNone/>
            </a:pPr>
            <a:endParaRPr lang="en-US" sz="1800"/>
          </a:p>
          <a:p>
            <a:pPr>
              <a:spcBef>
                <a:spcPct val="20000"/>
              </a:spcBef>
              <a:buClr>
                <a:srgbClr val="00CC99"/>
              </a:buClr>
              <a:buSzPct val="65000"/>
              <a:buFont typeface="Wingdings" pitchFamily="2" charset="2"/>
              <a:buNone/>
            </a:pPr>
            <a:r>
              <a:rPr lang="en-US" sz="1800"/>
              <a:t>With degrees of freedom </a:t>
            </a:r>
            <a:r>
              <a:rPr lang="en-US" sz="1800" b="1"/>
              <a:t>DFE</a:t>
            </a:r>
            <a:r>
              <a:rPr lang="en-US" sz="1800"/>
              <a:t> that is associated with </a:t>
            </a:r>
            <a:r>
              <a:rPr lang="en-US" sz="1800" i="1"/>
              <a:t>sp</a:t>
            </a:r>
            <a:r>
              <a:rPr lang="en-US" sz="1800"/>
              <a:t>. The alternative hypothesis can be one- or two-sided.</a:t>
            </a:r>
          </a:p>
        </p:txBody>
      </p:sp>
      <p:graphicFrame>
        <p:nvGraphicFramePr>
          <p:cNvPr id="49158" name="Object 6"/>
          <p:cNvGraphicFramePr>
            <a:graphicFrameLocks noChangeAspect="1"/>
          </p:cNvGraphicFramePr>
          <p:nvPr/>
        </p:nvGraphicFramePr>
        <p:xfrm>
          <a:off x="5715000" y="4376738"/>
          <a:ext cx="1568450" cy="576262"/>
        </p:xfrm>
        <a:graphic>
          <a:graphicData uri="http://schemas.openxmlformats.org/presentationml/2006/ole">
            <p:oleObj spid="_x0000_s49158" name="Equation" r:id="rId8" imgW="622080" imgH="228600" progId="Equation.3">
              <p:embed/>
            </p:oleObj>
          </a:graphicData>
        </a:graphic>
      </p:graphicFrame>
      <p:sp>
        <p:nvSpPr>
          <p:cNvPr id="49161" name="Rectangle 9"/>
          <p:cNvSpPr>
            <a:spLocks noChangeArrowheads="1"/>
          </p:cNvSpPr>
          <p:nvPr/>
        </p:nvSpPr>
        <p:spPr bwMode="auto">
          <a:xfrm>
            <a:off x="4724400" y="3581400"/>
            <a:ext cx="3962400" cy="2667000"/>
          </a:xfrm>
          <a:prstGeom prst="rect">
            <a:avLst/>
          </a:prstGeom>
          <a:noFill/>
          <a:ln w="38100" cmpd="dbl">
            <a:solidFill>
              <a:srgbClr val="CC0000"/>
            </a:solidFill>
            <a:miter lim="800000"/>
            <a:headEnd/>
            <a:tailEnd/>
          </a:ln>
        </p:spPr>
        <p:txBody>
          <a:bodyPr/>
          <a:lstStyle/>
          <a:p>
            <a:pPr>
              <a:spcBef>
                <a:spcPct val="20000"/>
              </a:spcBef>
              <a:buClr>
                <a:srgbClr val="00CC99"/>
              </a:buClr>
              <a:buSzPct val="65000"/>
              <a:buFont typeface="Wingdings" pitchFamily="2" charset="2"/>
              <a:buNone/>
            </a:pPr>
            <a:r>
              <a:rPr lang="en-US" sz="1800" b="1"/>
              <a:t>A level </a:t>
            </a:r>
            <a:r>
              <a:rPr lang="en-US" sz="1800" b="1" i="1"/>
              <a:t>C</a:t>
            </a:r>
            <a:r>
              <a:rPr lang="en-US" sz="1800" b="1"/>
              <a:t> confidence interval for the difference </a:t>
            </a:r>
            <a:r>
              <a:rPr lang="en-US" sz="1800" b="1" i="1">
                <a:latin typeface="Symbol" pitchFamily="18" charset="2"/>
              </a:rPr>
              <a:t>y</a:t>
            </a:r>
            <a:r>
              <a:rPr lang="en-US" sz="1800" b="1"/>
              <a:t> is :</a:t>
            </a:r>
          </a:p>
          <a:p>
            <a:pPr>
              <a:spcBef>
                <a:spcPct val="20000"/>
              </a:spcBef>
              <a:buClr>
                <a:srgbClr val="00CC99"/>
              </a:buClr>
              <a:buSzPct val="65000"/>
              <a:buFont typeface="Wingdings" pitchFamily="2" charset="2"/>
              <a:buNone/>
            </a:pPr>
            <a:endParaRPr lang="en-US" sz="1800" b="1"/>
          </a:p>
          <a:p>
            <a:pPr>
              <a:spcBef>
                <a:spcPct val="20000"/>
              </a:spcBef>
              <a:buClr>
                <a:srgbClr val="00CC99"/>
              </a:buClr>
              <a:buSzPct val="65000"/>
              <a:buFont typeface="Wingdings" pitchFamily="2" charset="2"/>
              <a:buNone/>
            </a:pPr>
            <a:endParaRPr lang="en-US" sz="1800"/>
          </a:p>
          <a:p>
            <a:pPr>
              <a:spcBef>
                <a:spcPct val="20000"/>
              </a:spcBef>
              <a:buClr>
                <a:srgbClr val="00CC99"/>
              </a:buClr>
              <a:buSzPct val="65000"/>
              <a:buFont typeface="Wingdings" pitchFamily="2" charset="2"/>
              <a:buNone/>
            </a:pPr>
            <a:endParaRPr lang="en-US" sz="1800"/>
          </a:p>
          <a:p>
            <a:pPr>
              <a:spcBef>
                <a:spcPct val="20000"/>
              </a:spcBef>
              <a:buClr>
                <a:srgbClr val="00CC99"/>
              </a:buClr>
              <a:buSzPct val="65000"/>
              <a:buFont typeface="Wingdings" pitchFamily="2" charset="2"/>
              <a:buNone/>
            </a:pPr>
            <a:r>
              <a:rPr lang="en-US" sz="1800"/>
              <a:t>Where </a:t>
            </a:r>
            <a:r>
              <a:rPr lang="en-US" sz="1800" i="1"/>
              <a:t>t</a:t>
            </a:r>
            <a:r>
              <a:rPr lang="en-US" sz="1800"/>
              <a:t>* is the critical value defining the middle </a:t>
            </a:r>
            <a:r>
              <a:rPr lang="en-US" sz="1800" i="1"/>
              <a:t>C</a:t>
            </a:r>
            <a:r>
              <a:rPr lang="en-US" sz="1800"/>
              <a:t>% of the </a:t>
            </a:r>
            <a:r>
              <a:rPr lang="en-US" sz="1800" i="1"/>
              <a:t>t</a:t>
            </a:r>
            <a:r>
              <a:rPr lang="en-US" sz="1800"/>
              <a:t> distribution with </a:t>
            </a:r>
            <a:r>
              <a:rPr lang="en-US" sz="1800" b="1"/>
              <a:t>DFE</a:t>
            </a:r>
            <a:r>
              <a:rPr lang="en-US" sz="1800"/>
              <a:t> degrees of freedom.</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noChangeArrowheads="1"/>
          </p:cNvSpPr>
          <p:nvPr>
            <p:ph type="body" idx="1"/>
          </p:nvPr>
        </p:nvSpPr>
        <p:spPr>
          <a:xfrm>
            <a:off x="457200" y="685800"/>
            <a:ext cx="8229600" cy="5638800"/>
          </a:xfrm>
        </p:spPr>
        <p:txBody>
          <a:bodyPr/>
          <a:lstStyle/>
          <a:p>
            <a:pPr marL="0" indent="0" eaLnBrk="1" hangingPunct="1">
              <a:lnSpc>
                <a:spcPct val="170000"/>
              </a:lnSpc>
              <a:buFont typeface="Wingdings" pitchFamily="2" charset="2"/>
              <a:buNone/>
            </a:pPr>
            <a:r>
              <a:rPr lang="en-US" smtClean="0">
                <a:ea typeface="ＭＳ Ｐゴシック"/>
                <a:cs typeface="ＭＳ Ｐゴシック"/>
              </a:rPr>
              <a:t>Contrasts are not always readily available in statistical software packages (when they are, you need to assign the coefficients “</a:t>
            </a:r>
            <a:r>
              <a:rPr lang="en-US" i="1" smtClean="0">
                <a:ea typeface="ＭＳ Ｐゴシック"/>
                <a:cs typeface="ＭＳ Ｐゴシック"/>
              </a:rPr>
              <a:t>a</a:t>
            </a:r>
            <a:r>
              <a:rPr lang="en-US" i="1" baseline="-25000" smtClean="0">
                <a:ea typeface="ＭＳ Ｐゴシック"/>
                <a:cs typeface="ＭＳ Ｐゴシック"/>
              </a:rPr>
              <a:t>i</a:t>
            </a:r>
            <a:r>
              <a:rPr lang="en-US" smtClean="0">
                <a:ea typeface="ＭＳ Ｐゴシック"/>
                <a:cs typeface="ＭＳ Ｐゴシック"/>
              </a:rPr>
              <a:t>”), or may be limited to comparing each sample to a control.</a:t>
            </a:r>
          </a:p>
          <a:p>
            <a:pPr marL="0" indent="0" eaLnBrk="1" hangingPunct="1">
              <a:lnSpc>
                <a:spcPct val="170000"/>
              </a:lnSpc>
              <a:buFont typeface="Wingdings" pitchFamily="2" charset="2"/>
              <a:buNone/>
            </a:pPr>
            <a:endParaRPr lang="en-US" smtClean="0">
              <a:ea typeface="ＭＳ Ｐゴシック"/>
              <a:cs typeface="ＭＳ Ｐゴシック"/>
            </a:endParaRPr>
          </a:p>
          <a:p>
            <a:pPr marL="0" indent="0" eaLnBrk="1" hangingPunct="1">
              <a:lnSpc>
                <a:spcPct val="170000"/>
              </a:lnSpc>
              <a:buFont typeface="Wingdings" pitchFamily="2" charset="2"/>
              <a:buNone/>
            </a:pPr>
            <a:r>
              <a:rPr lang="en-US" smtClean="0">
                <a:ea typeface="ＭＳ Ｐゴシック"/>
                <a:cs typeface="ＭＳ Ｐゴシック"/>
              </a:rPr>
              <a:t>If your software doesn’t provide an option for contrasts, you can test your contrast hypothesis with a regular </a:t>
            </a:r>
            <a:r>
              <a:rPr lang="en-US" i="1" smtClean="0">
                <a:ea typeface="ＭＳ Ｐゴシック"/>
                <a:cs typeface="ＭＳ Ｐゴシック"/>
              </a:rPr>
              <a:t>t</a:t>
            </a:r>
            <a:r>
              <a:rPr lang="en-US" smtClean="0">
                <a:ea typeface="ＭＳ Ｐゴシック"/>
                <a:cs typeface="ＭＳ Ｐゴシック"/>
              </a:rPr>
              <a:t>-test using the formulas we just highlighted. Remember to use the pooled variance and degrees of freedom as they reflect your better estimate of the population variance. Then you can look up your </a:t>
            </a:r>
            <a:r>
              <a:rPr lang="en-US" i="1" smtClean="0">
                <a:ea typeface="ＭＳ Ｐゴシック"/>
                <a:cs typeface="ＭＳ Ｐゴシック"/>
              </a:rPr>
              <a:t>p</a:t>
            </a:r>
            <a:r>
              <a:rPr lang="en-US" smtClean="0">
                <a:ea typeface="ＭＳ Ｐゴシック"/>
                <a:cs typeface="ＭＳ Ｐゴシック"/>
              </a:rPr>
              <a:t>-value in a table of </a:t>
            </a:r>
            <a:r>
              <a:rPr lang="en-US" i="1" smtClean="0">
                <a:ea typeface="ＭＳ Ｐゴシック"/>
                <a:cs typeface="ＭＳ Ｐゴシック"/>
              </a:rPr>
              <a:t>t</a:t>
            </a:r>
            <a:r>
              <a:rPr lang="en-US" smtClean="0">
                <a:ea typeface="ＭＳ Ｐゴシック"/>
                <a:cs typeface="ＭＳ Ｐゴシック"/>
              </a:rPr>
              <a:t>-distribution.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ext Box 2"/>
          <p:cNvSpPr txBox="1">
            <a:spLocks noChangeArrowheads="1"/>
          </p:cNvSpPr>
          <p:nvPr/>
        </p:nvSpPr>
        <p:spPr bwMode="auto">
          <a:xfrm>
            <a:off x="441325" y="685800"/>
            <a:ext cx="5959475" cy="1743075"/>
          </a:xfrm>
          <a:prstGeom prst="rect">
            <a:avLst/>
          </a:prstGeom>
          <a:noFill/>
          <a:ln w="9525">
            <a:noFill/>
            <a:miter lim="800000"/>
            <a:headEnd/>
            <a:tailEnd/>
          </a:ln>
        </p:spPr>
        <p:txBody>
          <a:bodyPr>
            <a:spAutoFit/>
          </a:bodyPr>
          <a:lstStyle/>
          <a:p>
            <a:pPr>
              <a:lnSpc>
                <a:spcPct val="150000"/>
              </a:lnSpc>
            </a:pPr>
            <a:r>
              <a:rPr lang="en-US" sz="1800"/>
              <a:t>Do nematodes affect plant growth? A botanist prepares 16 identical planting pots and adds different numbers of nematodes into the pots. Seedling growth </a:t>
            </a:r>
            <a:br>
              <a:rPr lang="en-US" sz="1800"/>
            </a:br>
            <a:r>
              <a:rPr lang="en-US" sz="1800"/>
              <a:t>(in mm) is recorded two weeks later.</a:t>
            </a:r>
          </a:p>
        </p:txBody>
      </p:sp>
      <p:sp>
        <p:nvSpPr>
          <p:cNvPr id="51204" name="Rectangle 3"/>
          <p:cNvSpPr>
            <a:spLocks noGrp="1" noChangeArrowheads="1"/>
          </p:cNvSpPr>
          <p:nvPr>
            <p:ph type="title"/>
          </p:nvPr>
        </p:nvSpPr>
        <p:spPr/>
        <p:txBody>
          <a:bodyPr/>
          <a:lstStyle/>
          <a:p>
            <a:pPr eaLnBrk="1" hangingPunct="1"/>
            <a:r>
              <a:rPr lang="en-US" sz="2400" b="1" smtClean="0">
                <a:solidFill>
                  <a:srgbClr val="333399"/>
                </a:solidFill>
                <a:ea typeface="ＭＳ Ｐゴシック"/>
                <a:cs typeface="ＭＳ Ｐゴシック"/>
              </a:rPr>
              <a:t>Nematodes and plant growth</a:t>
            </a:r>
          </a:p>
        </p:txBody>
      </p:sp>
      <p:pic>
        <p:nvPicPr>
          <p:cNvPr id="51205" name="Picture 4"/>
          <p:cNvPicPr>
            <a:picLocks noChangeAspect="1" noChangeArrowheads="1"/>
          </p:cNvPicPr>
          <p:nvPr/>
        </p:nvPicPr>
        <p:blipFill>
          <a:blip r:embed="rId4"/>
          <a:srcRect l="14572" t="15215" r="1071" b="10286"/>
          <a:stretch>
            <a:fillRect/>
          </a:stretch>
        </p:blipFill>
        <p:spPr bwMode="auto">
          <a:xfrm>
            <a:off x="7537450" y="152400"/>
            <a:ext cx="1454150" cy="1284288"/>
          </a:xfrm>
          <a:prstGeom prst="rect">
            <a:avLst/>
          </a:prstGeom>
          <a:noFill/>
          <a:ln w="9525">
            <a:noFill/>
            <a:miter lim="800000"/>
            <a:headEnd/>
            <a:tailEnd/>
          </a:ln>
        </p:spPr>
      </p:pic>
      <p:graphicFrame>
        <p:nvGraphicFramePr>
          <p:cNvPr id="51202" name="Object 2"/>
          <p:cNvGraphicFramePr>
            <a:graphicFrameLocks noChangeAspect="1"/>
          </p:cNvGraphicFramePr>
          <p:nvPr/>
        </p:nvGraphicFramePr>
        <p:xfrm>
          <a:off x="533400" y="2740025"/>
          <a:ext cx="4114800" cy="1679575"/>
        </p:xfrm>
        <a:graphic>
          <a:graphicData uri="http://schemas.openxmlformats.org/presentationml/2006/ole">
            <p:oleObj spid="_x0000_s51202" name="Worksheet" r:id="rId5" imgW="2428951" imgH="990600" progId="Excel.Sheet.8">
              <p:embed/>
            </p:oleObj>
          </a:graphicData>
        </a:graphic>
      </p:graphicFrame>
      <p:pic>
        <p:nvPicPr>
          <p:cNvPr id="51206" name="Picture 6"/>
          <p:cNvPicPr>
            <a:picLocks noGrp="1" noChangeAspect="1" noChangeArrowheads="1"/>
          </p:cNvPicPr>
          <p:nvPr>
            <p:ph sz="half" idx="2"/>
          </p:nvPr>
        </p:nvPicPr>
        <p:blipFill>
          <a:blip r:embed="rId6"/>
          <a:srcRect/>
          <a:stretch>
            <a:fillRect/>
          </a:stretch>
        </p:blipFill>
        <p:spPr>
          <a:xfrm>
            <a:off x="4953000" y="1644650"/>
            <a:ext cx="4038600" cy="3232150"/>
          </a:xfrm>
        </p:spPr>
      </p:pic>
      <p:sp>
        <p:nvSpPr>
          <p:cNvPr id="1304583" name="Text Box 7"/>
          <p:cNvSpPr txBox="1">
            <a:spLocks noChangeArrowheads="1"/>
          </p:cNvSpPr>
          <p:nvPr/>
        </p:nvSpPr>
        <p:spPr bwMode="auto">
          <a:xfrm>
            <a:off x="457200" y="5029200"/>
            <a:ext cx="8077200" cy="1244600"/>
          </a:xfrm>
          <a:prstGeom prst="rect">
            <a:avLst/>
          </a:prstGeom>
          <a:noFill/>
          <a:ln w="9525">
            <a:noFill/>
            <a:miter lim="800000"/>
            <a:headEnd/>
            <a:tailEnd/>
          </a:ln>
        </p:spPr>
        <p:txBody>
          <a:bodyPr>
            <a:spAutoFit/>
          </a:bodyPr>
          <a:lstStyle/>
          <a:p>
            <a:pPr>
              <a:lnSpc>
                <a:spcPct val="140000"/>
              </a:lnSpc>
            </a:pPr>
            <a:r>
              <a:rPr lang="en-US" sz="1800"/>
              <a:t>One group contains no nematode at all. If the botanist planned this group as a baseline/control, then a contrast of all the nematode groups against the control would be valid.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045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458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Rectangle 2"/>
          <p:cNvSpPr>
            <a:spLocks noGrp="1" noChangeArrowheads="1"/>
          </p:cNvSpPr>
          <p:nvPr>
            <p:ph type="title"/>
          </p:nvPr>
        </p:nvSpPr>
        <p:spPr>
          <a:xfrm>
            <a:off x="381000" y="228600"/>
            <a:ext cx="8229600" cy="609600"/>
          </a:xfrm>
        </p:spPr>
        <p:txBody>
          <a:bodyPr/>
          <a:lstStyle/>
          <a:p>
            <a:pPr eaLnBrk="1" hangingPunct="1"/>
            <a:r>
              <a:rPr lang="en-US" sz="2400" b="1" smtClean="0">
                <a:solidFill>
                  <a:srgbClr val="333399"/>
                </a:solidFill>
                <a:ea typeface="ＭＳ Ｐゴシック"/>
                <a:cs typeface="ＭＳ Ｐゴシック"/>
              </a:rPr>
              <a:t>Nematodes: planned comparison</a:t>
            </a:r>
          </a:p>
        </p:txBody>
      </p:sp>
      <p:sp>
        <p:nvSpPr>
          <p:cNvPr id="52230" name="Rectangle 3"/>
          <p:cNvSpPr>
            <a:spLocks noGrp="1" noChangeArrowheads="1"/>
          </p:cNvSpPr>
          <p:nvPr>
            <p:ph type="body" sz="half" idx="1"/>
          </p:nvPr>
        </p:nvSpPr>
        <p:spPr/>
        <p:txBody>
          <a:bodyPr/>
          <a:lstStyle/>
          <a:p>
            <a:pPr marL="0" indent="0" eaLnBrk="1" hangingPunct="1">
              <a:spcAft>
                <a:spcPct val="20000"/>
              </a:spcAft>
              <a:buFont typeface="Wingdings" pitchFamily="2" charset="2"/>
              <a:buNone/>
              <a:tabLst>
                <a:tab pos="3086100" algn="l"/>
              </a:tabLst>
            </a:pPr>
            <a:endParaRPr lang="en-US" sz="1600" i="1" smtClean="0">
              <a:ea typeface="ＭＳ Ｐゴシック"/>
              <a:cs typeface="ＭＳ Ｐゴシック"/>
            </a:endParaRPr>
          </a:p>
          <a:p>
            <a:pPr marL="0" indent="0" eaLnBrk="1" hangingPunct="1">
              <a:buFont typeface="Wingdings" pitchFamily="2" charset="2"/>
              <a:buNone/>
              <a:tabLst>
                <a:tab pos="3086100" algn="l"/>
              </a:tabLst>
            </a:pPr>
            <a:endParaRPr lang="en-US" sz="1600" i="1" smtClean="0">
              <a:ea typeface="ＭＳ Ｐゴシック"/>
              <a:cs typeface="ＭＳ Ｐゴシック"/>
            </a:endParaRPr>
          </a:p>
          <a:p>
            <a:pPr marL="0" indent="0" eaLnBrk="1" hangingPunct="1">
              <a:buFont typeface="Wingdings" pitchFamily="2" charset="2"/>
              <a:buNone/>
              <a:tabLst>
                <a:tab pos="3086100" algn="l"/>
              </a:tabLst>
            </a:pPr>
            <a:endParaRPr lang="en-US" sz="1600" smtClean="0">
              <a:ea typeface="ＭＳ Ｐゴシック"/>
              <a:cs typeface="ＭＳ Ｐゴシック"/>
            </a:endParaRPr>
          </a:p>
        </p:txBody>
      </p:sp>
      <p:graphicFrame>
        <p:nvGraphicFramePr>
          <p:cNvPr id="1305604" name="Object 2"/>
          <p:cNvGraphicFramePr>
            <a:graphicFrameLocks noChangeAspect="1"/>
          </p:cNvGraphicFramePr>
          <p:nvPr>
            <p:ph sz="quarter" idx="2"/>
          </p:nvPr>
        </p:nvGraphicFramePr>
        <p:xfrm>
          <a:off x="1790700" y="3522663"/>
          <a:ext cx="5562600" cy="439737"/>
        </p:xfrm>
        <a:graphic>
          <a:graphicData uri="http://schemas.openxmlformats.org/presentationml/2006/ole">
            <p:oleObj spid="_x0000_s52226" name="Equation" r:id="rId4" imgW="3124080" imgH="253800" progId="Equation.3">
              <p:embed/>
            </p:oleObj>
          </a:graphicData>
        </a:graphic>
      </p:graphicFrame>
      <p:sp>
        <p:nvSpPr>
          <p:cNvPr id="52231" name="Text Box 5"/>
          <p:cNvSpPr txBox="1">
            <a:spLocks noChangeArrowheads="1"/>
          </p:cNvSpPr>
          <p:nvPr/>
        </p:nvSpPr>
        <p:spPr bwMode="auto">
          <a:xfrm>
            <a:off x="365125" y="769938"/>
            <a:ext cx="6111875" cy="449262"/>
          </a:xfrm>
          <a:prstGeom prst="rect">
            <a:avLst/>
          </a:prstGeom>
          <a:noFill/>
          <a:ln w="9525">
            <a:noFill/>
            <a:miter lim="800000"/>
            <a:headEnd/>
            <a:tailEnd/>
          </a:ln>
        </p:spPr>
        <p:txBody>
          <a:bodyPr>
            <a:spAutoFit/>
          </a:bodyPr>
          <a:lstStyle/>
          <a:p>
            <a:pPr>
              <a:lnSpc>
                <a:spcPct val="130000"/>
              </a:lnSpc>
            </a:pPr>
            <a:r>
              <a:rPr lang="en-US" sz="1800"/>
              <a:t>Contrast of all the nematode groups against the control:</a:t>
            </a:r>
          </a:p>
        </p:txBody>
      </p:sp>
      <p:pic>
        <p:nvPicPr>
          <p:cNvPr id="52232" name="Picture 6"/>
          <p:cNvPicPr>
            <a:picLocks noChangeAspect="1" noChangeArrowheads="1"/>
          </p:cNvPicPr>
          <p:nvPr/>
        </p:nvPicPr>
        <p:blipFill>
          <a:blip r:embed="rId5"/>
          <a:srcRect l="14476" t="15208" r="1108" b="10341"/>
          <a:stretch>
            <a:fillRect/>
          </a:stretch>
        </p:blipFill>
        <p:spPr bwMode="auto">
          <a:xfrm>
            <a:off x="7467600" y="152400"/>
            <a:ext cx="1447800" cy="1276350"/>
          </a:xfrm>
          <a:prstGeom prst="rect">
            <a:avLst/>
          </a:prstGeom>
          <a:noFill/>
          <a:ln w="9525">
            <a:noFill/>
            <a:miter lim="800000"/>
            <a:headEnd/>
            <a:tailEnd/>
          </a:ln>
        </p:spPr>
      </p:pic>
      <p:sp>
        <p:nvSpPr>
          <p:cNvPr id="52233" name="Text Box 7"/>
          <p:cNvSpPr txBox="1">
            <a:spLocks noChangeArrowheads="1"/>
          </p:cNvSpPr>
          <p:nvPr/>
        </p:nvSpPr>
        <p:spPr bwMode="auto">
          <a:xfrm>
            <a:off x="381000" y="1295400"/>
            <a:ext cx="8458200" cy="2066925"/>
          </a:xfrm>
          <a:prstGeom prst="rect">
            <a:avLst/>
          </a:prstGeom>
          <a:noFill/>
          <a:ln w="9525">
            <a:noFill/>
            <a:miter lim="800000"/>
            <a:headEnd/>
            <a:tailEnd/>
          </a:ln>
        </p:spPr>
        <p:txBody>
          <a:bodyPr>
            <a:spAutoFit/>
          </a:bodyPr>
          <a:lstStyle/>
          <a:p>
            <a:pPr>
              <a:lnSpc>
                <a:spcPct val="180000"/>
              </a:lnSpc>
            </a:pPr>
            <a:r>
              <a:rPr lang="en-US" sz="1800"/>
              <a:t>Combined contrast hypotheses: </a:t>
            </a:r>
          </a:p>
          <a:p>
            <a:pPr>
              <a:lnSpc>
                <a:spcPct val="180000"/>
              </a:lnSpc>
            </a:pPr>
            <a:r>
              <a:rPr lang="en-US" sz="1800" i="1"/>
              <a:t>H</a:t>
            </a:r>
            <a:r>
              <a:rPr lang="en-US" sz="1800" baseline="-25000"/>
              <a:t>0</a:t>
            </a:r>
            <a:r>
              <a:rPr lang="en-US" sz="1800"/>
              <a:t>: </a:t>
            </a:r>
            <a:r>
              <a:rPr lang="en-US" sz="1800" i="1">
                <a:cs typeface="Arial" charset="0"/>
              </a:rPr>
              <a:t>µ</a:t>
            </a:r>
            <a:r>
              <a:rPr lang="en-US" sz="1800" baseline="-25000"/>
              <a:t>1</a:t>
            </a:r>
            <a:r>
              <a:rPr lang="en-US" sz="1800"/>
              <a:t> = 1/3 (</a:t>
            </a:r>
            <a:r>
              <a:rPr lang="en-US" sz="1800" i="1"/>
              <a:t>µ</a:t>
            </a:r>
            <a:r>
              <a:rPr lang="en-US" sz="1800" baseline="-25000"/>
              <a:t>2</a:t>
            </a:r>
            <a:r>
              <a:rPr lang="en-US" sz="1800"/>
              <a:t>+ </a:t>
            </a:r>
            <a:r>
              <a:rPr lang="en-US" sz="1800" i="1"/>
              <a:t>µ</a:t>
            </a:r>
            <a:r>
              <a:rPr lang="en-US" sz="1800" baseline="-25000"/>
              <a:t>3 </a:t>
            </a:r>
            <a:r>
              <a:rPr lang="en-US" sz="1800"/>
              <a:t>+ </a:t>
            </a:r>
            <a:r>
              <a:rPr lang="en-US" sz="1800" i="1"/>
              <a:t>µ</a:t>
            </a:r>
            <a:r>
              <a:rPr lang="en-US" sz="1800" baseline="-25000"/>
              <a:t>4</a:t>
            </a:r>
            <a:r>
              <a:rPr lang="en-US" sz="1800"/>
              <a:t>) vs. </a:t>
            </a:r>
          </a:p>
          <a:p>
            <a:pPr>
              <a:lnSpc>
                <a:spcPct val="180000"/>
              </a:lnSpc>
            </a:pPr>
            <a:r>
              <a:rPr lang="en-US" sz="1800" i="1"/>
              <a:t>H</a:t>
            </a:r>
            <a:r>
              <a:rPr lang="en-US" sz="1800" i="1" baseline="-25000"/>
              <a:t>a</a:t>
            </a:r>
            <a:r>
              <a:rPr lang="en-US" sz="1800"/>
              <a:t>: </a:t>
            </a:r>
            <a:r>
              <a:rPr lang="en-US" sz="1800" i="1"/>
              <a:t>µ</a:t>
            </a:r>
            <a:r>
              <a:rPr lang="en-US" sz="1800" baseline="-25000"/>
              <a:t>1</a:t>
            </a:r>
            <a:r>
              <a:rPr lang="en-US" sz="1800"/>
              <a:t>&gt; 1/3 (</a:t>
            </a:r>
            <a:r>
              <a:rPr lang="en-US" sz="1800" i="1"/>
              <a:t>µ</a:t>
            </a:r>
            <a:r>
              <a:rPr lang="en-US" sz="1800" baseline="-25000"/>
              <a:t>2</a:t>
            </a:r>
            <a:r>
              <a:rPr lang="en-US" sz="1800"/>
              <a:t>+ </a:t>
            </a:r>
            <a:r>
              <a:rPr lang="en-US" sz="1800" i="1"/>
              <a:t>µ</a:t>
            </a:r>
            <a:r>
              <a:rPr lang="en-US" sz="1800" baseline="-25000"/>
              <a:t>3 </a:t>
            </a:r>
            <a:r>
              <a:rPr lang="en-US" sz="1800"/>
              <a:t>+ </a:t>
            </a:r>
            <a:r>
              <a:rPr lang="en-US" sz="1800" i="1"/>
              <a:t>µ</a:t>
            </a:r>
            <a:r>
              <a:rPr lang="en-US" sz="1800" baseline="-25000"/>
              <a:t>4</a:t>
            </a:r>
            <a:r>
              <a:rPr lang="en-US" sz="1800"/>
              <a:t>) </a:t>
            </a:r>
            <a:r>
              <a:rPr lang="en-US" sz="1800" i="1">
                <a:sym typeface="Wingdings" pitchFamily="2" charset="2"/>
              </a:rPr>
              <a:t></a:t>
            </a:r>
            <a:r>
              <a:rPr lang="en-US" sz="1800" i="1"/>
              <a:t>  one tailed</a:t>
            </a:r>
          </a:p>
          <a:p>
            <a:pPr>
              <a:lnSpc>
                <a:spcPct val="180000"/>
              </a:lnSpc>
            </a:pPr>
            <a:r>
              <a:rPr lang="en-US" sz="1800"/>
              <a:t>Contrast coefficients: (+1  </a:t>
            </a:r>
            <a:r>
              <a:rPr lang="en-US" sz="1800">
                <a:cs typeface="Arial" charset="0"/>
              </a:rPr>
              <a:t>−</a:t>
            </a:r>
            <a:r>
              <a:rPr lang="en-US" sz="1800"/>
              <a:t>1/3  </a:t>
            </a:r>
            <a:r>
              <a:rPr lang="en-US" sz="1800">
                <a:cs typeface="Arial" charset="0"/>
              </a:rPr>
              <a:t>−</a:t>
            </a:r>
            <a:r>
              <a:rPr lang="en-US" sz="1800"/>
              <a:t>1/3  </a:t>
            </a:r>
            <a:r>
              <a:rPr lang="en-US" sz="1800">
                <a:cs typeface="Arial" charset="0"/>
              </a:rPr>
              <a:t>−</a:t>
            </a:r>
            <a:r>
              <a:rPr lang="en-US" sz="1800"/>
              <a:t>1/3)  or  (+3  </a:t>
            </a:r>
            <a:r>
              <a:rPr lang="en-US" sz="1800">
                <a:cs typeface="Arial" charset="0"/>
              </a:rPr>
              <a:t>−</a:t>
            </a:r>
            <a:r>
              <a:rPr lang="en-US" sz="1800"/>
              <a:t>1  </a:t>
            </a:r>
            <a:r>
              <a:rPr lang="en-US" sz="1800">
                <a:cs typeface="Arial" charset="0"/>
              </a:rPr>
              <a:t>−</a:t>
            </a:r>
            <a:r>
              <a:rPr lang="en-US" sz="1800"/>
              <a:t>1  </a:t>
            </a:r>
            <a:r>
              <a:rPr lang="en-US" sz="1800">
                <a:cs typeface="Arial" charset="0"/>
              </a:rPr>
              <a:t>−</a:t>
            </a:r>
            <a:r>
              <a:rPr lang="en-US" sz="1800"/>
              <a:t>1)</a:t>
            </a:r>
          </a:p>
        </p:txBody>
      </p:sp>
      <p:graphicFrame>
        <p:nvGraphicFramePr>
          <p:cNvPr id="1305608" name="Object 3"/>
          <p:cNvGraphicFramePr>
            <a:graphicFrameLocks noChangeAspect="1"/>
          </p:cNvGraphicFramePr>
          <p:nvPr>
            <p:ph sz="quarter" idx="3"/>
          </p:nvPr>
        </p:nvGraphicFramePr>
        <p:xfrm>
          <a:off x="1600200" y="4008438"/>
          <a:ext cx="5943600" cy="868362"/>
        </p:xfrm>
        <a:graphic>
          <a:graphicData uri="http://schemas.openxmlformats.org/presentationml/2006/ole">
            <p:oleObj spid="_x0000_s52227" name="Equation" r:id="rId6" imgW="3098520" imgH="520560" progId="Equation.3">
              <p:embed/>
            </p:oleObj>
          </a:graphicData>
        </a:graphic>
      </p:graphicFrame>
      <p:graphicFrame>
        <p:nvGraphicFramePr>
          <p:cNvPr id="1305609" name="Object 4"/>
          <p:cNvGraphicFramePr>
            <a:graphicFrameLocks noChangeAspect="1"/>
          </p:cNvGraphicFramePr>
          <p:nvPr/>
        </p:nvGraphicFramePr>
        <p:xfrm>
          <a:off x="2022475" y="5029200"/>
          <a:ext cx="5091113" cy="446088"/>
        </p:xfrm>
        <a:graphic>
          <a:graphicData uri="http://schemas.openxmlformats.org/presentationml/2006/ole">
            <p:oleObj spid="_x0000_s52228" name="Equation" r:id="rId7" imgW="2628720" imgH="228600" progId="Equation.3">
              <p:embed/>
            </p:oleObj>
          </a:graphicData>
        </a:graphic>
      </p:graphicFrame>
      <p:sp>
        <p:nvSpPr>
          <p:cNvPr id="1305610" name="Text Box 10"/>
          <p:cNvSpPr txBox="1">
            <a:spLocks noChangeArrowheads="1"/>
          </p:cNvSpPr>
          <p:nvPr/>
        </p:nvSpPr>
        <p:spPr bwMode="auto">
          <a:xfrm>
            <a:off x="381000" y="5562600"/>
            <a:ext cx="8077200" cy="917575"/>
          </a:xfrm>
          <a:prstGeom prst="rect">
            <a:avLst/>
          </a:prstGeom>
          <a:noFill/>
          <a:ln w="9525">
            <a:noFill/>
            <a:miter lim="800000"/>
            <a:headEnd/>
            <a:tailEnd/>
          </a:ln>
        </p:spPr>
        <p:txBody>
          <a:bodyPr>
            <a:spAutoFit/>
          </a:bodyPr>
          <a:lstStyle/>
          <a:p>
            <a:pPr>
              <a:lnSpc>
                <a:spcPct val="150000"/>
              </a:lnSpc>
            </a:pPr>
            <a:r>
              <a:rPr lang="en-US" sz="1800"/>
              <a:t>In Excel: TDIST(3.6,12,1) </a:t>
            </a:r>
            <a:r>
              <a:rPr lang="en-US" sz="1800" i="1"/>
              <a:t>= tdist(t, df, tails) </a:t>
            </a:r>
            <a:r>
              <a:rPr lang="en-US" sz="1800" i="1">
                <a:cs typeface="Arial" charset="0"/>
              </a:rPr>
              <a:t>≈</a:t>
            </a:r>
            <a:r>
              <a:rPr lang="en-US" sz="1800"/>
              <a:t>0.002 (</a:t>
            </a:r>
            <a:r>
              <a:rPr lang="en-US" sz="1800" i="1"/>
              <a:t>p</a:t>
            </a:r>
            <a:r>
              <a:rPr lang="en-US" sz="1800"/>
              <a:t>-value). </a:t>
            </a:r>
          </a:p>
          <a:p>
            <a:pPr>
              <a:lnSpc>
                <a:spcPct val="150000"/>
              </a:lnSpc>
            </a:pPr>
            <a:r>
              <a:rPr lang="en-US" sz="1800"/>
              <a:t>Nematodes result in significantly shorter seedlings (alpha 1%).</a:t>
            </a:r>
          </a:p>
        </p:txBody>
      </p:sp>
      <p:sp>
        <p:nvSpPr>
          <p:cNvPr id="52235" name="Text Box 11"/>
          <p:cNvSpPr txBox="1">
            <a:spLocks noChangeArrowheads="1"/>
          </p:cNvSpPr>
          <p:nvPr/>
        </p:nvSpPr>
        <p:spPr bwMode="auto">
          <a:xfrm>
            <a:off x="5470525" y="1447800"/>
            <a:ext cx="3444875" cy="1258888"/>
          </a:xfrm>
          <a:prstGeom prst="rect">
            <a:avLst/>
          </a:prstGeom>
          <a:noFill/>
          <a:ln w="9525">
            <a:noFill/>
            <a:miter lim="800000"/>
            <a:headEnd/>
            <a:tailEnd/>
          </a:ln>
        </p:spPr>
        <p:txBody>
          <a:bodyPr>
            <a:spAutoFit/>
          </a:bodyPr>
          <a:lstStyle/>
          <a:p>
            <a:pPr>
              <a:lnSpc>
                <a:spcPct val="110000"/>
              </a:lnSpc>
            </a:pPr>
            <a:r>
              <a:rPr lang="en-US" sz="1400" i="1"/>
              <a:t>x</a:t>
            </a:r>
            <a:r>
              <a:rPr lang="en-US" sz="1400"/>
              <a:t>¯</a:t>
            </a:r>
            <a:r>
              <a:rPr lang="en-US" sz="1400" baseline="-25000"/>
              <a:t>i</a:t>
            </a:r>
            <a:r>
              <a:rPr lang="en-US" sz="1400"/>
              <a:t>	s</a:t>
            </a:r>
            <a:r>
              <a:rPr lang="en-US" sz="1400" baseline="-25000"/>
              <a:t>i</a:t>
            </a:r>
            <a:endParaRPr lang="en-US" sz="1400"/>
          </a:p>
          <a:p>
            <a:pPr>
              <a:lnSpc>
                <a:spcPct val="110000"/>
              </a:lnSpc>
            </a:pPr>
            <a:r>
              <a:rPr lang="en-US" sz="1400"/>
              <a:t>G1: 0 nematode	10.65	2.053</a:t>
            </a:r>
          </a:p>
          <a:p>
            <a:pPr>
              <a:lnSpc>
                <a:spcPct val="110000"/>
              </a:lnSpc>
            </a:pPr>
            <a:r>
              <a:rPr lang="en-US" sz="1400"/>
              <a:t>G2: 1,000 nematodes	10.425	1.486</a:t>
            </a:r>
          </a:p>
          <a:p>
            <a:pPr>
              <a:lnSpc>
                <a:spcPct val="110000"/>
              </a:lnSpc>
            </a:pPr>
            <a:r>
              <a:rPr lang="en-US" sz="1400"/>
              <a:t>G3: 5,000 nematodes	 5.6	1.244</a:t>
            </a:r>
          </a:p>
          <a:p>
            <a:pPr>
              <a:lnSpc>
                <a:spcPct val="110000"/>
              </a:lnSpc>
            </a:pPr>
            <a:r>
              <a:rPr lang="en-US" sz="1400"/>
              <a:t>G4: 1,0000 nematodes	 5.45	1.771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56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056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0560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056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56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7" name="Picture 2"/>
          <p:cNvPicPr>
            <a:picLocks noChangeAspect="1" noChangeArrowheads="1"/>
          </p:cNvPicPr>
          <p:nvPr/>
        </p:nvPicPr>
        <p:blipFill>
          <a:blip r:embed="rId3"/>
          <a:srcRect t="5560" r="3014"/>
          <a:stretch>
            <a:fillRect/>
          </a:stretch>
        </p:blipFill>
        <p:spPr bwMode="auto">
          <a:xfrm>
            <a:off x="381000" y="1143000"/>
            <a:ext cx="6129338" cy="1752600"/>
          </a:xfrm>
          <a:prstGeom prst="rect">
            <a:avLst/>
          </a:prstGeom>
          <a:noFill/>
          <a:ln w="9525">
            <a:noFill/>
            <a:miter lim="800000"/>
            <a:headEnd/>
            <a:tailEnd/>
          </a:ln>
        </p:spPr>
      </p:pic>
      <p:pic>
        <p:nvPicPr>
          <p:cNvPr id="1306627" name="Picture 3"/>
          <p:cNvPicPr>
            <a:picLocks noChangeAspect="1" noChangeArrowheads="1"/>
          </p:cNvPicPr>
          <p:nvPr/>
        </p:nvPicPr>
        <p:blipFill>
          <a:blip r:embed="rId4"/>
          <a:srcRect t="5182" r="3633"/>
          <a:stretch>
            <a:fillRect/>
          </a:stretch>
        </p:blipFill>
        <p:spPr bwMode="auto">
          <a:xfrm>
            <a:off x="4451350" y="3657600"/>
            <a:ext cx="4464050" cy="1162050"/>
          </a:xfrm>
          <a:prstGeom prst="rect">
            <a:avLst/>
          </a:prstGeom>
          <a:noFill/>
          <a:ln w="9525">
            <a:noFill/>
            <a:miter lim="800000"/>
            <a:headEnd/>
            <a:tailEnd/>
          </a:ln>
        </p:spPr>
      </p:pic>
      <p:pic>
        <p:nvPicPr>
          <p:cNvPr id="1306628" name="Picture 4"/>
          <p:cNvPicPr>
            <a:picLocks noChangeAspect="1" noChangeArrowheads="1"/>
          </p:cNvPicPr>
          <p:nvPr/>
        </p:nvPicPr>
        <p:blipFill>
          <a:blip r:embed="rId5"/>
          <a:srcRect t="5382" r="3391"/>
          <a:stretch>
            <a:fillRect/>
          </a:stretch>
        </p:blipFill>
        <p:spPr bwMode="auto">
          <a:xfrm>
            <a:off x="228600" y="4984750"/>
            <a:ext cx="8686800" cy="1339850"/>
          </a:xfrm>
          <a:prstGeom prst="rect">
            <a:avLst/>
          </a:prstGeom>
          <a:noFill/>
          <a:ln w="9525">
            <a:noFill/>
            <a:miter lim="800000"/>
            <a:headEnd/>
            <a:tailEnd/>
          </a:ln>
        </p:spPr>
      </p:pic>
      <p:pic>
        <p:nvPicPr>
          <p:cNvPr id="96260" name="Picture 5"/>
          <p:cNvPicPr>
            <a:picLocks noChangeAspect="1" noChangeArrowheads="1"/>
          </p:cNvPicPr>
          <p:nvPr/>
        </p:nvPicPr>
        <p:blipFill>
          <a:blip r:embed="rId6"/>
          <a:srcRect l="14476" t="15208" r="1108" b="10341"/>
          <a:stretch>
            <a:fillRect/>
          </a:stretch>
        </p:blipFill>
        <p:spPr bwMode="auto">
          <a:xfrm>
            <a:off x="7467600" y="152400"/>
            <a:ext cx="1447800" cy="1276350"/>
          </a:xfrm>
          <a:prstGeom prst="rect">
            <a:avLst/>
          </a:prstGeom>
          <a:noFill/>
          <a:ln w="9525">
            <a:noFill/>
            <a:miter lim="800000"/>
            <a:headEnd/>
            <a:tailEnd/>
          </a:ln>
        </p:spPr>
      </p:pic>
      <p:sp>
        <p:nvSpPr>
          <p:cNvPr id="1306630" name="Text Box 6"/>
          <p:cNvSpPr txBox="1">
            <a:spLocks noChangeArrowheads="1"/>
          </p:cNvSpPr>
          <p:nvPr/>
        </p:nvSpPr>
        <p:spPr bwMode="auto">
          <a:xfrm>
            <a:off x="381000" y="3048000"/>
            <a:ext cx="4343400" cy="1851025"/>
          </a:xfrm>
          <a:prstGeom prst="rect">
            <a:avLst/>
          </a:prstGeom>
          <a:noFill/>
          <a:ln w="9525">
            <a:noFill/>
            <a:miter lim="800000"/>
            <a:headEnd/>
            <a:tailEnd/>
          </a:ln>
        </p:spPr>
        <p:txBody>
          <a:bodyPr>
            <a:spAutoFit/>
          </a:bodyPr>
          <a:lstStyle/>
          <a:p>
            <a:pPr>
              <a:lnSpc>
                <a:spcPct val="160000"/>
              </a:lnSpc>
              <a:buClr>
                <a:srgbClr val="333399"/>
              </a:buClr>
              <a:buSzPct val="60000"/>
              <a:buFont typeface="Wingdings" pitchFamily="2" charset="2"/>
              <a:buChar char="p"/>
            </a:pPr>
            <a:r>
              <a:rPr lang="en-US" sz="1800" b="1">
                <a:solidFill>
                  <a:srgbClr val="333399"/>
                </a:solidFill>
              </a:rPr>
              <a:t> Planned comparison:</a:t>
            </a:r>
          </a:p>
          <a:p>
            <a:pPr>
              <a:lnSpc>
                <a:spcPct val="160000"/>
              </a:lnSpc>
            </a:pPr>
            <a:r>
              <a:rPr lang="en-US" sz="1800" i="1"/>
              <a:t>H</a:t>
            </a:r>
            <a:r>
              <a:rPr lang="en-US" sz="1800" baseline="-25000"/>
              <a:t>0</a:t>
            </a:r>
            <a:r>
              <a:rPr lang="en-US" sz="1800"/>
              <a:t>: </a:t>
            </a:r>
            <a:r>
              <a:rPr lang="en-US" sz="1800" i="1">
                <a:cs typeface="Arial" charset="0"/>
              </a:rPr>
              <a:t>µ</a:t>
            </a:r>
            <a:r>
              <a:rPr lang="en-US" sz="1800" baseline="-25000"/>
              <a:t>1</a:t>
            </a:r>
            <a:r>
              <a:rPr lang="en-US" sz="1800"/>
              <a:t> = 1/3 (</a:t>
            </a:r>
            <a:r>
              <a:rPr lang="en-US" sz="1800" i="1"/>
              <a:t>µ</a:t>
            </a:r>
            <a:r>
              <a:rPr lang="en-US" sz="1800" baseline="-25000"/>
              <a:t>2</a:t>
            </a:r>
            <a:r>
              <a:rPr lang="en-US" sz="1800"/>
              <a:t>+ </a:t>
            </a:r>
            <a:r>
              <a:rPr lang="en-US" sz="1800" i="1"/>
              <a:t>µ</a:t>
            </a:r>
            <a:r>
              <a:rPr lang="en-US" sz="1800" baseline="-25000"/>
              <a:t>3 </a:t>
            </a:r>
            <a:r>
              <a:rPr lang="en-US" sz="1800"/>
              <a:t>+ </a:t>
            </a:r>
            <a:r>
              <a:rPr lang="en-US" sz="1800" i="1"/>
              <a:t>µ</a:t>
            </a:r>
            <a:r>
              <a:rPr lang="en-US" sz="1800" baseline="-25000"/>
              <a:t>4</a:t>
            </a:r>
            <a:r>
              <a:rPr lang="en-US" sz="1800"/>
              <a:t>) vs. </a:t>
            </a:r>
          </a:p>
          <a:p>
            <a:pPr>
              <a:lnSpc>
                <a:spcPct val="160000"/>
              </a:lnSpc>
            </a:pPr>
            <a:r>
              <a:rPr lang="en-US" sz="1800" i="1"/>
              <a:t>H</a:t>
            </a:r>
            <a:r>
              <a:rPr lang="en-US" sz="1800" i="1" baseline="-25000"/>
              <a:t>a</a:t>
            </a:r>
            <a:r>
              <a:rPr lang="en-US" sz="1800"/>
              <a:t>: </a:t>
            </a:r>
            <a:r>
              <a:rPr lang="en-US" sz="1800" i="1"/>
              <a:t>µ</a:t>
            </a:r>
            <a:r>
              <a:rPr lang="en-US" sz="1800" baseline="-25000"/>
              <a:t>1</a:t>
            </a:r>
            <a:r>
              <a:rPr lang="en-US" sz="1800"/>
              <a:t>&gt; 1/3 (</a:t>
            </a:r>
            <a:r>
              <a:rPr lang="en-US" sz="1800" i="1"/>
              <a:t>µ</a:t>
            </a:r>
            <a:r>
              <a:rPr lang="en-US" sz="1800" baseline="-25000"/>
              <a:t>2</a:t>
            </a:r>
            <a:r>
              <a:rPr lang="en-US" sz="1800"/>
              <a:t>+ </a:t>
            </a:r>
            <a:r>
              <a:rPr lang="en-US" sz="1800" i="1"/>
              <a:t>µ</a:t>
            </a:r>
            <a:r>
              <a:rPr lang="en-US" sz="1800" baseline="-25000"/>
              <a:t>3 </a:t>
            </a:r>
            <a:r>
              <a:rPr lang="en-US" sz="1800"/>
              <a:t>+ </a:t>
            </a:r>
            <a:r>
              <a:rPr lang="en-US" sz="1800" i="1"/>
              <a:t>µ</a:t>
            </a:r>
            <a:r>
              <a:rPr lang="en-US" sz="1800" baseline="-25000"/>
              <a:t>4</a:t>
            </a:r>
            <a:r>
              <a:rPr lang="en-US" sz="1800"/>
              <a:t>) </a:t>
            </a:r>
            <a:r>
              <a:rPr lang="en-US" sz="1800" i="1">
                <a:sym typeface="Wingdings" pitchFamily="2" charset="2"/>
              </a:rPr>
              <a:t></a:t>
            </a:r>
            <a:r>
              <a:rPr lang="en-US" sz="1800" i="1"/>
              <a:t> one tailed</a:t>
            </a:r>
          </a:p>
          <a:p>
            <a:pPr>
              <a:lnSpc>
                <a:spcPct val="160000"/>
              </a:lnSpc>
            </a:pPr>
            <a:r>
              <a:rPr lang="en-US" sz="1800"/>
              <a:t>Contrast coefficients: (+3  </a:t>
            </a:r>
            <a:r>
              <a:rPr lang="en-US" sz="1800">
                <a:cs typeface="Arial" charset="0"/>
              </a:rPr>
              <a:t>−</a:t>
            </a:r>
            <a:r>
              <a:rPr lang="en-US" sz="1800"/>
              <a:t>1  </a:t>
            </a:r>
            <a:r>
              <a:rPr lang="en-US" sz="1800">
                <a:cs typeface="Arial" charset="0"/>
              </a:rPr>
              <a:t>−</a:t>
            </a:r>
            <a:r>
              <a:rPr lang="en-US" sz="1800"/>
              <a:t>1  </a:t>
            </a:r>
            <a:r>
              <a:rPr lang="en-US" sz="1800">
                <a:cs typeface="Arial" charset="0"/>
              </a:rPr>
              <a:t>−</a:t>
            </a:r>
            <a:r>
              <a:rPr lang="en-US" sz="1800"/>
              <a:t>1)</a:t>
            </a:r>
          </a:p>
        </p:txBody>
      </p:sp>
      <p:sp>
        <p:nvSpPr>
          <p:cNvPr id="96262" name="Text Box 7"/>
          <p:cNvSpPr txBox="1">
            <a:spLocks noChangeArrowheads="1"/>
          </p:cNvSpPr>
          <p:nvPr/>
        </p:nvSpPr>
        <p:spPr bwMode="auto">
          <a:xfrm>
            <a:off x="381000" y="638175"/>
            <a:ext cx="6096000" cy="504825"/>
          </a:xfrm>
          <a:prstGeom prst="rect">
            <a:avLst/>
          </a:prstGeom>
          <a:noFill/>
          <a:ln w="9525">
            <a:noFill/>
            <a:miter lim="800000"/>
            <a:headEnd/>
            <a:tailEnd/>
          </a:ln>
        </p:spPr>
        <p:txBody>
          <a:bodyPr>
            <a:spAutoFit/>
          </a:bodyPr>
          <a:lstStyle/>
          <a:p>
            <a:pPr>
              <a:lnSpc>
                <a:spcPct val="150000"/>
              </a:lnSpc>
              <a:buClr>
                <a:srgbClr val="333399"/>
              </a:buClr>
              <a:buSzPct val="60000"/>
              <a:buFont typeface="Wingdings" pitchFamily="2" charset="2"/>
              <a:buChar char="p"/>
            </a:pPr>
            <a:r>
              <a:rPr lang="en-US" sz="1800" b="1">
                <a:solidFill>
                  <a:srgbClr val="333399"/>
                </a:solidFill>
              </a:rPr>
              <a:t>ANOVA:</a:t>
            </a:r>
            <a:r>
              <a:rPr lang="en-US" sz="1800" i="1"/>
              <a:t>H</a:t>
            </a:r>
            <a:r>
              <a:rPr lang="en-US" sz="1800" baseline="-25000"/>
              <a:t>0</a:t>
            </a:r>
            <a:r>
              <a:rPr lang="en-US" sz="1800"/>
              <a:t>: all </a:t>
            </a:r>
            <a:r>
              <a:rPr lang="en-US" sz="1800" i="1">
                <a:cs typeface="Arial" charset="0"/>
              </a:rPr>
              <a:t>µ</a:t>
            </a:r>
            <a:r>
              <a:rPr lang="en-US" sz="1800" baseline="-25000"/>
              <a:t>i</a:t>
            </a:r>
            <a:r>
              <a:rPr lang="en-US" sz="1800"/>
              <a:t> are equal vs. </a:t>
            </a:r>
            <a:r>
              <a:rPr lang="en-US" sz="1800" i="1"/>
              <a:t>H</a:t>
            </a:r>
            <a:r>
              <a:rPr lang="en-US" sz="1800" i="1" baseline="-25000"/>
              <a:t>a</a:t>
            </a:r>
            <a:r>
              <a:rPr lang="en-US" sz="1800"/>
              <a:t>: not all </a:t>
            </a:r>
            <a:r>
              <a:rPr lang="en-US" sz="1800" i="1"/>
              <a:t>µ</a:t>
            </a:r>
            <a:r>
              <a:rPr lang="en-US" sz="1800" i="1" baseline="-25000"/>
              <a:t>i</a:t>
            </a:r>
            <a:r>
              <a:rPr lang="en-US" sz="1800"/>
              <a:t> are equal</a:t>
            </a:r>
            <a:endParaRPr lang="en-US" sz="1800" i="1"/>
          </a:p>
        </p:txBody>
      </p:sp>
      <p:sp>
        <p:nvSpPr>
          <p:cNvPr id="96263" name="Rectangle 8"/>
          <p:cNvSpPr>
            <a:spLocks noChangeArrowheads="1"/>
          </p:cNvSpPr>
          <p:nvPr/>
        </p:nvSpPr>
        <p:spPr bwMode="auto">
          <a:xfrm>
            <a:off x="381000" y="228600"/>
            <a:ext cx="8229600" cy="609600"/>
          </a:xfrm>
          <a:prstGeom prst="rect">
            <a:avLst/>
          </a:prstGeom>
          <a:noFill/>
          <a:ln w="9525">
            <a:noFill/>
            <a:miter lim="800000"/>
            <a:headEnd/>
            <a:tailEnd/>
          </a:ln>
        </p:spPr>
        <p:txBody>
          <a:bodyPr/>
          <a:lstStyle/>
          <a:p>
            <a:r>
              <a:rPr lang="en-US" b="1">
                <a:solidFill>
                  <a:srgbClr val="333399"/>
                </a:solidFill>
                <a:latin typeface="Garamond" pitchFamily="18" charset="0"/>
              </a:rPr>
              <a:t>ANOVA vs. contrasts in SPSS</a:t>
            </a:r>
          </a:p>
        </p:txBody>
      </p:sp>
      <p:sp>
        <p:nvSpPr>
          <p:cNvPr id="96264" name="Text Box 9"/>
          <p:cNvSpPr txBox="1">
            <a:spLocks noChangeArrowheads="1"/>
          </p:cNvSpPr>
          <p:nvPr/>
        </p:nvSpPr>
        <p:spPr bwMode="auto">
          <a:xfrm>
            <a:off x="6477000" y="1870075"/>
            <a:ext cx="2590800" cy="504825"/>
          </a:xfrm>
          <a:prstGeom prst="rect">
            <a:avLst/>
          </a:prstGeom>
          <a:noFill/>
          <a:ln w="9525">
            <a:noFill/>
            <a:miter lim="800000"/>
            <a:headEnd/>
            <a:tailEnd/>
          </a:ln>
        </p:spPr>
        <p:txBody>
          <a:bodyPr>
            <a:spAutoFit/>
          </a:bodyPr>
          <a:lstStyle/>
          <a:p>
            <a:pPr>
              <a:lnSpc>
                <a:spcPct val="150000"/>
              </a:lnSpc>
            </a:pPr>
            <a:r>
              <a:rPr lang="en-US" sz="1800" b="1">
                <a:sym typeface="Wingdings" pitchFamily="2" charset="2"/>
              </a:rPr>
              <a:t></a:t>
            </a:r>
            <a:r>
              <a:rPr lang="en-US" sz="1800"/>
              <a:t> not all </a:t>
            </a:r>
            <a:r>
              <a:rPr lang="en-US" sz="1800" i="1"/>
              <a:t>µ</a:t>
            </a:r>
            <a:r>
              <a:rPr lang="en-US" sz="1800" i="1" baseline="-25000"/>
              <a:t>i</a:t>
            </a:r>
            <a:r>
              <a:rPr lang="en-US" sz="1800"/>
              <a:t> are equal</a:t>
            </a:r>
            <a:endParaRPr lang="en-US" sz="1800" i="1"/>
          </a:p>
        </p:txBody>
      </p:sp>
      <p:sp>
        <p:nvSpPr>
          <p:cNvPr id="1306634" name="Text Box 10"/>
          <p:cNvSpPr txBox="1">
            <a:spLocks noChangeArrowheads="1"/>
          </p:cNvSpPr>
          <p:nvPr/>
        </p:nvSpPr>
        <p:spPr bwMode="auto">
          <a:xfrm>
            <a:off x="533400" y="6200775"/>
            <a:ext cx="8305800" cy="504825"/>
          </a:xfrm>
          <a:prstGeom prst="rect">
            <a:avLst/>
          </a:prstGeom>
          <a:noFill/>
          <a:ln w="9525">
            <a:noFill/>
            <a:miter lim="800000"/>
            <a:headEnd/>
            <a:tailEnd/>
          </a:ln>
        </p:spPr>
        <p:txBody>
          <a:bodyPr>
            <a:spAutoFit/>
          </a:bodyPr>
          <a:lstStyle/>
          <a:p>
            <a:pPr>
              <a:lnSpc>
                <a:spcPct val="150000"/>
              </a:lnSpc>
            </a:pPr>
            <a:endParaRPr lang="en-US" sz="1800" i="1"/>
          </a:p>
        </p:txBody>
      </p:sp>
      <p:sp>
        <p:nvSpPr>
          <p:cNvPr id="96266" name="Rectangle 11"/>
          <p:cNvSpPr>
            <a:spLocks noChangeArrowheads="1"/>
          </p:cNvSpPr>
          <p:nvPr/>
        </p:nvSpPr>
        <p:spPr bwMode="auto">
          <a:xfrm>
            <a:off x="1219200" y="6172200"/>
            <a:ext cx="6499225" cy="504825"/>
          </a:xfrm>
          <a:prstGeom prst="rect">
            <a:avLst/>
          </a:prstGeom>
          <a:noFill/>
          <a:ln w="9525">
            <a:noFill/>
            <a:miter lim="800000"/>
            <a:headEnd/>
            <a:tailEnd/>
          </a:ln>
        </p:spPr>
        <p:txBody>
          <a:bodyPr wrap="none">
            <a:spAutoFit/>
          </a:bodyPr>
          <a:lstStyle/>
          <a:p>
            <a:pPr>
              <a:lnSpc>
                <a:spcPct val="150000"/>
              </a:lnSpc>
            </a:pPr>
            <a:r>
              <a:rPr lang="en-US" sz="1800"/>
              <a:t>Nematodes result in significantly shorter seedlings (alpha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66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066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06630"/>
                                        </p:tgtEl>
                                        <p:attrNameLst>
                                          <p:attrName>style.visibility</p:attrName>
                                        </p:attrNameLst>
                                      </p:cBhvr>
                                      <p:to>
                                        <p:strVal val="visible"/>
                                      </p:to>
                                    </p:set>
                                  </p:childTnLst>
                                </p:cTn>
                              </p:par>
                              <p:par>
                                <p:cTn id="11" presetID="1" presetClass="entr" presetSubtype="0" fill="hold" grpId="0" nodeType="withEffect" nodePh="1">
                                  <p:stCondLst>
                                    <p:cond delay="0"/>
                                  </p:stCondLst>
                                  <p:endCondLst>
                                    <p:cond evt="begin" delay="0">
                                      <p:tn val="11"/>
                                    </p:cond>
                                  </p:endCondLst>
                                  <p:childTnLst>
                                    <p:set>
                                      <p:cBhvr>
                                        <p:cTn id="12" dur="1" fill="hold">
                                          <p:stCondLst>
                                            <p:cond delay="0"/>
                                          </p:stCondLst>
                                        </p:cTn>
                                        <p:tgtEl>
                                          <p:spTgt spid="13066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6630" grpId="0"/>
      <p:bldP spid="130663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a:spLocks noGrp="1" noChangeArrowheads="1"/>
          </p:cNvSpPr>
          <p:nvPr>
            <p:ph type="title"/>
          </p:nvPr>
        </p:nvSpPr>
        <p:spPr/>
        <p:txBody>
          <a:bodyPr/>
          <a:lstStyle/>
          <a:p>
            <a:pPr eaLnBrk="1" hangingPunct="1"/>
            <a:r>
              <a:rPr lang="en-US" smtClean="0">
                <a:ea typeface="ＭＳ Ｐゴシック"/>
                <a:cs typeface="ＭＳ Ｐゴシック"/>
              </a:rPr>
              <a:t>Multiple comparisons</a:t>
            </a:r>
          </a:p>
        </p:txBody>
      </p:sp>
      <p:sp>
        <p:nvSpPr>
          <p:cNvPr id="1307651" name="Rectangle 3"/>
          <p:cNvSpPr>
            <a:spLocks noGrp="1" noChangeArrowheads="1"/>
          </p:cNvSpPr>
          <p:nvPr>
            <p:ph type="body" sz="half" idx="1"/>
          </p:nvPr>
        </p:nvSpPr>
        <p:spPr>
          <a:xfrm>
            <a:off x="533400" y="1143000"/>
            <a:ext cx="8153400" cy="5410200"/>
          </a:xfrm>
        </p:spPr>
        <p:txBody>
          <a:bodyPr/>
          <a:lstStyle/>
          <a:p>
            <a:pPr marL="0" indent="0" eaLnBrk="1" hangingPunct="1">
              <a:lnSpc>
                <a:spcPct val="110000"/>
              </a:lnSpc>
              <a:buFont typeface="Wingdings" pitchFamily="2" charset="2"/>
              <a:buNone/>
            </a:pPr>
            <a:r>
              <a:rPr lang="en-US" smtClean="0">
                <a:ea typeface="ＭＳ Ｐゴシック"/>
                <a:cs typeface="ＭＳ Ｐゴシック"/>
              </a:rPr>
              <a:t>Multiple comparison tests are variants on the two-sample </a:t>
            </a:r>
            <a:r>
              <a:rPr lang="en-US" i="1" smtClean="0">
                <a:ea typeface="ＭＳ Ｐゴシック"/>
                <a:cs typeface="ＭＳ Ｐゴシック"/>
              </a:rPr>
              <a:t>t</a:t>
            </a:r>
            <a:r>
              <a:rPr lang="en-US" smtClean="0">
                <a:ea typeface="ＭＳ Ｐゴシック"/>
                <a:cs typeface="ＭＳ Ｐゴシック"/>
              </a:rPr>
              <a:t>-test. </a:t>
            </a:r>
          </a:p>
          <a:p>
            <a:pPr marL="731838" lvl="1" eaLnBrk="1" hangingPunct="1">
              <a:lnSpc>
                <a:spcPct val="110000"/>
              </a:lnSpc>
              <a:spcBef>
                <a:spcPct val="65000"/>
              </a:spcBef>
            </a:pPr>
            <a:r>
              <a:rPr lang="en-US" smtClean="0">
                <a:ea typeface="ＭＳ Ｐゴシック"/>
              </a:rPr>
              <a:t>They use the pooled standard deviation </a:t>
            </a:r>
            <a:r>
              <a:rPr lang="en-US" b="1" i="1" smtClean="0">
                <a:solidFill>
                  <a:srgbClr val="333399"/>
                </a:solidFill>
                <a:ea typeface="ＭＳ Ｐゴシック"/>
              </a:rPr>
              <a:t>s</a:t>
            </a:r>
            <a:r>
              <a:rPr lang="en-US" b="1" i="1" baseline="-25000" smtClean="0">
                <a:solidFill>
                  <a:srgbClr val="333399"/>
                </a:solidFill>
                <a:ea typeface="ＭＳ Ｐゴシック"/>
              </a:rPr>
              <a:t>p </a:t>
            </a:r>
            <a:r>
              <a:rPr lang="en-US" b="1" smtClean="0">
                <a:solidFill>
                  <a:srgbClr val="333399"/>
                </a:solidFill>
                <a:ea typeface="ＭＳ Ｐゴシック"/>
              </a:rPr>
              <a:t>= </a:t>
            </a:r>
            <a:r>
              <a:rPr lang="en-US" b="1" smtClean="0">
                <a:solidFill>
                  <a:srgbClr val="333399"/>
                </a:solidFill>
                <a:ea typeface="ＭＳ Ｐゴシック"/>
                <a:cs typeface="Arial" charset="0"/>
              </a:rPr>
              <a:t>√</a:t>
            </a:r>
            <a:r>
              <a:rPr lang="en-US" sz="1600" b="1" smtClean="0">
                <a:solidFill>
                  <a:srgbClr val="333399"/>
                </a:solidFill>
                <a:ea typeface="ＭＳ Ｐゴシック"/>
              </a:rPr>
              <a:t>MSE.</a:t>
            </a:r>
          </a:p>
          <a:p>
            <a:pPr marL="731838" lvl="1" eaLnBrk="1" hangingPunct="1">
              <a:lnSpc>
                <a:spcPct val="110000"/>
              </a:lnSpc>
            </a:pPr>
            <a:r>
              <a:rPr lang="en-US" smtClean="0">
                <a:ea typeface="ＭＳ Ｐゴシック"/>
              </a:rPr>
              <a:t>The pooled degrees of freedom </a:t>
            </a:r>
            <a:r>
              <a:rPr lang="en-US" sz="1600" b="1" smtClean="0">
                <a:solidFill>
                  <a:srgbClr val="333399"/>
                </a:solidFill>
                <a:ea typeface="ＭＳ Ｐゴシック"/>
              </a:rPr>
              <a:t>DFE.</a:t>
            </a:r>
          </a:p>
          <a:p>
            <a:pPr marL="731838" lvl="1" eaLnBrk="1" hangingPunct="1">
              <a:lnSpc>
                <a:spcPct val="110000"/>
              </a:lnSpc>
            </a:pPr>
            <a:r>
              <a:rPr lang="en-US" smtClean="0">
                <a:ea typeface="ＭＳ Ｐゴシック"/>
              </a:rPr>
              <a:t>And they compensate for the multiple comparisons. </a:t>
            </a:r>
          </a:p>
          <a:p>
            <a:pPr marL="0" indent="0" eaLnBrk="1" hangingPunct="1">
              <a:lnSpc>
                <a:spcPct val="110000"/>
              </a:lnSpc>
              <a:buFont typeface="Wingdings" pitchFamily="2" charset="2"/>
              <a:buNone/>
            </a:pPr>
            <a:endParaRPr lang="en-US" sz="1600" smtClean="0">
              <a:ea typeface="ＭＳ Ｐゴシック"/>
              <a:cs typeface="ＭＳ Ｐゴシック"/>
            </a:endParaRPr>
          </a:p>
          <a:p>
            <a:pPr marL="0" indent="0" eaLnBrk="1" hangingPunct="1">
              <a:lnSpc>
                <a:spcPct val="110000"/>
              </a:lnSpc>
              <a:buFont typeface="Wingdings" pitchFamily="2" charset="2"/>
              <a:buNone/>
            </a:pPr>
            <a:r>
              <a:rPr lang="en-US" smtClean="0">
                <a:ea typeface="ＭＳ Ｐゴシック"/>
                <a:cs typeface="ＭＳ Ｐゴシック"/>
              </a:rPr>
              <a:t>	We compute the </a:t>
            </a:r>
            <a:r>
              <a:rPr lang="en-US" i="1" smtClean="0">
                <a:ea typeface="ＭＳ Ｐゴシック"/>
                <a:cs typeface="ＭＳ Ｐゴシック"/>
              </a:rPr>
              <a:t>t</a:t>
            </a:r>
            <a:r>
              <a:rPr lang="en-US" smtClean="0">
                <a:ea typeface="ＭＳ Ｐゴシック"/>
                <a:cs typeface="ＭＳ Ｐゴシック"/>
              </a:rPr>
              <a:t>-statistic </a:t>
            </a:r>
            <a:br>
              <a:rPr lang="en-US" smtClean="0">
                <a:ea typeface="ＭＳ Ｐゴシック"/>
                <a:cs typeface="ＭＳ Ｐゴシック"/>
              </a:rPr>
            </a:br>
            <a:r>
              <a:rPr lang="en-US" smtClean="0">
                <a:ea typeface="ＭＳ Ｐゴシック"/>
                <a:cs typeface="ＭＳ Ｐゴシック"/>
              </a:rPr>
              <a:t>	for all pairs of means:</a:t>
            </a:r>
          </a:p>
          <a:p>
            <a:pPr marL="0" indent="0" eaLnBrk="1" hangingPunct="1">
              <a:lnSpc>
                <a:spcPct val="110000"/>
              </a:lnSpc>
              <a:buFont typeface="Wingdings" pitchFamily="2" charset="2"/>
              <a:buNone/>
            </a:pPr>
            <a:endParaRPr lang="en-US" smtClean="0">
              <a:ea typeface="ＭＳ Ｐゴシック"/>
              <a:cs typeface="ＭＳ Ｐゴシック"/>
            </a:endParaRPr>
          </a:p>
          <a:p>
            <a:pPr marL="0" indent="0" eaLnBrk="1" hangingPunct="1">
              <a:lnSpc>
                <a:spcPct val="110000"/>
              </a:lnSpc>
              <a:buFont typeface="Wingdings" pitchFamily="2" charset="2"/>
              <a:buNone/>
            </a:pPr>
            <a:endParaRPr lang="en-US" smtClean="0">
              <a:ea typeface="ＭＳ Ｐゴシック"/>
              <a:cs typeface="ＭＳ Ｐゴシック"/>
            </a:endParaRPr>
          </a:p>
          <a:p>
            <a:pPr marL="0" indent="0" eaLnBrk="1" hangingPunct="1">
              <a:lnSpc>
                <a:spcPct val="110000"/>
              </a:lnSpc>
              <a:buFont typeface="Wingdings" pitchFamily="2" charset="2"/>
              <a:buNone/>
            </a:pPr>
            <a:r>
              <a:rPr lang="en-US" smtClean="0">
                <a:ea typeface="ＭＳ Ｐゴシック"/>
                <a:cs typeface="ＭＳ Ｐゴシック"/>
              </a:rPr>
              <a:t>A given test is significant (</a:t>
            </a:r>
            <a:r>
              <a:rPr lang="en-US" i="1" smtClean="0">
                <a:ea typeface="ＭＳ Ｐゴシック"/>
                <a:cs typeface="Arial" charset="0"/>
              </a:rPr>
              <a:t>µ</a:t>
            </a:r>
            <a:r>
              <a:rPr lang="en-US" i="1" baseline="-25000" smtClean="0">
                <a:ea typeface="ＭＳ Ｐゴシック"/>
                <a:cs typeface="ＭＳ Ｐゴシック"/>
              </a:rPr>
              <a:t>i</a:t>
            </a:r>
            <a:r>
              <a:rPr lang="en-US" smtClean="0">
                <a:ea typeface="ＭＳ Ｐゴシック"/>
                <a:cs typeface="ＭＳ Ｐゴシック"/>
              </a:rPr>
              <a:t> and </a:t>
            </a:r>
            <a:r>
              <a:rPr lang="en-US" i="1" smtClean="0">
                <a:ea typeface="ＭＳ Ｐゴシック"/>
                <a:cs typeface="Arial" charset="0"/>
              </a:rPr>
              <a:t>µ</a:t>
            </a:r>
            <a:r>
              <a:rPr lang="en-US" i="1" baseline="-25000" smtClean="0">
                <a:ea typeface="ＭＳ Ｐゴシック"/>
                <a:cs typeface="ＭＳ Ｐゴシック"/>
              </a:rPr>
              <a:t>j</a:t>
            </a:r>
            <a:r>
              <a:rPr lang="en-US" smtClean="0">
                <a:ea typeface="ＭＳ Ｐゴシック"/>
                <a:cs typeface="ＭＳ Ｐゴシック"/>
              </a:rPr>
              <a:t> significantly different), when </a:t>
            </a:r>
          </a:p>
          <a:p>
            <a:pPr marL="0" indent="0" algn="ctr" eaLnBrk="1" hangingPunct="1">
              <a:lnSpc>
                <a:spcPct val="190000"/>
              </a:lnSpc>
              <a:buFont typeface="Wingdings" pitchFamily="2" charset="2"/>
              <a:buNone/>
            </a:pPr>
            <a:r>
              <a:rPr lang="en-US" smtClean="0">
                <a:ea typeface="ＭＳ Ｐゴシック"/>
                <a:cs typeface="ＭＳ Ｐゴシック"/>
              </a:rPr>
              <a:t>|</a:t>
            </a:r>
            <a:r>
              <a:rPr lang="en-US" i="1" smtClean="0">
                <a:ea typeface="ＭＳ Ｐゴシック"/>
                <a:cs typeface="ＭＳ Ｐゴシック"/>
              </a:rPr>
              <a:t>t</a:t>
            </a:r>
            <a:r>
              <a:rPr lang="en-US" i="1" baseline="-25000" smtClean="0">
                <a:ea typeface="ＭＳ Ｐゴシック"/>
                <a:cs typeface="ＭＳ Ｐゴシック"/>
              </a:rPr>
              <a:t>ij</a:t>
            </a:r>
            <a:r>
              <a:rPr lang="en-US" smtClean="0">
                <a:ea typeface="ＭＳ Ｐゴシック"/>
                <a:cs typeface="ＭＳ Ｐゴシック"/>
              </a:rPr>
              <a:t>| </a:t>
            </a:r>
            <a:r>
              <a:rPr lang="en-US" smtClean="0">
                <a:ea typeface="ＭＳ Ｐゴシック"/>
                <a:cs typeface="Arial" charset="0"/>
              </a:rPr>
              <a:t>≥ </a:t>
            </a:r>
            <a:r>
              <a:rPr lang="en-US" i="1" smtClean="0">
                <a:ea typeface="ＭＳ Ｐゴシック"/>
                <a:cs typeface="ＭＳ Ｐゴシック"/>
              </a:rPr>
              <a:t>t</a:t>
            </a:r>
            <a:r>
              <a:rPr lang="en-US" smtClean="0">
                <a:ea typeface="ＭＳ Ｐゴシック"/>
                <a:cs typeface="ＭＳ Ｐゴシック"/>
              </a:rPr>
              <a:t>** (df = DFE).</a:t>
            </a:r>
          </a:p>
          <a:p>
            <a:pPr marL="0" indent="0" eaLnBrk="1" hangingPunct="1">
              <a:lnSpc>
                <a:spcPct val="110000"/>
              </a:lnSpc>
              <a:buFont typeface="Wingdings" pitchFamily="2" charset="2"/>
              <a:buNone/>
            </a:pPr>
            <a:endParaRPr lang="en-US" sz="1000" smtClean="0">
              <a:ea typeface="ＭＳ Ｐゴシック"/>
              <a:cs typeface="ＭＳ Ｐゴシック"/>
            </a:endParaRPr>
          </a:p>
          <a:p>
            <a:pPr marL="0" indent="0" eaLnBrk="1" hangingPunct="1">
              <a:lnSpc>
                <a:spcPct val="110000"/>
              </a:lnSpc>
              <a:buFont typeface="Wingdings" pitchFamily="2" charset="2"/>
              <a:buNone/>
            </a:pPr>
            <a:r>
              <a:rPr lang="en-US" smtClean="0">
                <a:ea typeface="ＭＳ Ｐゴシック"/>
                <a:cs typeface="ＭＳ Ｐゴシック"/>
              </a:rPr>
              <a:t>The value of </a:t>
            </a:r>
            <a:r>
              <a:rPr lang="en-US" i="1" smtClean="0">
                <a:ea typeface="ＭＳ Ｐゴシック"/>
                <a:cs typeface="ＭＳ Ｐゴシック"/>
              </a:rPr>
              <a:t>t</a:t>
            </a:r>
            <a:r>
              <a:rPr lang="en-US" smtClean="0">
                <a:ea typeface="ＭＳ Ｐゴシック"/>
                <a:cs typeface="ＭＳ Ｐゴシック"/>
              </a:rPr>
              <a:t>** depends on which procedure you choose to use.</a:t>
            </a:r>
          </a:p>
        </p:txBody>
      </p:sp>
      <p:pic>
        <p:nvPicPr>
          <p:cNvPr id="98307" name="Picture 6"/>
          <p:cNvPicPr>
            <a:picLocks noChangeAspect="1" noChangeArrowheads="1"/>
          </p:cNvPicPr>
          <p:nvPr/>
        </p:nvPicPr>
        <p:blipFill>
          <a:blip r:embed="rId3"/>
          <a:srcRect l="39903" t="25928" r="36128" b="52765"/>
          <a:stretch>
            <a:fillRect/>
          </a:stretch>
        </p:blipFill>
        <p:spPr bwMode="auto">
          <a:xfrm>
            <a:off x="4800600" y="3048000"/>
            <a:ext cx="2133600" cy="1149350"/>
          </a:xfrm>
          <a:prstGeom prst="rect">
            <a:avLst/>
          </a:prstGeom>
          <a:noFill/>
          <a:ln w="38100" cmpd="dbl">
            <a:solidFill>
              <a:srgbClr val="CC0000"/>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7651">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07651">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0765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8674" name="Rectangle 2"/>
          <p:cNvSpPr>
            <a:spLocks noGrp="1" noChangeArrowheads="1"/>
          </p:cNvSpPr>
          <p:nvPr>
            <p:ph type="body" idx="1"/>
          </p:nvPr>
        </p:nvSpPr>
        <p:spPr>
          <a:xfrm>
            <a:off x="457200" y="990600"/>
            <a:ext cx="8229600" cy="5638800"/>
          </a:xfrm>
        </p:spPr>
        <p:txBody>
          <a:bodyPr/>
          <a:lstStyle/>
          <a:p>
            <a:pPr marL="0" indent="0" eaLnBrk="1" hangingPunct="1">
              <a:lnSpc>
                <a:spcPct val="150000"/>
              </a:lnSpc>
              <a:buFont typeface="Wingdings" pitchFamily="2" charset="2"/>
              <a:buNone/>
            </a:pPr>
            <a:r>
              <a:rPr lang="en-US" smtClean="0">
                <a:ea typeface="ＭＳ Ｐゴシック"/>
                <a:cs typeface="ＭＳ Ｐゴシック"/>
              </a:rPr>
              <a:t>The </a:t>
            </a:r>
            <a:r>
              <a:rPr lang="en-US" b="1" smtClean="0">
                <a:solidFill>
                  <a:srgbClr val="333399"/>
                </a:solidFill>
                <a:ea typeface="ＭＳ Ｐゴシック"/>
                <a:cs typeface="ＭＳ Ｐゴシック"/>
              </a:rPr>
              <a:t>Bonferroni procedure</a:t>
            </a:r>
            <a:r>
              <a:rPr lang="en-US" smtClean="0">
                <a:ea typeface="ＭＳ Ｐゴシック"/>
                <a:cs typeface="ＭＳ Ｐゴシック"/>
              </a:rPr>
              <a:t> performs a number of pair-wise comparisons with </a:t>
            </a:r>
            <a:r>
              <a:rPr lang="en-US" i="1" smtClean="0">
                <a:ea typeface="ＭＳ Ｐゴシック"/>
                <a:cs typeface="ＭＳ Ｐゴシック"/>
              </a:rPr>
              <a:t>t</a:t>
            </a:r>
            <a:r>
              <a:rPr lang="en-US" smtClean="0">
                <a:ea typeface="ＭＳ Ｐゴシック"/>
                <a:cs typeface="ＭＳ Ｐゴシック"/>
              </a:rPr>
              <a:t>-tests and then multiplies each </a:t>
            </a:r>
            <a:r>
              <a:rPr lang="en-US" i="1" smtClean="0">
                <a:ea typeface="ＭＳ Ｐゴシック"/>
                <a:cs typeface="ＭＳ Ｐゴシック"/>
              </a:rPr>
              <a:t>p-</a:t>
            </a:r>
            <a:r>
              <a:rPr lang="en-US" smtClean="0">
                <a:ea typeface="ＭＳ Ｐゴシック"/>
                <a:cs typeface="ＭＳ Ｐゴシック"/>
              </a:rPr>
              <a:t>value by the number of comparisons made. This ensures that the probability of making </a:t>
            </a:r>
            <a:r>
              <a:rPr lang="en-US" i="1" smtClean="0">
                <a:ea typeface="ＭＳ Ｐゴシック"/>
                <a:cs typeface="ＭＳ Ｐゴシック"/>
              </a:rPr>
              <a:t>any</a:t>
            </a:r>
            <a:r>
              <a:rPr lang="en-US" smtClean="0">
                <a:ea typeface="ＭＳ Ｐゴシック"/>
                <a:cs typeface="ＭＳ Ｐゴシック"/>
              </a:rPr>
              <a:t> false rejection among all comparisons made is no greater than the chosen significance level </a:t>
            </a:r>
            <a:r>
              <a:rPr lang="el-GR" i="1" smtClean="0">
                <a:ea typeface="ＭＳ Ｐゴシック"/>
                <a:cs typeface="Arial" charset="0"/>
              </a:rPr>
              <a:t>α</a:t>
            </a:r>
            <a:r>
              <a:rPr lang="en-US" smtClean="0">
                <a:ea typeface="ＭＳ Ｐゴシック"/>
                <a:cs typeface="Arial" charset="0"/>
              </a:rPr>
              <a:t>.</a:t>
            </a:r>
          </a:p>
          <a:p>
            <a:pPr marL="0" indent="0" eaLnBrk="1" hangingPunct="1">
              <a:lnSpc>
                <a:spcPct val="150000"/>
              </a:lnSpc>
              <a:buFont typeface="Wingdings" pitchFamily="2" charset="2"/>
              <a:buNone/>
            </a:pPr>
            <a:endParaRPr lang="en-US" sz="1000" smtClean="0">
              <a:ea typeface="ＭＳ Ｐゴシック"/>
              <a:cs typeface="ＭＳ Ｐゴシック"/>
            </a:endParaRPr>
          </a:p>
          <a:p>
            <a:pPr marL="457200" lvl="1" indent="0" eaLnBrk="1" hangingPunct="1">
              <a:lnSpc>
                <a:spcPct val="150000"/>
              </a:lnSpc>
              <a:buFont typeface="Wingdings" pitchFamily="2" charset="2"/>
              <a:buNone/>
            </a:pPr>
            <a:r>
              <a:rPr lang="en-US" smtClean="0">
                <a:ea typeface="ＭＳ Ｐゴシック"/>
              </a:rPr>
              <a:t>As a consequence, the higher the number of pair-wise comparisons you make, the more difficult it will be to show statistical significance for each test. But the chance of committing a type I error also increases with the number of tests made. The Bonferroni procedure lowers the working significance level of each test to compensate for the increased chance of type I errors among all tests performed.</a:t>
            </a:r>
          </a:p>
        </p:txBody>
      </p:sp>
      <p:sp>
        <p:nvSpPr>
          <p:cNvPr id="100354" name="Rectangle 3"/>
          <p:cNvSpPr>
            <a:spLocks noGrp="1" noChangeArrowheads="1"/>
          </p:cNvSpPr>
          <p:nvPr>
            <p:ph type="title"/>
          </p:nvPr>
        </p:nvSpPr>
        <p:spPr/>
        <p:txBody>
          <a:bodyPr/>
          <a:lstStyle/>
          <a:p>
            <a:pPr eaLnBrk="1" hangingPunct="1">
              <a:lnSpc>
                <a:spcPct val="110000"/>
              </a:lnSpc>
            </a:pPr>
            <a:r>
              <a:rPr lang="en-US" sz="2800" b="1" smtClean="0">
                <a:solidFill>
                  <a:srgbClr val="333399"/>
                </a:solidFill>
                <a:ea typeface="ＭＳ Ｐゴシック"/>
                <a:cs typeface="ＭＳ Ｐゴシック"/>
              </a:rPr>
              <a:t>The Bonferroni procedure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867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pPr eaLnBrk="1" hangingPunct="1">
              <a:lnSpc>
                <a:spcPct val="110000"/>
              </a:lnSpc>
            </a:pPr>
            <a:r>
              <a:rPr lang="en-US" sz="2800" b="1" smtClean="0">
                <a:solidFill>
                  <a:srgbClr val="333399"/>
                </a:solidFill>
                <a:ea typeface="ＭＳ Ｐゴシック"/>
                <a:cs typeface="ＭＳ Ｐゴシック"/>
              </a:rPr>
              <a:t>Simultaneous confidence intervals</a:t>
            </a:r>
          </a:p>
        </p:txBody>
      </p:sp>
      <p:sp>
        <p:nvSpPr>
          <p:cNvPr id="56324" name="Rectangle 3"/>
          <p:cNvSpPr>
            <a:spLocks noGrp="1" noChangeArrowheads="1"/>
          </p:cNvSpPr>
          <p:nvPr>
            <p:ph type="body" sz="half" idx="1"/>
          </p:nvPr>
        </p:nvSpPr>
        <p:spPr>
          <a:xfrm>
            <a:off x="533400" y="990600"/>
            <a:ext cx="8153400" cy="1981200"/>
          </a:xfrm>
        </p:spPr>
        <p:txBody>
          <a:bodyPr/>
          <a:lstStyle/>
          <a:p>
            <a:pPr marL="0" indent="0" eaLnBrk="1" hangingPunct="1">
              <a:lnSpc>
                <a:spcPct val="190000"/>
              </a:lnSpc>
              <a:buFont typeface="Wingdings" pitchFamily="2" charset="2"/>
              <a:buNone/>
            </a:pPr>
            <a:r>
              <a:rPr lang="en-US" smtClean="0">
                <a:ea typeface="ＭＳ Ｐゴシック"/>
                <a:cs typeface="ＭＳ Ｐゴシック"/>
              </a:rPr>
              <a:t>We can also calculate simultaneous level C </a:t>
            </a:r>
            <a:r>
              <a:rPr lang="en-US" b="1" smtClean="0">
                <a:solidFill>
                  <a:srgbClr val="333399"/>
                </a:solidFill>
                <a:ea typeface="ＭＳ Ｐゴシック"/>
                <a:cs typeface="ＭＳ Ｐゴシック"/>
              </a:rPr>
              <a:t>confidence intervals for all pair-wise differences (</a:t>
            </a:r>
            <a:r>
              <a:rPr lang="en-US" b="1" i="1" smtClean="0">
                <a:solidFill>
                  <a:srgbClr val="333399"/>
                </a:solidFill>
                <a:ea typeface="ＭＳ Ｐゴシック"/>
                <a:cs typeface="Arial" charset="0"/>
              </a:rPr>
              <a:t>µ</a:t>
            </a:r>
            <a:r>
              <a:rPr lang="en-US" b="1" i="1" baseline="-25000" smtClean="0">
                <a:solidFill>
                  <a:srgbClr val="333399"/>
                </a:solidFill>
                <a:ea typeface="ＭＳ Ｐゴシック"/>
                <a:cs typeface="Arial" charset="0"/>
              </a:rPr>
              <a:t>i</a:t>
            </a:r>
            <a:r>
              <a:rPr lang="en-US" b="1" smtClean="0">
                <a:solidFill>
                  <a:srgbClr val="333399"/>
                </a:solidFill>
                <a:ea typeface="ＭＳ Ｐゴシック"/>
                <a:cs typeface="Arial" charset="0"/>
              </a:rPr>
              <a:t> − </a:t>
            </a:r>
            <a:r>
              <a:rPr lang="en-US" b="1" i="1" smtClean="0">
                <a:solidFill>
                  <a:srgbClr val="333399"/>
                </a:solidFill>
                <a:ea typeface="ＭＳ Ｐゴシック"/>
                <a:cs typeface="Arial" charset="0"/>
              </a:rPr>
              <a:t>µ</a:t>
            </a:r>
            <a:r>
              <a:rPr lang="en-US" b="1" i="1" baseline="-25000" smtClean="0">
                <a:solidFill>
                  <a:srgbClr val="333399"/>
                </a:solidFill>
                <a:ea typeface="ＭＳ Ｐゴシック"/>
                <a:cs typeface="Arial" charset="0"/>
              </a:rPr>
              <a:t>j</a:t>
            </a:r>
            <a:r>
              <a:rPr lang="en-US" b="1" smtClean="0">
                <a:solidFill>
                  <a:srgbClr val="333399"/>
                </a:solidFill>
                <a:ea typeface="ＭＳ Ｐゴシック"/>
                <a:cs typeface="ＭＳ Ｐゴシック"/>
              </a:rPr>
              <a:t>)</a:t>
            </a:r>
            <a:r>
              <a:rPr lang="en-US" smtClean="0">
                <a:ea typeface="ＭＳ Ｐゴシック"/>
                <a:cs typeface="ＭＳ Ｐゴシック"/>
              </a:rPr>
              <a:t>between population means:</a:t>
            </a:r>
          </a:p>
        </p:txBody>
      </p:sp>
      <p:graphicFrame>
        <p:nvGraphicFramePr>
          <p:cNvPr id="56322" name="Object 2"/>
          <p:cNvGraphicFramePr>
            <a:graphicFrameLocks noChangeAspect="1"/>
          </p:cNvGraphicFramePr>
          <p:nvPr/>
        </p:nvGraphicFramePr>
        <p:xfrm>
          <a:off x="2601913" y="2724150"/>
          <a:ext cx="4016375" cy="1009650"/>
        </p:xfrm>
        <a:graphic>
          <a:graphicData uri="http://schemas.openxmlformats.org/presentationml/2006/ole">
            <p:oleObj spid="_x0000_s56322" name="Equation" r:id="rId4" imgW="1968480" imgH="495000" progId="Equation.3">
              <p:embed/>
            </p:oleObj>
          </a:graphicData>
        </a:graphic>
      </p:graphicFrame>
      <p:sp>
        <p:nvSpPr>
          <p:cNvPr id="56325" name="Rectangle 5"/>
          <p:cNvSpPr>
            <a:spLocks noChangeArrowheads="1"/>
          </p:cNvSpPr>
          <p:nvPr/>
        </p:nvSpPr>
        <p:spPr bwMode="auto">
          <a:xfrm>
            <a:off x="533400" y="4419600"/>
            <a:ext cx="8153400" cy="1981200"/>
          </a:xfrm>
          <a:prstGeom prst="rect">
            <a:avLst/>
          </a:prstGeom>
          <a:noFill/>
          <a:ln w="9525">
            <a:noFill/>
            <a:miter lim="800000"/>
            <a:headEnd/>
            <a:tailEnd/>
          </a:ln>
        </p:spPr>
        <p:txBody>
          <a:bodyPr/>
          <a:lstStyle/>
          <a:p>
            <a:pPr>
              <a:lnSpc>
                <a:spcPct val="150000"/>
              </a:lnSpc>
              <a:spcBef>
                <a:spcPct val="20000"/>
              </a:spcBef>
              <a:spcAft>
                <a:spcPct val="45000"/>
              </a:spcAft>
              <a:buClr>
                <a:srgbClr val="00CC99"/>
              </a:buClr>
              <a:buSzPct val="65000"/>
              <a:buFont typeface="Wingdings" pitchFamily="2" charset="2"/>
              <a:buChar char="q"/>
            </a:pPr>
            <a:r>
              <a:rPr lang="en-US" sz="2000" i="1"/>
              <a:t>s</a:t>
            </a:r>
            <a:r>
              <a:rPr lang="en-US" sz="2000" i="1" baseline="-25000"/>
              <a:t>p</a:t>
            </a:r>
            <a:r>
              <a:rPr lang="en-US" sz="2000"/>
              <a:t>is the pooled variance, MSE.</a:t>
            </a:r>
          </a:p>
          <a:p>
            <a:pPr>
              <a:lnSpc>
                <a:spcPct val="150000"/>
              </a:lnSpc>
              <a:spcBef>
                <a:spcPct val="20000"/>
              </a:spcBef>
              <a:spcAft>
                <a:spcPct val="45000"/>
              </a:spcAft>
              <a:buClr>
                <a:srgbClr val="00CC99"/>
              </a:buClr>
              <a:buSzPct val="65000"/>
              <a:buFont typeface="Wingdings" pitchFamily="2" charset="2"/>
              <a:buChar char="q"/>
            </a:pPr>
            <a:r>
              <a:rPr lang="en-US" sz="2000" i="1"/>
              <a:t>t</a:t>
            </a:r>
            <a:r>
              <a:rPr lang="en-US" sz="2000"/>
              <a:t>** is the </a:t>
            </a:r>
            <a:r>
              <a:rPr lang="en-US" sz="2000" i="1"/>
              <a:t>t</a:t>
            </a:r>
            <a:r>
              <a:rPr lang="en-US" sz="2000"/>
              <a:t> critical with degrees of freedom DFE = </a:t>
            </a:r>
            <a:r>
              <a:rPr lang="en-US" sz="2000" i="1"/>
              <a:t>N</a:t>
            </a:r>
            <a:r>
              <a:rPr lang="en-US" sz="2000"/>
              <a:t> – </a:t>
            </a:r>
            <a:r>
              <a:rPr lang="en-US" sz="2000" i="1"/>
              <a:t>I</a:t>
            </a:r>
            <a:r>
              <a:rPr lang="en-US" sz="2000"/>
              <a:t>, adjusted for multiple, simultaneous comparisons (e.g., Bonferroni procedure).</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p:cNvSpPr>
            <a:spLocks noGrp="1" noChangeArrowheads="1"/>
          </p:cNvSpPr>
          <p:nvPr>
            <p:ph type="body" sz="half" idx="1"/>
          </p:nvPr>
        </p:nvSpPr>
        <p:spPr>
          <a:xfrm>
            <a:off x="457200" y="304800"/>
            <a:ext cx="8229600" cy="6172200"/>
          </a:xfrm>
        </p:spPr>
        <p:txBody>
          <a:bodyPr/>
          <a:lstStyle/>
          <a:p>
            <a:pPr eaLnBrk="1" hangingPunct="1">
              <a:lnSpc>
                <a:spcPct val="80000"/>
              </a:lnSpc>
              <a:buFont typeface="Wingdings" pitchFamily="2" charset="2"/>
              <a:buNone/>
            </a:pPr>
            <a:r>
              <a:rPr lang="en-US" sz="1800" b="1" smtClean="0">
                <a:solidFill>
                  <a:srgbClr val="333399"/>
                </a:solidFill>
                <a:ea typeface="ＭＳ Ｐゴシック"/>
                <a:cs typeface="ＭＳ Ｐゴシック"/>
              </a:rPr>
              <a:t>SYSTAT</a:t>
            </a:r>
          </a:p>
          <a:p>
            <a:pPr eaLnBrk="1" hangingPunct="1">
              <a:lnSpc>
                <a:spcPct val="80000"/>
              </a:lnSpc>
              <a:buFont typeface="Wingdings" pitchFamily="2" charset="2"/>
              <a:buNone/>
            </a:pPr>
            <a:r>
              <a:rPr lang="en-US" sz="1400" smtClean="0">
                <a:ea typeface="ＭＳ Ｐゴシック"/>
                <a:cs typeface="ＭＳ Ｐゴシック"/>
              </a:rPr>
              <a:t>File contains variables:	GROWTH	NEMATODES$	</a:t>
            </a:r>
          </a:p>
          <a:p>
            <a:pPr eaLnBrk="1" hangingPunct="1">
              <a:lnSpc>
                <a:spcPct val="80000"/>
              </a:lnSpc>
              <a:buFont typeface="Wingdings" pitchFamily="2" charset="2"/>
              <a:buNone/>
            </a:pPr>
            <a:r>
              <a:rPr lang="en-US" sz="1400" smtClean="0">
                <a:ea typeface="ＭＳ Ｐゴシック"/>
                <a:cs typeface="ＭＳ Ｐゴシック"/>
              </a:rPr>
              <a:t>Categorical values encountered during processing are:</a:t>
            </a:r>
          </a:p>
          <a:p>
            <a:pPr eaLnBrk="1" hangingPunct="1">
              <a:lnSpc>
                <a:spcPct val="80000"/>
              </a:lnSpc>
              <a:buFont typeface="Wingdings" pitchFamily="2" charset="2"/>
              <a:buNone/>
            </a:pPr>
            <a:r>
              <a:rPr lang="en-US" sz="1400" smtClean="0">
                <a:ea typeface="ＭＳ Ｐゴシック"/>
                <a:cs typeface="ＭＳ Ｐゴシック"/>
              </a:rPr>
              <a:t>NEMATODES$ (four levels):	10K, 1K, 5K, none</a:t>
            </a:r>
          </a:p>
          <a:p>
            <a:pPr eaLnBrk="1" hangingPunct="1">
              <a:lnSpc>
                <a:spcPct val="80000"/>
              </a:lnSpc>
              <a:buFont typeface="Wingdings" pitchFamily="2" charset="2"/>
              <a:buNone/>
            </a:pPr>
            <a:endParaRPr lang="en-US" sz="1400" smtClean="0">
              <a:ea typeface="ＭＳ Ｐゴシック"/>
              <a:cs typeface="ＭＳ Ｐゴシック"/>
            </a:endParaRPr>
          </a:p>
          <a:p>
            <a:pPr eaLnBrk="1" hangingPunct="1">
              <a:lnSpc>
                <a:spcPct val="80000"/>
              </a:lnSpc>
              <a:buFont typeface="Wingdings" pitchFamily="2" charset="2"/>
              <a:buNone/>
            </a:pPr>
            <a:r>
              <a:rPr lang="en-US" sz="1400" smtClean="0">
                <a:ea typeface="ＭＳ Ｐゴシック"/>
                <a:cs typeface="ＭＳ Ｐゴシック"/>
              </a:rPr>
              <a:t>Dep Var: GROWTH   N: 16   Multiple R: 0.867   Squared multiple R: 0.751</a:t>
            </a:r>
          </a:p>
          <a:p>
            <a:pPr eaLnBrk="1" hangingPunct="1">
              <a:lnSpc>
                <a:spcPct val="80000"/>
              </a:lnSpc>
              <a:buFont typeface="Wingdings" pitchFamily="2" charset="2"/>
              <a:buNone/>
            </a:pPr>
            <a:endParaRPr lang="en-US" smtClean="0">
              <a:ea typeface="ＭＳ Ｐゴシック"/>
              <a:cs typeface="ＭＳ Ｐゴシック"/>
            </a:endParaRPr>
          </a:p>
          <a:p>
            <a:pPr eaLnBrk="1" hangingPunct="1">
              <a:lnSpc>
                <a:spcPct val="80000"/>
              </a:lnSpc>
              <a:buFont typeface="Wingdings" pitchFamily="2" charset="2"/>
              <a:buNone/>
            </a:pPr>
            <a:r>
              <a:rPr lang="en-US" sz="1400" smtClean="0">
                <a:ea typeface="ＭＳ Ｐゴシック"/>
                <a:cs typeface="ＭＳ Ｐゴシック"/>
              </a:rPr>
              <a:t>Analysis of Variance</a:t>
            </a:r>
          </a:p>
          <a:p>
            <a:pPr eaLnBrk="1" hangingPunct="1">
              <a:lnSpc>
                <a:spcPct val="80000"/>
              </a:lnSpc>
              <a:buFont typeface="Wingdings" pitchFamily="2" charset="2"/>
              <a:buNone/>
            </a:pPr>
            <a:r>
              <a:rPr lang="en-US" sz="1400" smtClean="0">
                <a:ea typeface="ＭＳ Ｐゴシック"/>
                <a:cs typeface="ＭＳ Ｐゴシック"/>
              </a:rPr>
              <a:t>Source		Sum-of-Squares	df	Mean-Square	F-ratio	P</a:t>
            </a:r>
          </a:p>
          <a:p>
            <a:pPr eaLnBrk="1" hangingPunct="1">
              <a:lnSpc>
                <a:spcPct val="80000"/>
              </a:lnSpc>
              <a:buFont typeface="Wingdings" pitchFamily="2" charset="2"/>
              <a:buNone/>
            </a:pPr>
            <a:r>
              <a:rPr lang="en-US" sz="1400" smtClean="0">
                <a:ea typeface="ＭＳ Ｐゴシック"/>
                <a:cs typeface="ＭＳ Ｐゴシック"/>
              </a:rPr>
              <a:t>NEMATODES$	100.647		3	33.549		12.080	0.001</a:t>
            </a:r>
          </a:p>
          <a:p>
            <a:pPr eaLnBrk="1" hangingPunct="1">
              <a:lnSpc>
                <a:spcPct val="80000"/>
              </a:lnSpc>
              <a:buFont typeface="Wingdings" pitchFamily="2" charset="2"/>
              <a:buNone/>
            </a:pPr>
            <a:r>
              <a:rPr lang="en-US" sz="1400" smtClean="0">
                <a:ea typeface="ＭＳ Ｐゴシック"/>
                <a:cs typeface="ＭＳ Ｐゴシック"/>
              </a:rPr>
              <a:t>Error		33.328		12	2.777	</a:t>
            </a:r>
          </a:p>
          <a:p>
            <a:pPr eaLnBrk="1" hangingPunct="1">
              <a:lnSpc>
                <a:spcPct val="80000"/>
              </a:lnSpc>
              <a:buFont typeface="Wingdings" pitchFamily="2" charset="2"/>
              <a:buNone/>
            </a:pPr>
            <a:endParaRPr lang="en-US" sz="1400" smtClean="0">
              <a:ea typeface="ＭＳ Ｐゴシック"/>
              <a:cs typeface="ＭＳ Ｐゴシック"/>
            </a:endParaRPr>
          </a:p>
          <a:p>
            <a:pPr eaLnBrk="1" hangingPunct="1">
              <a:lnSpc>
                <a:spcPct val="80000"/>
              </a:lnSpc>
              <a:buFont typeface="Wingdings" pitchFamily="2" charset="2"/>
              <a:buNone/>
            </a:pPr>
            <a:r>
              <a:rPr lang="en-US" sz="1400" b="1" smtClean="0">
                <a:ea typeface="ＭＳ Ｐゴシック"/>
                <a:cs typeface="ＭＳ Ｐゴシック"/>
              </a:rPr>
              <a:t>Post Hoc test of GROWTH	Using model MSE of 2.777 with 12 df.</a:t>
            </a:r>
          </a:p>
          <a:p>
            <a:pPr eaLnBrk="1" hangingPunct="1">
              <a:lnSpc>
                <a:spcPct val="80000"/>
              </a:lnSpc>
              <a:buFont typeface="Wingdings" pitchFamily="2" charset="2"/>
              <a:buNone/>
            </a:pPr>
            <a:endParaRPr lang="en-US" smtClean="0">
              <a:ea typeface="ＭＳ Ｐゴシック"/>
              <a:cs typeface="ＭＳ Ｐゴシック"/>
            </a:endParaRPr>
          </a:p>
          <a:p>
            <a:pPr eaLnBrk="1" hangingPunct="1">
              <a:lnSpc>
                <a:spcPct val="80000"/>
              </a:lnSpc>
              <a:buFont typeface="Wingdings" pitchFamily="2" charset="2"/>
              <a:buNone/>
            </a:pPr>
            <a:r>
              <a:rPr lang="en-US" sz="1400" smtClean="0">
                <a:ea typeface="ＭＳ Ｐゴシック"/>
                <a:cs typeface="ＭＳ Ｐゴシック"/>
              </a:rPr>
              <a:t>Matrix of pairwise mean differences:</a:t>
            </a:r>
          </a:p>
          <a:p>
            <a:pPr eaLnBrk="1" hangingPunct="1">
              <a:lnSpc>
                <a:spcPct val="80000"/>
              </a:lnSpc>
              <a:buFont typeface="Wingdings" pitchFamily="2" charset="2"/>
              <a:buNone/>
            </a:pPr>
            <a:r>
              <a:rPr lang="en-US" sz="1400" smtClean="0">
                <a:ea typeface="ＭＳ Ｐゴシック"/>
                <a:cs typeface="ＭＳ Ｐゴシック"/>
              </a:rPr>
              <a:t>		1	2	3	4	</a:t>
            </a:r>
          </a:p>
          <a:p>
            <a:pPr eaLnBrk="1" hangingPunct="1">
              <a:lnSpc>
                <a:spcPct val="80000"/>
              </a:lnSpc>
              <a:buFont typeface="Wingdings" pitchFamily="2" charset="2"/>
              <a:buNone/>
            </a:pPr>
            <a:r>
              <a:rPr lang="en-US" sz="1400" smtClean="0">
                <a:ea typeface="ＭＳ Ｐゴシック"/>
                <a:cs typeface="ＭＳ Ｐゴシック"/>
              </a:rPr>
              <a:t>	1	0.000				</a:t>
            </a:r>
          </a:p>
          <a:p>
            <a:pPr eaLnBrk="1" hangingPunct="1">
              <a:lnSpc>
                <a:spcPct val="80000"/>
              </a:lnSpc>
              <a:buFont typeface="Wingdings" pitchFamily="2" charset="2"/>
              <a:buNone/>
            </a:pPr>
            <a:r>
              <a:rPr lang="en-US" sz="1400" smtClean="0">
                <a:ea typeface="ＭＳ Ｐゴシック"/>
                <a:cs typeface="ＭＳ Ｐゴシック"/>
              </a:rPr>
              <a:t>	2	4.975	0.000			</a:t>
            </a:r>
          </a:p>
          <a:p>
            <a:pPr eaLnBrk="1" hangingPunct="1">
              <a:lnSpc>
                <a:spcPct val="80000"/>
              </a:lnSpc>
              <a:buFont typeface="Wingdings" pitchFamily="2" charset="2"/>
              <a:buNone/>
            </a:pPr>
            <a:r>
              <a:rPr lang="en-US" sz="1400" smtClean="0">
                <a:ea typeface="ＭＳ Ｐゴシック"/>
                <a:cs typeface="ＭＳ Ｐゴシック"/>
              </a:rPr>
              <a:t>	3	0.150	</a:t>
            </a:r>
            <a:r>
              <a:rPr lang="en-US" sz="1400" smtClean="0">
                <a:ea typeface="ＭＳ Ｐゴシック"/>
                <a:cs typeface="Arial" charset="0"/>
              </a:rPr>
              <a:t>−</a:t>
            </a:r>
            <a:r>
              <a:rPr lang="en-US" sz="1400" smtClean="0">
                <a:ea typeface="ＭＳ Ｐゴシック"/>
                <a:cs typeface="ＭＳ Ｐゴシック"/>
              </a:rPr>
              <a:t>4.825	0.000		</a:t>
            </a:r>
          </a:p>
          <a:p>
            <a:pPr eaLnBrk="1" hangingPunct="1">
              <a:lnSpc>
                <a:spcPct val="80000"/>
              </a:lnSpc>
              <a:buFont typeface="Wingdings" pitchFamily="2" charset="2"/>
              <a:buNone/>
            </a:pPr>
            <a:r>
              <a:rPr lang="en-US" sz="1400" smtClean="0">
                <a:ea typeface="ＭＳ Ｐゴシック"/>
                <a:cs typeface="ＭＳ Ｐゴシック"/>
              </a:rPr>
              <a:t>	4	5.200	0.225	5.050	0.000	</a:t>
            </a:r>
          </a:p>
          <a:p>
            <a:pPr eaLnBrk="1" hangingPunct="1">
              <a:lnSpc>
                <a:spcPct val="80000"/>
              </a:lnSpc>
              <a:buFont typeface="Wingdings" pitchFamily="2" charset="2"/>
              <a:buNone/>
            </a:pPr>
            <a:endParaRPr lang="en-US" smtClean="0">
              <a:ea typeface="ＭＳ Ｐゴシック"/>
              <a:cs typeface="ＭＳ Ｐゴシック"/>
            </a:endParaRPr>
          </a:p>
          <a:p>
            <a:pPr eaLnBrk="1" hangingPunct="1">
              <a:lnSpc>
                <a:spcPct val="80000"/>
              </a:lnSpc>
              <a:buFont typeface="Wingdings" pitchFamily="2" charset="2"/>
              <a:buNone/>
            </a:pPr>
            <a:r>
              <a:rPr lang="en-US" sz="1400" b="1" smtClean="0">
                <a:ea typeface="ＭＳ Ｐゴシック"/>
                <a:cs typeface="ＭＳ Ｐゴシック"/>
              </a:rPr>
              <a:t>Bonferroni Adjustment</a:t>
            </a:r>
          </a:p>
          <a:p>
            <a:pPr eaLnBrk="1" hangingPunct="1">
              <a:lnSpc>
                <a:spcPct val="80000"/>
              </a:lnSpc>
              <a:buFont typeface="Wingdings" pitchFamily="2" charset="2"/>
              <a:buNone/>
            </a:pPr>
            <a:r>
              <a:rPr lang="en-US" sz="1400" b="1" smtClean="0">
                <a:ea typeface="ＭＳ Ｐゴシック"/>
                <a:cs typeface="ＭＳ Ｐゴシック"/>
              </a:rPr>
              <a:t>Matrix of pairwise comparison probabilities:</a:t>
            </a:r>
          </a:p>
          <a:p>
            <a:pPr eaLnBrk="1" hangingPunct="1">
              <a:lnSpc>
                <a:spcPct val="80000"/>
              </a:lnSpc>
              <a:buFont typeface="Wingdings" pitchFamily="2" charset="2"/>
              <a:buNone/>
            </a:pPr>
            <a:r>
              <a:rPr lang="en-US" sz="1400" smtClean="0">
                <a:ea typeface="ＭＳ Ｐゴシック"/>
                <a:cs typeface="ＭＳ Ｐゴシック"/>
              </a:rPr>
              <a:t>		1	2	3	4	</a:t>
            </a:r>
          </a:p>
          <a:p>
            <a:pPr eaLnBrk="1" hangingPunct="1">
              <a:lnSpc>
                <a:spcPct val="80000"/>
              </a:lnSpc>
              <a:buFont typeface="Wingdings" pitchFamily="2" charset="2"/>
              <a:buNone/>
            </a:pPr>
            <a:r>
              <a:rPr lang="en-US" sz="1400" smtClean="0">
                <a:ea typeface="ＭＳ Ｐゴシック"/>
                <a:cs typeface="ＭＳ Ｐゴシック"/>
              </a:rPr>
              <a:t>	1	1.000				</a:t>
            </a:r>
          </a:p>
          <a:p>
            <a:pPr eaLnBrk="1" hangingPunct="1">
              <a:lnSpc>
                <a:spcPct val="80000"/>
              </a:lnSpc>
              <a:buFont typeface="Wingdings" pitchFamily="2" charset="2"/>
              <a:buNone/>
            </a:pPr>
            <a:r>
              <a:rPr lang="en-US" sz="1400" smtClean="0">
                <a:ea typeface="ＭＳ Ｐゴシック"/>
                <a:cs typeface="ＭＳ Ｐゴシック"/>
              </a:rPr>
              <a:t>	2	0.007	1.000			</a:t>
            </a:r>
          </a:p>
          <a:p>
            <a:pPr eaLnBrk="1" hangingPunct="1">
              <a:lnSpc>
                <a:spcPct val="80000"/>
              </a:lnSpc>
              <a:buFont typeface="Wingdings" pitchFamily="2" charset="2"/>
              <a:buNone/>
            </a:pPr>
            <a:r>
              <a:rPr lang="en-US" sz="1400" smtClean="0">
                <a:ea typeface="ＭＳ Ｐゴシック"/>
                <a:cs typeface="ＭＳ Ｐゴシック"/>
              </a:rPr>
              <a:t>	3	1.000	0.009	1.000		</a:t>
            </a:r>
          </a:p>
          <a:p>
            <a:pPr eaLnBrk="1" hangingPunct="1">
              <a:lnSpc>
                <a:spcPct val="80000"/>
              </a:lnSpc>
              <a:buFont typeface="Wingdings" pitchFamily="2" charset="2"/>
              <a:buNone/>
            </a:pPr>
            <a:r>
              <a:rPr lang="en-US" sz="1400" smtClean="0">
                <a:ea typeface="ＭＳ Ｐゴシック"/>
                <a:cs typeface="ＭＳ Ｐゴシック"/>
              </a:rPr>
              <a:t>	4	0.005	1.000	0.006	1.000</a:t>
            </a:r>
          </a:p>
        </p:txBody>
      </p:sp>
      <p:pic>
        <p:nvPicPr>
          <p:cNvPr id="105474" name="Picture 3"/>
          <p:cNvPicPr>
            <a:picLocks noGrp="1" noChangeAspect="1" noChangeArrowheads="1"/>
          </p:cNvPicPr>
          <p:nvPr>
            <p:ph sz="quarter" idx="3"/>
          </p:nvPr>
        </p:nvPicPr>
        <p:blipFill>
          <a:blip r:embed="rId3"/>
          <a:srcRect/>
          <a:stretch>
            <a:fillRect/>
          </a:stretch>
        </p:blipFill>
        <p:spPr>
          <a:xfrm>
            <a:off x="7543800" y="152400"/>
            <a:ext cx="1447800" cy="1276350"/>
          </a:xfrm>
        </p:spPr>
      </p:pic>
      <p:pic>
        <p:nvPicPr>
          <p:cNvPr id="105475" name="Picture 4"/>
          <p:cNvPicPr>
            <a:picLocks noGrp="1" noChangeAspect="1" noChangeArrowheads="1"/>
          </p:cNvPicPr>
          <p:nvPr>
            <p:ph sz="quarter" idx="2"/>
          </p:nvPr>
        </p:nvPicPr>
        <p:blipFill>
          <a:blip r:embed="rId4"/>
          <a:srcRect/>
          <a:stretch>
            <a:fillRect/>
          </a:stretch>
        </p:blipFill>
        <p:spPr>
          <a:xfrm>
            <a:off x="5276850" y="3717925"/>
            <a:ext cx="3638550" cy="2911475"/>
          </a:xfr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p:cNvSpPr>
            <a:spLocks noGrp="1" noChangeArrowheads="1"/>
          </p:cNvSpPr>
          <p:nvPr>
            <p:ph type="body" sz="half" idx="1"/>
          </p:nvPr>
        </p:nvSpPr>
        <p:spPr>
          <a:xfrm>
            <a:off x="457200" y="381000"/>
            <a:ext cx="8229600" cy="6172200"/>
          </a:xfrm>
        </p:spPr>
        <p:txBody>
          <a:bodyPr/>
          <a:lstStyle/>
          <a:p>
            <a:pPr marL="0" indent="0" eaLnBrk="1" hangingPunct="1">
              <a:lnSpc>
                <a:spcPct val="80000"/>
              </a:lnSpc>
              <a:buFont typeface="Wingdings" pitchFamily="2" charset="2"/>
              <a:buNone/>
            </a:pPr>
            <a:r>
              <a:rPr lang="en-US" sz="1800" b="1" smtClean="0">
                <a:solidFill>
                  <a:srgbClr val="333399"/>
                </a:solidFill>
                <a:ea typeface="ＭＳ Ｐゴシック"/>
                <a:cs typeface="ＭＳ Ｐゴシック"/>
              </a:rPr>
              <a:t>SigmaStat</a:t>
            </a:r>
            <a:r>
              <a:rPr lang="en-US" sz="1800" b="1" smtClean="0">
                <a:solidFill>
                  <a:srgbClr val="333399"/>
                </a:solidFill>
                <a:ea typeface="ＭＳ Ｐゴシック"/>
                <a:cs typeface="Arial" charset="0"/>
              </a:rPr>
              <a:t>—</a:t>
            </a:r>
            <a:r>
              <a:rPr lang="en-US" sz="1600" b="1" smtClean="0">
                <a:ea typeface="ＭＳ Ｐゴシック"/>
                <a:cs typeface="ＭＳ Ｐゴシック"/>
              </a:rPr>
              <a:t>One-Way Analysis of Variance	</a:t>
            </a:r>
            <a:endParaRPr lang="en-US" sz="1600" smtClean="0">
              <a:ea typeface="ＭＳ Ｐゴシック"/>
              <a:cs typeface="ＭＳ Ｐゴシック"/>
            </a:endParaRPr>
          </a:p>
          <a:p>
            <a:pPr marL="0" indent="0" eaLnBrk="1" hangingPunct="1">
              <a:lnSpc>
                <a:spcPct val="80000"/>
              </a:lnSpc>
              <a:buFont typeface="Wingdings" pitchFamily="2" charset="2"/>
              <a:buNone/>
            </a:pPr>
            <a:endParaRPr lang="en-US" sz="1800" smtClean="0">
              <a:ea typeface="ＭＳ Ｐゴシック"/>
              <a:cs typeface="ＭＳ Ｐゴシック"/>
            </a:endParaRPr>
          </a:p>
          <a:p>
            <a:pPr marL="0" indent="0" eaLnBrk="1" hangingPunct="1">
              <a:lnSpc>
                <a:spcPct val="80000"/>
              </a:lnSpc>
              <a:buFont typeface="Wingdings" pitchFamily="2" charset="2"/>
              <a:buNone/>
            </a:pPr>
            <a:r>
              <a:rPr lang="en-US" sz="1400" b="1" smtClean="0">
                <a:ea typeface="ＭＳ Ｐゴシック"/>
                <a:cs typeface="ＭＳ Ｐゴシック"/>
              </a:rPr>
              <a:t>Normality Test:</a:t>
            </a:r>
            <a:r>
              <a:rPr lang="en-US" sz="1400" smtClean="0">
                <a:ea typeface="ＭＳ Ｐゴシック"/>
                <a:cs typeface="ＭＳ Ｐゴシック"/>
              </a:rPr>
              <a:t>	Passed	(P &gt; 0.050)</a:t>
            </a:r>
          </a:p>
          <a:p>
            <a:pPr marL="0" indent="0" eaLnBrk="1" hangingPunct="1">
              <a:lnSpc>
                <a:spcPct val="80000"/>
              </a:lnSpc>
              <a:buFont typeface="Wingdings" pitchFamily="2" charset="2"/>
              <a:buNone/>
            </a:pPr>
            <a:r>
              <a:rPr lang="en-US" sz="1400" b="1" smtClean="0">
                <a:ea typeface="ＭＳ Ｐゴシック"/>
                <a:cs typeface="ＭＳ Ｐゴシック"/>
              </a:rPr>
              <a:t>Equal Variance Test:</a:t>
            </a:r>
            <a:r>
              <a:rPr lang="en-US" sz="1400" smtClean="0">
                <a:ea typeface="ＭＳ Ｐゴシック"/>
                <a:cs typeface="ＭＳ Ｐゴシック"/>
              </a:rPr>
              <a:t>	Passed	(P = 0.807)</a:t>
            </a:r>
          </a:p>
          <a:p>
            <a:pPr marL="0" indent="0" eaLnBrk="1" hangingPunct="1">
              <a:lnSpc>
                <a:spcPct val="80000"/>
              </a:lnSpc>
              <a:buFont typeface="Wingdings" pitchFamily="2" charset="2"/>
              <a:buNone/>
            </a:pPr>
            <a:endParaRPr lang="en-US" sz="1400" smtClean="0">
              <a:ea typeface="ＭＳ Ｐゴシック"/>
              <a:cs typeface="ＭＳ Ｐゴシック"/>
            </a:endParaRPr>
          </a:p>
          <a:p>
            <a:pPr marL="0" indent="0" eaLnBrk="1" hangingPunct="1">
              <a:lnSpc>
                <a:spcPct val="80000"/>
              </a:lnSpc>
              <a:buFont typeface="Wingdings" pitchFamily="2" charset="2"/>
              <a:buNone/>
            </a:pPr>
            <a:r>
              <a:rPr lang="en-US" sz="1400" b="1" smtClean="0">
                <a:ea typeface="ＭＳ Ｐゴシック"/>
                <a:cs typeface="ＭＳ Ｐゴシック"/>
              </a:rPr>
              <a:t>Group Name 	N 	Missing	Mean	Std dev	SEM	</a:t>
            </a:r>
          </a:p>
          <a:p>
            <a:pPr marL="0" indent="0" eaLnBrk="1" hangingPunct="1">
              <a:lnSpc>
                <a:spcPct val="80000"/>
              </a:lnSpc>
              <a:buFont typeface="Wingdings" pitchFamily="2" charset="2"/>
              <a:buNone/>
            </a:pPr>
            <a:r>
              <a:rPr lang="en-US" sz="1400" smtClean="0">
                <a:ea typeface="ＭＳ Ｐゴシック"/>
                <a:cs typeface="ＭＳ Ｐゴシック"/>
              </a:rPr>
              <a:t>None		4	0	10.650	2.053	1.027	</a:t>
            </a:r>
          </a:p>
          <a:p>
            <a:pPr marL="0" indent="0" eaLnBrk="1" hangingPunct="1">
              <a:lnSpc>
                <a:spcPct val="80000"/>
              </a:lnSpc>
              <a:buFont typeface="Wingdings" pitchFamily="2" charset="2"/>
              <a:buNone/>
            </a:pPr>
            <a:r>
              <a:rPr lang="en-US" sz="1400" smtClean="0">
                <a:ea typeface="ＭＳ Ｐゴシック"/>
                <a:cs typeface="ＭＳ Ｐゴシック"/>
              </a:rPr>
              <a:t>1K		4	0	10.425	1.486	0.743	</a:t>
            </a:r>
          </a:p>
          <a:p>
            <a:pPr marL="0" indent="0" eaLnBrk="1" hangingPunct="1">
              <a:lnSpc>
                <a:spcPct val="80000"/>
              </a:lnSpc>
              <a:buFont typeface="Wingdings" pitchFamily="2" charset="2"/>
              <a:buNone/>
            </a:pPr>
            <a:r>
              <a:rPr lang="en-US" sz="1400" smtClean="0">
                <a:ea typeface="ＭＳ Ｐゴシック"/>
                <a:cs typeface="ＭＳ Ｐゴシック"/>
              </a:rPr>
              <a:t>5K		4	0	  5.600	1.244	0.622	</a:t>
            </a:r>
          </a:p>
          <a:p>
            <a:pPr marL="0" indent="0" eaLnBrk="1" hangingPunct="1">
              <a:lnSpc>
                <a:spcPct val="80000"/>
              </a:lnSpc>
              <a:buFont typeface="Wingdings" pitchFamily="2" charset="2"/>
              <a:buNone/>
            </a:pPr>
            <a:r>
              <a:rPr lang="en-US" sz="1400" smtClean="0">
                <a:ea typeface="ＭＳ Ｐゴシック"/>
                <a:cs typeface="ＭＳ Ｐゴシック"/>
              </a:rPr>
              <a:t>10K		4	0	  5.450	1.771	0.886	</a:t>
            </a:r>
          </a:p>
          <a:p>
            <a:pPr marL="0" indent="0" eaLnBrk="1" hangingPunct="1">
              <a:lnSpc>
                <a:spcPct val="80000"/>
              </a:lnSpc>
              <a:buFont typeface="Wingdings" pitchFamily="2" charset="2"/>
              <a:buNone/>
            </a:pPr>
            <a:endParaRPr lang="en-US" sz="1400" smtClean="0">
              <a:ea typeface="ＭＳ Ｐゴシック"/>
              <a:cs typeface="ＭＳ Ｐゴシック"/>
            </a:endParaRPr>
          </a:p>
          <a:p>
            <a:pPr marL="0" indent="0" eaLnBrk="1" hangingPunct="1">
              <a:lnSpc>
                <a:spcPct val="80000"/>
              </a:lnSpc>
              <a:buFont typeface="Wingdings" pitchFamily="2" charset="2"/>
              <a:buNone/>
            </a:pPr>
            <a:r>
              <a:rPr lang="en-US" sz="1400" b="1" smtClean="0">
                <a:ea typeface="ＭＳ Ｐゴシック"/>
                <a:cs typeface="ＭＳ Ｐゴシック"/>
              </a:rPr>
              <a:t>Source of variation	 DF 	 SS 	 MS 	  F 	  P 	</a:t>
            </a:r>
          </a:p>
          <a:p>
            <a:pPr marL="0" indent="0" eaLnBrk="1" hangingPunct="1">
              <a:lnSpc>
                <a:spcPct val="80000"/>
              </a:lnSpc>
              <a:buFont typeface="Wingdings" pitchFamily="2" charset="2"/>
              <a:buNone/>
            </a:pPr>
            <a:r>
              <a:rPr lang="en-US" sz="1400" smtClean="0">
                <a:ea typeface="ＭＳ Ｐゴシック"/>
                <a:cs typeface="ＭＳ Ｐゴシック"/>
              </a:rPr>
              <a:t>Between groups	3	100.647	33.549	12.080	&lt;0.001	</a:t>
            </a:r>
          </a:p>
          <a:p>
            <a:pPr marL="0" indent="0" eaLnBrk="1" hangingPunct="1">
              <a:lnSpc>
                <a:spcPct val="80000"/>
              </a:lnSpc>
              <a:buFont typeface="Wingdings" pitchFamily="2" charset="2"/>
              <a:buNone/>
            </a:pPr>
            <a:r>
              <a:rPr lang="en-US" sz="1400" smtClean="0">
                <a:ea typeface="ＭＳ Ｐゴシック"/>
                <a:cs typeface="ＭＳ Ｐゴシック"/>
              </a:rPr>
              <a:t>Residual	12	33.328	2.777			</a:t>
            </a:r>
          </a:p>
          <a:p>
            <a:pPr marL="0" indent="0" eaLnBrk="1" hangingPunct="1">
              <a:lnSpc>
                <a:spcPct val="80000"/>
              </a:lnSpc>
              <a:buFont typeface="Wingdings" pitchFamily="2" charset="2"/>
              <a:buNone/>
            </a:pPr>
            <a:r>
              <a:rPr lang="en-US" sz="1400" smtClean="0">
                <a:ea typeface="ＭＳ Ｐゴシック"/>
                <a:cs typeface="ＭＳ Ｐゴシック"/>
              </a:rPr>
              <a:t>Total	15	133.974				</a:t>
            </a:r>
          </a:p>
          <a:p>
            <a:pPr marL="0" indent="0" eaLnBrk="1" hangingPunct="1">
              <a:lnSpc>
                <a:spcPct val="80000"/>
              </a:lnSpc>
              <a:buFont typeface="Wingdings" pitchFamily="2" charset="2"/>
              <a:buNone/>
            </a:pPr>
            <a:endParaRPr lang="en-US" sz="1400" smtClean="0">
              <a:ea typeface="ＭＳ Ｐゴシック"/>
              <a:cs typeface="ＭＳ Ｐゴシック"/>
            </a:endParaRPr>
          </a:p>
          <a:p>
            <a:pPr marL="0" indent="0" eaLnBrk="1" hangingPunct="1">
              <a:lnSpc>
                <a:spcPct val="80000"/>
              </a:lnSpc>
              <a:buFont typeface="Wingdings" pitchFamily="2" charset="2"/>
              <a:buNone/>
            </a:pPr>
            <a:r>
              <a:rPr lang="en-US" sz="1400" smtClean="0">
                <a:ea typeface="ＭＳ Ｐゴシック"/>
                <a:cs typeface="ＭＳ Ｐゴシック"/>
              </a:rPr>
              <a:t>Power of performed test with alpha = 0.050: 0.992</a:t>
            </a:r>
          </a:p>
          <a:p>
            <a:pPr marL="0" indent="0" eaLnBrk="1" hangingPunct="1">
              <a:lnSpc>
                <a:spcPct val="80000"/>
              </a:lnSpc>
              <a:buFont typeface="Wingdings" pitchFamily="2" charset="2"/>
              <a:buNone/>
            </a:pPr>
            <a:endParaRPr lang="en-US" sz="1400" smtClean="0">
              <a:ea typeface="ＭＳ Ｐゴシック"/>
              <a:cs typeface="ＭＳ Ｐゴシック"/>
            </a:endParaRPr>
          </a:p>
          <a:p>
            <a:pPr marL="0" indent="0" eaLnBrk="1" hangingPunct="1">
              <a:lnSpc>
                <a:spcPct val="80000"/>
              </a:lnSpc>
              <a:buFont typeface="Wingdings" pitchFamily="2" charset="2"/>
              <a:buNone/>
            </a:pPr>
            <a:r>
              <a:rPr lang="en-US" sz="1400" b="1" smtClean="0">
                <a:ea typeface="ＭＳ Ｐゴシック"/>
                <a:cs typeface="ＭＳ Ｐゴシック"/>
              </a:rPr>
              <a:t>All Pairwise Multiple Comparison Procedures (Bonferroni </a:t>
            </a:r>
            <a:r>
              <a:rPr lang="en-US" sz="1400" b="1" i="1" smtClean="0">
                <a:ea typeface="ＭＳ Ｐゴシック"/>
                <a:cs typeface="ＭＳ Ｐゴシック"/>
              </a:rPr>
              <a:t>t</a:t>
            </a:r>
            <a:r>
              <a:rPr lang="en-US" sz="1400" b="1" smtClean="0">
                <a:ea typeface="ＭＳ Ｐゴシック"/>
                <a:cs typeface="ＭＳ Ｐゴシック"/>
              </a:rPr>
              <a:t>-test):</a:t>
            </a:r>
          </a:p>
          <a:p>
            <a:pPr marL="0" indent="0" eaLnBrk="1" hangingPunct="1">
              <a:lnSpc>
                <a:spcPct val="80000"/>
              </a:lnSpc>
              <a:buFont typeface="Wingdings" pitchFamily="2" charset="2"/>
              <a:buNone/>
            </a:pPr>
            <a:r>
              <a:rPr lang="en-US" sz="1400" smtClean="0">
                <a:ea typeface="ＭＳ Ｐゴシック"/>
                <a:cs typeface="ＭＳ Ｐゴシック"/>
              </a:rPr>
              <a:t>Comparisons for factor: Nematodes</a:t>
            </a:r>
          </a:p>
          <a:p>
            <a:pPr marL="0" indent="0" eaLnBrk="1" hangingPunct="1">
              <a:lnSpc>
                <a:spcPct val="80000"/>
              </a:lnSpc>
              <a:buFont typeface="Wingdings" pitchFamily="2" charset="2"/>
              <a:buNone/>
            </a:pPr>
            <a:r>
              <a:rPr lang="en-US" sz="1400" b="1" smtClean="0">
                <a:ea typeface="ＭＳ Ｐゴシック"/>
                <a:cs typeface="ＭＳ Ｐゴシック"/>
              </a:rPr>
              <a:t>Comparison              Diff of means	   </a:t>
            </a:r>
            <a:r>
              <a:rPr lang="en-US" sz="1400" b="1" i="1" smtClean="0">
                <a:ea typeface="ＭＳ Ｐゴシック"/>
                <a:cs typeface="ＭＳ Ｐゴシック"/>
              </a:rPr>
              <a:t>t</a:t>
            </a:r>
            <a:r>
              <a:rPr lang="en-US" sz="1400" b="1" smtClean="0">
                <a:ea typeface="ＭＳ Ｐゴシック"/>
                <a:cs typeface="ＭＳ Ｐゴシック"/>
              </a:rPr>
              <a:t>	   P          P&lt;0.050		</a:t>
            </a:r>
          </a:p>
          <a:p>
            <a:pPr marL="0" indent="0" eaLnBrk="1" hangingPunct="1">
              <a:lnSpc>
                <a:spcPct val="80000"/>
              </a:lnSpc>
              <a:buFont typeface="Wingdings" pitchFamily="2" charset="2"/>
              <a:buNone/>
            </a:pPr>
            <a:r>
              <a:rPr lang="en-US" sz="1400" smtClean="0">
                <a:ea typeface="ＭＳ Ｐゴシック"/>
                <a:cs typeface="ＭＳ Ｐゴシック"/>
              </a:rPr>
              <a:t>None vs. 10K	5.200		4.413	0.005	Yes		</a:t>
            </a:r>
          </a:p>
          <a:p>
            <a:pPr marL="0" indent="0" eaLnBrk="1" hangingPunct="1">
              <a:lnSpc>
                <a:spcPct val="80000"/>
              </a:lnSpc>
              <a:buFont typeface="Wingdings" pitchFamily="2" charset="2"/>
              <a:buNone/>
            </a:pPr>
            <a:r>
              <a:rPr lang="en-US" sz="1400" smtClean="0">
                <a:ea typeface="ＭＳ Ｐゴシック"/>
                <a:cs typeface="ＭＳ Ｐゴシック"/>
              </a:rPr>
              <a:t>None vs. 5K	5.050		4.285	0.006	Yes		</a:t>
            </a:r>
          </a:p>
          <a:p>
            <a:pPr marL="0" indent="0" eaLnBrk="1" hangingPunct="1">
              <a:lnSpc>
                <a:spcPct val="80000"/>
              </a:lnSpc>
              <a:buFont typeface="Wingdings" pitchFamily="2" charset="2"/>
              <a:buNone/>
            </a:pPr>
            <a:r>
              <a:rPr lang="en-US" sz="1400" smtClean="0">
                <a:ea typeface="ＭＳ Ｐゴシック"/>
                <a:cs typeface="ＭＳ Ｐゴシック"/>
              </a:rPr>
              <a:t>None vs. 1K	0.225		0.191	1.000	No		</a:t>
            </a:r>
          </a:p>
          <a:p>
            <a:pPr marL="0" indent="0" eaLnBrk="1" hangingPunct="1">
              <a:lnSpc>
                <a:spcPct val="80000"/>
              </a:lnSpc>
              <a:buFont typeface="Wingdings" pitchFamily="2" charset="2"/>
              <a:buNone/>
            </a:pPr>
            <a:r>
              <a:rPr lang="en-US" sz="1400" smtClean="0">
                <a:ea typeface="ＭＳ Ｐゴシック"/>
                <a:cs typeface="ＭＳ Ｐゴシック"/>
              </a:rPr>
              <a:t>1K vs. 10K		4.975		4.222	0.007	Yes		</a:t>
            </a:r>
          </a:p>
          <a:p>
            <a:pPr marL="0" indent="0" eaLnBrk="1" hangingPunct="1">
              <a:lnSpc>
                <a:spcPct val="80000"/>
              </a:lnSpc>
              <a:buFont typeface="Wingdings" pitchFamily="2" charset="2"/>
              <a:buNone/>
            </a:pPr>
            <a:r>
              <a:rPr lang="en-US" sz="1400" smtClean="0">
                <a:ea typeface="ＭＳ Ｐゴシック"/>
                <a:cs typeface="ＭＳ Ｐゴシック"/>
              </a:rPr>
              <a:t>1K vs. 5K		4.825		4.095	0.009	Yes		</a:t>
            </a:r>
          </a:p>
          <a:p>
            <a:pPr marL="0" indent="0" eaLnBrk="1" hangingPunct="1">
              <a:lnSpc>
                <a:spcPct val="80000"/>
              </a:lnSpc>
              <a:buFont typeface="Wingdings" pitchFamily="2" charset="2"/>
              <a:buNone/>
            </a:pPr>
            <a:r>
              <a:rPr lang="en-US" sz="1400" smtClean="0">
                <a:ea typeface="ＭＳ Ｐゴシック"/>
                <a:cs typeface="ＭＳ Ｐゴシック"/>
              </a:rPr>
              <a:t>5K vs. 10K		0.150		0.127	1.000	No		</a:t>
            </a:r>
            <a:endParaRPr lang="en-US" sz="1400" smtClean="0">
              <a:latin typeface="Times New Roman" pitchFamily="18" charset="0"/>
              <a:ea typeface="ＭＳ Ｐゴシック"/>
              <a:cs typeface="ＭＳ Ｐゴシック"/>
            </a:endParaRPr>
          </a:p>
        </p:txBody>
      </p:sp>
      <p:pic>
        <p:nvPicPr>
          <p:cNvPr id="107522" name="Picture 3"/>
          <p:cNvPicPr>
            <a:picLocks noGrp="1" noChangeAspect="1" noChangeArrowheads="1"/>
          </p:cNvPicPr>
          <p:nvPr>
            <p:ph sz="quarter" idx="3"/>
          </p:nvPr>
        </p:nvPicPr>
        <p:blipFill>
          <a:blip r:embed="rId3"/>
          <a:srcRect/>
          <a:stretch>
            <a:fillRect/>
          </a:stretch>
        </p:blipFill>
        <p:spPr>
          <a:xfrm>
            <a:off x="7543800" y="152400"/>
            <a:ext cx="1447800" cy="1276350"/>
          </a:xfr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69" name="Picture 2"/>
          <p:cNvPicPr>
            <a:picLocks noChangeAspect="1" noChangeArrowheads="1"/>
          </p:cNvPicPr>
          <p:nvPr/>
        </p:nvPicPr>
        <p:blipFill>
          <a:blip r:embed="rId3"/>
          <a:srcRect t="1654" r="4303" b="7176"/>
          <a:stretch>
            <a:fillRect/>
          </a:stretch>
        </p:blipFill>
        <p:spPr bwMode="auto">
          <a:xfrm>
            <a:off x="228600" y="2057400"/>
            <a:ext cx="8763000" cy="4724400"/>
          </a:xfrm>
          <a:prstGeom prst="rect">
            <a:avLst/>
          </a:prstGeom>
          <a:noFill/>
          <a:ln w="9525">
            <a:noFill/>
            <a:miter lim="800000"/>
            <a:headEnd/>
            <a:tailEnd/>
          </a:ln>
        </p:spPr>
      </p:pic>
      <p:pic>
        <p:nvPicPr>
          <p:cNvPr id="109570" name="Picture 3"/>
          <p:cNvPicPr>
            <a:picLocks noChangeAspect="1" noChangeArrowheads="1"/>
          </p:cNvPicPr>
          <p:nvPr/>
        </p:nvPicPr>
        <p:blipFill>
          <a:blip r:embed="rId4"/>
          <a:srcRect/>
          <a:stretch>
            <a:fillRect/>
          </a:stretch>
        </p:blipFill>
        <p:spPr bwMode="auto">
          <a:xfrm>
            <a:off x="7543800" y="152400"/>
            <a:ext cx="1447800" cy="1276350"/>
          </a:xfrm>
          <a:prstGeom prst="rect">
            <a:avLst/>
          </a:prstGeom>
          <a:noFill/>
          <a:ln w="9525">
            <a:noFill/>
            <a:miter lim="800000"/>
            <a:headEnd/>
            <a:tailEnd/>
          </a:ln>
        </p:spPr>
      </p:pic>
      <p:sp>
        <p:nvSpPr>
          <p:cNvPr id="109571" name="Text Box 4"/>
          <p:cNvSpPr txBox="1">
            <a:spLocks noChangeArrowheads="1"/>
          </p:cNvSpPr>
          <p:nvPr/>
        </p:nvSpPr>
        <p:spPr bwMode="auto">
          <a:xfrm>
            <a:off x="593725" y="284163"/>
            <a:ext cx="838200" cy="457200"/>
          </a:xfrm>
          <a:prstGeom prst="rect">
            <a:avLst/>
          </a:prstGeom>
          <a:noFill/>
          <a:ln w="9525">
            <a:noFill/>
            <a:miter lim="800000"/>
            <a:headEnd/>
            <a:tailEnd/>
          </a:ln>
        </p:spPr>
        <p:txBody>
          <a:bodyPr wrap="none">
            <a:spAutoFit/>
          </a:bodyPr>
          <a:lstStyle/>
          <a:p>
            <a:r>
              <a:rPr lang="en-US" b="1">
                <a:solidFill>
                  <a:srgbClr val="333399"/>
                </a:solidFill>
                <a:latin typeface="Garamond" pitchFamily="18" charset="0"/>
              </a:rPr>
              <a:t>SPSS</a:t>
            </a:r>
          </a:p>
        </p:txBody>
      </p:sp>
      <p:pic>
        <p:nvPicPr>
          <p:cNvPr id="109572" name="Picture 5"/>
          <p:cNvPicPr>
            <a:picLocks noChangeAspect="1" noChangeArrowheads="1"/>
          </p:cNvPicPr>
          <p:nvPr/>
        </p:nvPicPr>
        <p:blipFill>
          <a:blip r:embed="rId5"/>
          <a:srcRect l="754" t="5096" r="4897" b="7645"/>
          <a:stretch>
            <a:fillRect/>
          </a:stretch>
        </p:blipFill>
        <p:spPr bwMode="auto">
          <a:xfrm>
            <a:off x="1828800" y="152400"/>
            <a:ext cx="5473700" cy="16843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3794" name="Picture 2" descr="figure-12-14"/>
          <p:cNvPicPr>
            <a:picLocks noChangeAspect="1" noChangeArrowheads="1"/>
          </p:cNvPicPr>
          <p:nvPr/>
        </p:nvPicPr>
        <p:blipFill>
          <a:blip r:embed="rId3"/>
          <a:srcRect l="633" t="12987" r="633" b="46104"/>
          <a:stretch>
            <a:fillRect/>
          </a:stretch>
        </p:blipFill>
        <p:spPr bwMode="auto">
          <a:xfrm>
            <a:off x="609600" y="4038600"/>
            <a:ext cx="7924800" cy="1600200"/>
          </a:xfrm>
          <a:prstGeom prst="rect">
            <a:avLst/>
          </a:prstGeom>
          <a:noFill/>
          <a:ln w="9525">
            <a:noFill/>
            <a:miter lim="800000"/>
            <a:headEnd/>
            <a:tailEnd/>
          </a:ln>
        </p:spPr>
      </p:pic>
      <p:sp>
        <p:nvSpPr>
          <p:cNvPr id="1313795" name="Text Box 3"/>
          <p:cNvSpPr txBox="1">
            <a:spLocks noChangeArrowheads="1"/>
          </p:cNvSpPr>
          <p:nvPr/>
        </p:nvSpPr>
        <p:spPr bwMode="auto">
          <a:xfrm>
            <a:off x="381000" y="5638800"/>
            <a:ext cx="8610600" cy="917575"/>
          </a:xfrm>
          <a:prstGeom prst="rect">
            <a:avLst/>
          </a:prstGeom>
          <a:noFill/>
          <a:ln w="9525">
            <a:noFill/>
            <a:miter lim="800000"/>
            <a:headEnd/>
            <a:tailEnd/>
          </a:ln>
        </p:spPr>
        <p:txBody>
          <a:bodyPr>
            <a:spAutoFit/>
          </a:bodyPr>
          <a:lstStyle/>
          <a:p>
            <a:pPr>
              <a:lnSpc>
                <a:spcPct val="150000"/>
              </a:lnSpc>
            </a:pPr>
            <a:r>
              <a:rPr lang="en-US" sz="1800"/>
              <a:t>The ANOVA test is significant (</a:t>
            </a:r>
            <a:r>
              <a:rPr lang="el-GR" sz="1800" i="1">
                <a:cs typeface="Arial" charset="0"/>
              </a:rPr>
              <a:t>α</a:t>
            </a:r>
            <a:r>
              <a:rPr lang="en-US" sz="1800"/>
              <a:t>5%): we have found evidence that the three methods do not all yield the same population mean reading comprehension </a:t>
            </a:r>
            <a:r>
              <a:rPr lang="en-US" sz="1800">
                <a:cs typeface="Arial" charset="0"/>
              </a:rPr>
              <a:t>score</a:t>
            </a:r>
            <a:r>
              <a:rPr lang="en-US" sz="1800"/>
              <a:t>.</a:t>
            </a:r>
          </a:p>
        </p:txBody>
      </p:sp>
      <p:sp>
        <p:nvSpPr>
          <p:cNvPr id="111619" name="Text Box 4"/>
          <p:cNvSpPr txBox="1">
            <a:spLocks noChangeArrowheads="1"/>
          </p:cNvSpPr>
          <p:nvPr/>
        </p:nvSpPr>
        <p:spPr bwMode="auto">
          <a:xfrm>
            <a:off x="381000" y="152400"/>
            <a:ext cx="3886200" cy="3121025"/>
          </a:xfrm>
          <a:prstGeom prst="rect">
            <a:avLst/>
          </a:prstGeom>
          <a:noFill/>
          <a:ln w="9525">
            <a:noFill/>
            <a:miter lim="800000"/>
            <a:headEnd/>
            <a:tailEnd/>
          </a:ln>
        </p:spPr>
        <p:txBody>
          <a:bodyPr>
            <a:spAutoFit/>
          </a:bodyPr>
          <a:lstStyle/>
          <a:p>
            <a:pPr>
              <a:lnSpc>
                <a:spcPct val="140000"/>
              </a:lnSpc>
            </a:pPr>
            <a:r>
              <a:rPr lang="en-US" b="1">
                <a:solidFill>
                  <a:srgbClr val="333399"/>
                </a:solidFill>
                <a:latin typeface="Garamond" pitchFamily="18" charset="0"/>
              </a:rPr>
              <a:t>Teaching methods</a:t>
            </a:r>
          </a:p>
          <a:p>
            <a:pPr>
              <a:lnSpc>
                <a:spcPct val="140000"/>
              </a:lnSpc>
            </a:pPr>
            <a:endParaRPr lang="en-US" sz="1000" b="1">
              <a:solidFill>
                <a:srgbClr val="333399"/>
              </a:solidFill>
              <a:latin typeface="Garamond" pitchFamily="18" charset="0"/>
            </a:endParaRPr>
          </a:p>
          <a:p>
            <a:pPr>
              <a:lnSpc>
                <a:spcPct val="140000"/>
              </a:lnSpc>
            </a:pPr>
            <a:r>
              <a:rPr lang="en-US" sz="1800"/>
              <a:t>A study compares the reading comprehension (“COMP,” a test score) of children randomly assigned to one of three teaching methods: basal, DRTA, and strategies.</a:t>
            </a:r>
          </a:p>
        </p:txBody>
      </p:sp>
      <p:pic>
        <p:nvPicPr>
          <p:cNvPr id="111620" name="Picture 5" descr="figure-12-12"/>
          <p:cNvPicPr>
            <a:picLocks noChangeAspect="1" noChangeArrowheads="1"/>
          </p:cNvPicPr>
          <p:nvPr/>
        </p:nvPicPr>
        <p:blipFill>
          <a:blip r:embed="rId4"/>
          <a:srcRect l="1004" t="3732" r="3679" b="1851"/>
          <a:stretch>
            <a:fillRect/>
          </a:stretch>
        </p:blipFill>
        <p:spPr bwMode="auto">
          <a:xfrm>
            <a:off x="4419600" y="76200"/>
            <a:ext cx="4648200" cy="3327400"/>
          </a:xfrm>
          <a:prstGeom prst="rect">
            <a:avLst/>
          </a:prstGeom>
          <a:noFill/>
          <a:ln w="9525">
            <a:noFill/>
            <a:miter lim="800000"/>
            <a:headEnd/>
            <a:tailEnd/>
          </a:ln>
        </p:spPr>
      </p:pic>
      <p:sp>
        <p:nvSpPr>
          <p:cNvPr id="111621" name="Text Box 6"/>
          <p:cNvSpPr txBox="1">
            <a:spLocks noChangeArrowheads="1"/>
          </p:cNvSpPr>
          <p:nvPr/>
        </p:nvSpPr>
        <p:spPr bwMode="auto">
          <a:xfrm>
            <a:off x="365125" y="3438525"/>
            <a:ext cx="6334125" cy="449263"/>
          </a:xfrm>
          <a:prstGeom prst="rect">
            <a:avLst/>
          </a:prstGeom>
          <a:noFill/>
          <a:ln w="9525">
            <a:noFill/>
            <a:miter lim="800000"/>
            <a:headEnd/>
            <a:tailEnd/>
          </a:ln>
        </p:spPr>
        <p:txBody>
          <a:bodyPr wrap="none">
            <a:spAutoFit/>
          </a:bodyPr>
          <a:lstStyle/>
          <a:p>
            <a:pPr>
              <a:lnSpc>
                <a:spcPct val="130000"/>
              </a:lnSpc>
            </a:pPr>
            <a:r>
              <a:rPr lang="en-US" sz="1800"/>
              <a:t>We test:    </a:t>
            </a:r>
            <a:r>
              <a:rPr lang="en-US" sz="1800" i="1"/>
              <a:t>H</a:t>
            </a:r>
            <a:r>
              <a:rPr lang="en-US" sz="1800" baseline="-25000"/>
              <a:t>0</a:t>
            </a:r>
            <a:r>
              <a:rPr lang="en-US" sz="1800"/>
              <a:t>: </a:t>
            </a:r>
            <a:r>
              <a:rPr lang="en-US" sz="1800" i="1">
                <a:cs typeface="Arial" charset="0"/>
              </a:rPr>
              <a:t>µ</a:t>
            </a:r>
            <a:r>
              <a:rPr lang="en-US" sz="1800" baseline="-25000">
                <a:cs typeface="Arial" charset="0"/>
              </a:rPr>
              <a:t>Basal</a:t>
            </a:r>
            <a:r>
              <a:rPr lang="en-US" sz="1800">
                <a:cs typeface="Arial" charset="0"/>
              </a:rPr>
              <a:t> = </a:t>
            </a:r>
            <a:r>
              <a:rPr lang="en-US" sz="1800" i="1">
                <a:cs typeface="Arial" charset="0"/>
              </a:rPr>
              <a:t>µ</a:t>
            </a:r>
            <a:r>
              <a:rPr lang="en-US" sz="1800" baseline="-25000">
                <a:cs typeface="Arial" charset="0"/>
              </a:rPr>
              <a:t>DRTA</a:t>
            </a:r>
            <a:r>
              <a:rPr lang="en-US" sz="1800">
                <a:cs typeface="Arial" charset="0"/>
              </a:rPr>
              <a:t> = </a:t>
            </a:r>
            <a:r>
              <a:rPr lang="en-US" sz="1800" i="1">
                <a:cs typeface="Arial" charset="0"/>
              </a:rPr>
              <a:t>µ</a:t>
            </a:r>
            <a:r>
              <a:rPr lang="en-US" sz="1800" baseline="-25000">
                <a:cs typeface="Arial" charset="0"/>
              </a:rPr>
              <a:t>Strat</a:t>
            </a:r>
            <a:r>
              <a:rPr lang="en-US" sz="1800">
                <a:cs typeface="Arial" charset="0"/>
              </a:rPr>
              <a:t>        vs.      </a:t>
            </a:r>
            <a:r>
              <a:rPr lang="en-US" sz="1800" i="1">
                <a:cs typeface="Arial" charset="0"/>
              </a:rPr>
              <a:t>H</a:t>
            </a:r>
            <a:r>
              <a:rPr lang="en-US" sz="1800" i="1" baseline="-25000">
                <a:cs typeface="Arial" charset="0"/>
              </a:rPr>
              <a:t>a</a:t>
            </a:r>
            <a:r>
              <a:rPr lang="en-US" sz="1800">
                <a:cs typeface="Arial" charset="0"/>
              </a:rPr>
              <a:t>: </a:t>
            </a:r>
            <a:r>
              <a:rPr lang="en-US" sz="1800" i="1">
                <a:cs typeface="Arial" charset="0"/>
              </a:rPr>
              <a:t>H</a:t>
            </a:r>
            <a:r>
              <a:rPr lang="en-US" sz="1800" baseline="-25000">
                <a:cs typeface="Arial" charset="0"/>
              </a:rPr>
              <a:t>0</a:t>
            </a:r>
            <a:r>
              <a:rPr lang="en-US" sz="1800">
                <a:cs typeface="Arial" charset="0"/>
              </a:rPr>
              <a:t> not true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379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13137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379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ext Box 2"/>
          <p:cNvSpPr txBox="1">
            <a:spLocks noChangeArrowheads="1"/>
          </p:cNvSpPr>
          <p:nvPr/>
        </p:nvSpPr>
        <p:spPr bwMode="auto">
          <a:xfrm>
            <a:off x="381000" y="4267200"/>
            <a:ext cx="2573338" cy="366713"/>
          </a:xfrm>
          <a:prstGeom prst="rect">
            <a:avLst/>
          </a:prstGeom>
          <a:noFill/>
          <a:ln w="9525">
            <a:noFill/>
            <a:miter lim="800000"/>
            <a:headEnd/>
            <a:tailEnd/>
          </a:ln>
        </p:spPr>
        <p:txBody>
          <a:bodyPr wrap="none">
            <a:spAutoFit/>
          </a:bodyPr>
          <a:lstStyle/>
          <a:p>
            <a:r>
              <a:rPr lang="en-US" sz="1800" u="sng"/>
              <a:t>What do you conclude?</a:t>
            </a:r>
          </a:p>
        </p:txBody>
      </p:sp>
      <p:sp>
        <p:nvSpPr>
          <p:cNvPr id="1314819" name="Text Box 3"/>
          <p:cNvSpPr txBox="1">
            <a:spLocks noChangeArrowheads="1"/>
          </p:cNvSpPr>
          <p:nvPr/>
        </p:nvSpPr>
        <p:spPr bwMode="auto">
          <a:xfrm>
            <a:off x="396875" y="4648200"/>
            <a:ext cx="8366125" cy="2012950"/>
          </a:xfrm>
          <a:prstGeom prst="rect">
            <a:avLst/>
          </a:prstGeom>
          <a:noFill/>
          <a:ln w="9525">
            <a:noFill/>
            <a:miter lim="800000"/>
            <a:headEnd/>
            <a:tailEnd/>
          </a:ln>
        </p:spPr>
        <p:txBody>
          <a:bodyPr>
            <a:spAutoFit/>
          </a:bodyPr>
          <a:lstStyle/>
          <a:p>
            <a:pPr>
              <a:lnSpc>
                <a:spcPct val="140000"/>
              </a:lnSpc>
            </a:pPr>
            <a:r>
              <a:rPr lang="en-US" sz="1800"/>
              <a:t>The three methods do not yield the same results: We found evidence of a significant difference between DRTA and basal methods (DRTA gave better results on average), but the data gathered does not support the claim of a difference between the other methods (DRTA vs. strategies or basal vs. strategies).</a:t>
            </a:r>
          </a:p>
        </p:txBody>
      </p:sp>
      <p:grpSp>
        <p:nvGrpSpPr>
          <p:cNvPr id="113667" name="Group 4"/>
          <p:cNvGrpSpPr>
            <a:grpSpLocks/>
          </p:cNvGrpSpPr>
          <p:nvPr/>
        </p:nvGrpSpPr>
        <p:grpSpPr bwMode="auto">
          <a:xfrm>
            <a:off x="76200" y="533400"/>
            <a:ext cx="7315200" cy="3505200"/>
            <a:chOff x="48" y="336"/>
            <a:chExt cx="4608" cy="2208"/>
          </a:xfrm>
        </p:grpSpPr>
        <p:pic>
          <p:nvPicPr>
            <p:cNvPr id="113669" name="Picture 5" descr="figure-12-17"/>
            <p:cNvPicPr>
              <a:picLocks noChangeAspect="1" noChangeArrowheads="1"/>
            </p:cNvPicPr>
            <p:nvPr/>
          </p:nvPicPr>
          <p:blipFill>
            <a:blip r:embed="rId3"/>
            <a:srcRect l="941" t="24213" r="4944" b="23196"/>
            <a:stretch>
              <a:fillRect/>
            </a:stretch>
          </p:blipFill>
          <p:spPr bwMode="auto">
            <a:xfrm>
              <a:off x="48" y="576"/>
              <a:ext cx="4608" cy="1885"/>
            </a:xfrm>
            <a:prstGeom prst="rect">
              <a:avLst/>
            </a:prstGeom>
            <a:noFill/>
            <a:ln w="9525">
              <a:noFill/>
              <a:miter lim="800000"/>
              <a:headEnd/>
              <a:tailEnd/>
            </a:ln>
          </p:spPr>
        </p:pic>
        <p:pic>
          <p:nvPicPr>
            <p:cNvPr id="113670" name="Picture 6" descr="figure-12-17"/>
            <p:cNvPicPr>
              <a:picLocks noChangeAspect="1" noChangeArrowheads="1"/>
            </p:cNvPicPr>
            <p:nvPr/>
          </p:nvPicPr>
          <p:blipFill>
            <a:blip r:embed="rId3"/>
            <a:srcRect l="941" t="94214" r="4944" b="1462"/>
            <a:stretch>
              <a:fillRect/>
            </a:stretch>
          </p:blipFill>
          <p:spPr bwMode="auto">
            <a:xfrm>
              <a:off x="48" y="2389"/>
              <a:ext cx="4608" cy="155"/>
            </a:xfrm>
            <a:prstGeom prst="rect">
              <a:avLst/>
            </a:prstGeom>
            <a:noFill/>
            <a:ln w="9525">
              <a:noFill/>
              <a:miter lim="800000"/>
              <a:headEnd/>
              <a:tailEnd/>
            </a:ln>
          </p:spPr>
        </p:pic>
        <p:pic>
          <p:nvPicPr>
            <p:cNvPr id="113671" name="Picture 7" descr="figure-12-17"/>
            <p:cNvPicPr>
              <a:picLocks noChangeAspect="1" noChangeArrowheads="1"/>
            </p:cNvPicPr>
            <p:nvPr/>
          </p:nvPicPr>
          <p:blipFill>
            <a:blip r:embed="rId3"/>
            <a:srcRect l="941" t="1447" r="4944" b="91858"/>
            <a:stretch>
              <a:fillRect/>
            </a:stretch>
          </p:blipFill>
          <p:spPr bwMode="auto">
            <a:xfrm>
              <a:off x="48" y="336"/>
              <a:ext cx="4608" cy="240"/>
            </a:xfrm>
            <a:prstGeom prst="rect">
              <a:avLst/>
            </a:prstGeom>
            <a:noFill/>
            <a:ln w="9525">
              <a:noFill/>
              <a:miter lim="800000"/>
              <a:headEnd/>
              <a:tailEnd/>
            </a:ln>
          </p:spPr>
        </p:pic>
      </p:grpSp>
      <p:pic>
        <p:nvPicPr>
          <p:cNvPr id="113668" name="Picture 8" descr="figure-12-12"/>
          <p:cNvPicPr>
            <a:picLocks noChangeAspect="1" noChangeArrowheads="1"/>
          </p:cNvPicPr>
          <p:nvPr/>
        </p:nvPicPr>
        <p:blipFill>
          <a:blip r:embed="rId4"/>
          <a:srcRect l="1004" t="3732" r="3679" b="1851"/>
          <a:stretch>
            <a:fillRect/>
          </a:stretch>
        </p:blipFill>
        <p:spPr bwMode="auto">
          <a:xfrm>
            <a:off x="6705600" y="76200"/>
            <a:ext cx="2362200" cy="16906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48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481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p:cNvSpPr>
            <a:spLocks noGrp="1" noChangeArrowheads="1"/>
          </p:cNvSpPr>
          <p:nvPr>
            <p:ph type="title"/>
          </p:nvPr>
        </p:nvSpPr>
        <p:spPr/>
        <p:txBody>
          <a:bodyPr/>
          <a:lstStyle/>
          <a:p>
            <a:pPr eaLnBrk="1" hangingPunct="1"/>
            <a:r>
              <a:rPr lang="en-US" smtClean="0">
                <a:ea typeface="ＭＳ Ｐゴシック"/>
                <a:cs typeface="ＭＳ Ｐゴシック"/>
              </a:rPr>
              <a:t>Power</a:t>
            </a:r>
          </a:p>
        </p:txBody>
      </p:sp>
      <p:sp>
        <p:nvSpPr>
          <p:cNvPr id="115714" name="Rectangle 3"/>
          <p:cNvSpPr>
            <a:spLocks noGrp="1" noChangeArrowheads="1"/>
          </p:cNvSpPr>
          <p:nvPr>
            <p:ph type="body" idx="1"/>
          </p:nvPr>
        </p:nvSpPr>
        <p:spPr>
          <a:xfrm>
            <a:off x="457200" y="1066800"/>
            <a:ext cx="8229600" cy="5486400"/>
          </a:xfrm>
        </p:spPr>
        <p:txBody>
          <a:bodyPr/>
          <a:lstStyle/>
          <a:p>
            <a:pPr marL="0" indent="0" eaLnBrk="1" hangingPunct="1">
              <a:lnSpc>
                <a:spcPct val="130000"/>
              </a:lnSpc>
              <a:buFont typeface="Wingdings" pitchFamily="2" charset="2"/>
              <a:buNone/>
            </a:pPr>
            <a:r>
              <a:rPr lang="en-US" smtClean="0">
                <a:ea typeface="ＭＳ Ｐゴシック"/>
                <a:cs typeface="ＭＳ Ｐゴシック"/>
              </a:rPr>
              <a:t>The power, or sensitivity, of a one-way ANOVA is the probability that the test will be able to detect a difference among the groups (i.e. reach statistical significance) when there really is a difference. </a:t>
            </a:r>
          </a:p>
          <a:p>
            <a:pPr marL="0" indent="0" eaLnBrk="1" hangingPunct="1">
              <a:lnSpc>
                <a:spcPct val="130000"/>
              </a:lnSpc>
              <a:buFont typeface="Wingdings" pitchFamily="2" charset="2"/>
              <a:buNone/>
            </a:pPr>
            <a:endParaRPr lang="en-US" sz="1400" smtClean="0">
              <a:ea typeface="ＭＳ Ｐゴシック"/>
              <a:cs typeface="ＭＳ Ｐゴシック"/>
            </a:endParaRPr>
          </a:p>
          <a:p>
            <a:pPr marL="0" indent="0" eaLnBrk="1" hangingPunct="1">
              <a:lnSpc>
                <a:spcPct val="130000"/>
              </a:lnSpc>
              <a:buFont typeface="Wingdings" pitchFamily="2" charset="2"/>
              <a:buNone/>
            </a:pPr>
            <a:r>
              <a:rPr lang="en-US" smtClean="0">
                <a:ea typeface="ＭＳ Ｐゴシック"/>
                <a:cs typeface="ＭＳ Ｐゴシック"/>
              </a:rPr>
              <a:t>Estimate the power of your test while designing your experiment to select sample sizes appropriate to detect an amount of difference between means that you deem important. </a:t>
            </a:r>
          </a:p>
          <a:p>
            <a:pPr marL="0" indent="0" eaLnBrk="1" hangingPunct="1">
              <a:lnSpc>
                <a:spcPct val="130000"/>
              </a:lnSpc>
              <a:buFont typeface="Wingdings" pitchFamily="2" charset="2"/>
              <a:buNone/>
            </a:pPr>
            <a:endParaRPr lang="en-US" sz="1400" smtClean="0">
              <a:ea typeface="ＭＳ Ｐゴシック"/>
              <a:cs typeface="ＭＳ Ｐゴシック"/>
            </a:endParaRPr>
          </a:p>
          <a:p>
            <a:pPr marL="731838" lvl="1" eaLnBrk="1" hangingPunct="1">
              <a:lnSpc>
                <a:spcPct val="130000"/>
              </a:lnSpc>
            </a:pPr>
            <a:r>
              <a:rPr lang="en-US" smtClean="0">
                <a:ea typeface="ＭＳ Ｐゴシック"/>
              </a:rPr>
              <a:t>Too small a sample is a waste of experiment, but too large a sample is also a waste of resources. </a:t>
            </a:r>
          </a:p>
          <a:p>
            <a:pPr marL="731838" lvl="1" eaLnBrk="1" hangingPunct="1">
              <a:lnSpc>
                <a:spcPct val="130000"/>
              </a:lnSpc>
            </a:pPr>
            <a:endParaRPr lang="en-US" sz="1000" smtClean="0">
              <a:ea typeface="ＭＳ Ｐゴシック"/>
            </a:endParaRPr>
          </a:p>
          <a:p>
            <a:pPr marL="731838" lvl="1" eaLnBrk="1" hangingPunct="1">
              <a:lnSpc>
                <a:spcPct val="130000"/>
              </a:lnSpc>
            </a:pPr>
            <a:r>
              <a:rPr lang="en-US" smtClean="0">
                <a:ea typeface="ＭＳ Ｐゴシック"/>
              </a:rPr>
              <a:t>A power of about 80% is often suggested.</a:t>
            </a:r>
          </a:p>
          <a:p>
            <a:pPr marL="731838" lvl="1" eaLnBrk="1" hangingPunct="1">
              <a:lnSpc>
                <a:spcPct val="130000"/>
              </a:lnSpc>
            </a:pPr>
            <a:endParaRPr lang="en-US" smtClean="0">
              <a:ea typeface="ＭＳ Ｐゴシック"/>
            </a:endParaRPr>
          </a:p>
          <a:p>
            <a:pPr marL="731838" lvl="1" eaLnBrk="1" hangingPunct="1">
              <a:lnSpc>
                <a:spcPct val="130000"/>
              </a:lnSpc>
            </a:pPr>
            <a:endParaRPr lang="en-US" sz="1200" smtClean="0">
              <a:ea typeface="ＭＳ Ｐゴシック"/>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p:cNvSpPr>
            <a:spLocks noGrp="1" noChangeArrowheads="1"/>
          </p:cNvSpPr>
          <p:nvPr>
            <p:ph type="title"/>
          </p:nvPr>
        </p:nvSpPr>
        <p:spPr/>
        <p:txBody>
          <a:bodyPr/>
          <a:lstStyle/>
          <a:p>
            <a:pPr eaLnBrk="1" hangingPunct="1">
              <a:lnSpc>
                <a:spcPct val="110000"/>
              </a:lnSpc>
            </a:pPr>
            <a:r>
              <a:rPr lang="en-US" sz="2800" b="1" smtClean="0">
                <a:solidFill>
                  <a:srgbClr val="333399"/>
                </a:solidFill>
                <a:ea typeface="ＭＳ Ｐゴシック"/>
                <a:cs typeface="ＭＳ Ｐゴシック"/>
              </a:rPr>
              <a:t>Power computations</a:t>
            </a:r>
          </a:p>
        </p:txBody>
      </p:sp>
      <p:sp>
        <p:nvSpPr>
          <p:cNvPr id="1316867" name="Rectangle 3"/>
          <p:cNvSpPr>
            <a:spLocks noGrp="1" noChangeArrowheads="1"/>
          </p:cNvSpPr>
          <p:nvPr>
            <p:ph type="body" idx="1"/>
          </p:nvPr>
        </p:nvSpPr>
        <p:spPr>
          <a:xfrm>
            <a:off x="457200" y="914400"/>
            <a:ext cx="8229600" cy="5715000"/>
          </a:xfrm>
        </p:spPr>
        <p:txBody>
          <a:bodyPr/>
          <a:lstStyle/>
          <a:p>
            <a:pPr marL="0" indent="0" eaLnBrk="1" hangingPunct="1">
              <a:lnSpc>
                <a:spcPct val="130000"/>
              </a:lnSpc>
              <a:buFont typeface="Wingdings" pitchFamily="2" charset="2"/>
              <a:buNone/>
            </a:pPr>
            <a:r>
              <a:rPr lang="en-US" smtClean="0">
                <a:ea typeface="ＭＳ Ｐゴシック"/>
                <a:cs typeface="ＭＳ Ｐゴシック"/>
              </a:rPr>
              <a:t>ANOVA power is affected by </a:t>
            </a:r>
          </a:p>
          <a:p>
            <a:pPr marL="731838" lvl="1" eaLnBrk="1" hangingPunct="1">
              <a:lnSpc>
                <a:spcPct val="130000"/>
              </a:lnSpc>
            </a:pPr>
            <a:r>
              <a:rPr lang="en-US" smtClean="0">
                <a:ea typeface="ＭＳ Ｐゴシック"/>
              </a:rPr>
              <a:t>The significance level </a:t>
            </a:r>
            <a:r>
              <a:rPr lang="en-US" i="1" smtClean="0">
                <a:latin typeface="Symbol" pitchFamily="18" charset="2"/>
                <a:ea typeface="ＭＳ Ｐゴシック"/>
              </a:rPr>
              <a:t>a</a:t>
            </a:r>
          </a:p>
          <a:p>
            <a:pPr marL="731838" lvl="1" eaLnBrk="1" hangingPunct="1">
              <a:lnSpc>
                <a:spcPct val="130000"/>
              </a:lnSpc>
            </a:pPr>
            <a:r>
              <a:rPr lang="en-US" smtClean="0">
                <a:ea typeface="ＭＳ Ｐゴシック"/>
              </a:rPr>
              <a:t>The sample sizes and number of groups being compared </a:t>
            </a:r>
          </a:p>
          <a:p>
            <a:pPr marL="731838" lvl="1" eaLnBrk="1" hangingPunct="1">
              <a:lnSpc>
                <a:spcPct val="130000"/>
              </a:lnSpc>
            </a:pPr>
            <a:r>
              <a:rPr lang="en-US" smtClean="0">
                <a:ea typeface="ＭＳ Ｐゴシック"/>
              </a:rPr>
              <a:t>The differences between group means </a:t>
            </a:r>
            <a:r>
              <a:rPr lang="en-US" i="1" smtClean="0">
                <a:ea typeface="ＭＳ Ｐゴシック"/>
                <a:cs typeface="Arial" charset="0"/>
              </a:rPr>
              <a:t>µ</a:t>
            </a:r>
            <a:r>
              <a:rPr lang="en-US" i="1" baseline="-25000" smtClean="0">
                <a:ea typeface="ＭＳ Ｐゴシック"/>
              </a:rPr>
              <a:t>i</a:t>
            </a:r>
            <a:endParaRPr lang="en-US" smtClean="0">
              <a:ea typeface="ＭＳ Ｐゴシック"/>
            </a:endParaRPr>
          </a:p>
          <a:p>
            <a:pPr marL="731838" lvl="1" eaLnBrk="1" hangingPunct="1">
              <a:lnSpc>
                <a:spcPct val="130000"/>
              </a:lnSpc>
            </a:pPr>
            <a:r>
              <a:rPr lang="en-US" smtClean="0">
                <a:ea typeface="ＭＳ Ｐゴシック"/>
              </a:rPr>
              <a:t>The guessed population standard deviation </a:t>
            </a:r>
          </a:p>
          <a:p>
            <a:pPr marL="731838" lvl="1" eaLnBrk="1" hangingPunct="1">
              <a:lnSpc>
                <a:spcPct val="130000"/>
              </a:lnSpc>
            </a:pPr>
            <a:endParaRPr lang="en-US" smtClean="0">
              <a:ea typeface="ＭＳ Ｐゴシック"/>
            </a:endParaRPr>
          </a:p>
          <a:p>
            <a:pPr marL="0" indent="0" eaLnBrk="1" hangingPunct="1">
              <a:lnSpc>
                <a:spcPct val="130000"/>
              </a:lnSpc>
              <a:buFont typeface="Wingdings" pitchFamily="2" charset="2"/>
              <a:buNone/>
            </a:pPr>
            <a:r>
              <a:rPr lang="en-US" smtClean="0">
                <a:ea typeface="ＭＳ Ｐゴシック"/>
                <a:cs typeface="ＭＳ Ｐゴシック"/>
              </a:rPr>
              <a:t>You need to </a:t>
            </a:r>
            <a:r>
              <a:rPr lang="en-US" u="sng" smtClean="0">
                <a:ea typeface="ＭＳ Ｐゴシック"/>
                <a:cs typeface="ＭＳ Ｐゴシック"/>
              </a:rPr>
              <a:t>decide</a:t>
            </a:r>
            <a:r>
              <a:rPr lang="en-US" smtClean="0">
                <a:ea typeface="ＭＳ Ｐゴシック"/>
                <a:cs typeface="ＭＳ Ｐゴシック"/>
              </a:rPr>
              <a:t> what alternative </a:t>
            </a:r>
            <a:r>
              <a:rPr lang="en-US" i="1" smtClean="0">
                <a:ea typeface="ＭＳ Ｐゴシック"/>
                <a:cs typeface="ＭＳ Ｐゴシック"/>
              </a:rPr>
              <a:t>H</a:t>
            </a:r>
            <a:r>
              <a:rPr lang="en-US" i="1" baseline="-25000" smtClean="0">
                <a:ea typeface="ＭＳ Ｐゴシック"/>
                <a:cs typeface="ＭＳ Ｐゴシック"/>
              </a:rPr>
              <a:t>a</a:t>
            </a:r>
            <a:r>
              <a:rPr lang="en-US" smtClean="0">
                <a:ea typeface="ＭＳ Ｐゴシック"/>
                <a:cs typeface="ＭＳ Ｐゴシック"/>
              </a:rPr>
              <a:t> you would consider important, detect statistically for the means </a:t>
            </a:r>
            <a:r>
              <a:rPr lang="en-US" i="1" smtClean="0">
                <a:ea typeface="ＭＳ Ｐゴシック"/>
                <a:cs typeface="Arial" charset="0"/>
              </a:rPr>
              <a:t>µ</a:t>
            </a:r>
            <a:r>
              <a:rPr lang="en-US" i="1" baseline="-25000" smtClean="0">
                <a:ea typeface="ＭＳ Ｐゴシック"/>
                <a:cs typeface="ＭＳ Ｐゴシック"/>
              </a:rPr>
              <a:t>i,</a:t>
            </a:r>
            <a:r>
              <a:rPr lang="en-US" smtClean="0">
                <a:ea typeface="ＭＳ Ｐゴシック"/>
                <a:cs typeface="ＭＳ Ｐゴシック"/>
              </a:rPr>
              <a:t> and to </a:t>
            </a:r>
            <a:r>
              <a:rPr lang="en-US" u="sng" smtClean="0">
                <a:ea typeface="ＭＳ Ｐゴシック"/>
                <a:cs typeface="ＭＳ Ｐゴシック"/>
              </a:rPr>
              <a:t>guess</a:t>
            </a:r>
            <a:r>
              <a:rPr lang="en-US" smtClean="0">
                <a:ea typeface="ＭＳ Ｐゴシック"/>
                <a:cs typeface="ＭＳ Ｐゴシック"/>
              </a:rPr>
              <a:t> the common standard deviation </a:t>
            </a:r>
            <a:r>
              <a:rPr lang="el-GR" i="1" smtClean="0">
                <a:ea typeface="ＭＳ Ｐゴシック"/>
                <a:cs typeface="Arial" charset="0"/>
              </a:rPr>
              <a:t>σ</a:t>
            </a:r>
            <a:r>
              <a:rPr lang="en-US" smtClean="0">
                <a:ea typeface="ＭＳ Ｐゴシック"/>
                <a:cs typeface="Arial" charset="0"/>
              </a:rPr>
              <a:t> (from similar studies or preliminary work)</a:t>
            </a:r>
            <a:r>
              <a:rPr lang="en-US" smtClean="0">
                <a:ea typeface="ＭＳ Ｐゴシック"/>
                <a:cs typeface="ＭＳ Ｐゴシック"/>
              </a:rPr>
              <a:t>.</a:t>
            </a:r>
          </a:p>
          <a:p>
            <a:pPr marL="0" indent="0" eaLnBrk="1" hangingPunct="1">
              <a:lnSpc>
                <a:spcPct val="130000"/>
              </a:lnSpc>
              <a:buFont typeface="Wingdings" pitchFamily="2" charset="2"/>
              <a:buNone/>
            </a:pPr>
            <a:endParaRPr lang="en-US" sz="1000" smtClean="0">
              <a:ea typeface="ＭＳ Ｐゴシック"/>
              <a:cs typeface="ＭＳ Ｐゴシック"/>
            </a:endParaRPr>
          </a:p>
          <a:p>
            <a:pPr marL="0" indent="0" eaLnBrk="1" hangingPunct="1">
              <a:lnSpc>
                <a:spcPct val="130000"/>
              </a:lnSpc>
              <a:buFont typeface="Wingdings" pitchFamily="2" charset="2"/>
              <a:buNone/>
            </a:pPr>
            <a:r>
              <a:rPr lang="en-US" smtClean="0">
                <a:ea typeface="ＭＳ Ｐゴシック"/>
                <a:cs typeface="ＭＳ Ｐゴシック"/>
              </a:rPr>
              <a:t>The power computations then require calculating a </a:t>
            </a:r>
            <a:r>
              <a:rPr lang="en-US" b="1" smtClean="0">
                <a:solidFill>
                  <a:srgbClr val="333399"/>
                </a:solidFill>
                <a:ea typeface="ＭＳ Ｐゴシック"/>
                <a:cs typeface="ＭＳ Ｐゴシック"/>
              </a:rPr>
              <a:t>non-centrality paramenter </a:t>
            </a:r>
            <a:r>
              <a:rPr lang="el-GR" b="1" i="1" smtClean="0">
                <a:solidFill>
                  <a:srgbClr val="333399"/>
                </a:solidFill>
                <a:ea typeface="ＭＳ Ｐゴシック"/>
                <a:cs typeface="Arial" charset="0"/>
              </a:rPr>
              <a:t>λ</a:t>
            </a:r>
            <a:r>
              <a:rPr lang="en-US" b="1" i="1" smtClean="0">
                <a:solidFill>
                  <a:srgbClr val="333399"/>
                </a:solidFill>
                <a:ea typeface="ＭＳ Ｐゴシック"/>
                <a:cs typeface="Arial" charset="0"/>
              </a:rPr>
              <a:t>,</a:t>
            </a:r>
            <a:r>
              <a:rPr lang="en-US" smtClean="0">
                <a:ea typeface="ＭＳ Ｐゴシック"/>
                <a:cs typeface="Arial" charset="0"/>
              </a:rPr>
              <a:t> which follows the F distribution with DFG and DFE degrees of freedom to arrive at the power of the test.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6867">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68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p:cNvSpPr>
            <a:spLocks noGrp="1" noChangeArrowheads="1"/>
          </p:cNvSpPr>
          <p:nvPr>
            <p:ph type="title" sz="quarter"/>
          </p:nvPr>
        </p:nvSpPr>
        <p:spPr/>
        <p:txBody>
          <a:bodyPr/>
          <a:lstStyle/>
          <a:p>
            <a:pPr eaLnBrk="1" hangingPunct="1"/>
            <a:r>
              <a:rPr lang="en-US" sz="2400" b="1" smtClean="0">
                <a:solidFill>
                  <a:srgbClr val="333399"/>
                </a:solidFill>
                <a:ea typeface="ＭＳ Ｐゴシック"/>
                <a:cs typeface="ＭＳ Ｐゴシック"/>
              </a:rPr>
              <a:t>Systat: Power analysis</a:t>
            </a:r>
          </a:p>
        </p:txBody>
      </p:sp>
      <p:pic>
        <p:nvPicPr>
          <p:cNvPr id="119810" name="Picture 3"/>
          <p:cNvPicPr>
            <a:picLocks noChangeAspect="1" noChangeArrowheads="1"/>
          </p:cNvPicPr>
          <p:nvPr/>
        </p:nvPicPr>
        <p:blipFill>
          <a:blip r:embed="rId3"/>
          <a:srcRect l="14572" t="15215" r="1071" b="10286"/>
          <a:stretch>
            <a:fillRect/>
          </a:stretch>
        </p:blipFill>
        <p:spPr bwMode="auto">
          <a:xfrm>
            <a:off x="7537450" y="152400"/>
            <a:ext cx="1454150" cy="1284288"/>
          </a:xfrm>
          <a:prstGeom prst="rect">
            <a:avLst/>
          </a:prstGeom>
          <a:noFill/>
          <a:ln w="9525">
            <a:noFill/>
            <a:miter lim="800000"/>
            <a:headEnd/>
            <a:tailEnd/>
          </a:ln>
        </p:spPr>
      </p:pic>
      <p:sp>
        <p:nvSpPr>
          <p:cNvPr id="119811" name="Text Box 4"/>
          <p:cNvSpPr txBox="1">
            <a:spLocks noChangeArrowheads="1"/>
          </p:cNvSpPr>
          <p:nvPr/>
        </p:nvSpPr>
        <p:spPr bwMode="auto">
          <a:xfrm>
            <a:off x="3962400" y="685800"/>
            <a:ext cx="5029200" cy="5807075"/>
          </a:xfrm>
          <a:prstGeom prst="rect">
            <a:avLst/>
          </a:prstGeom>
          <a:noFill/>
          <a:ln w="9525">
            <a:noFill/>
            <a:miter lim="800000"/>
            <a:headEnd/>
            <a:tailEnd/>
          </a:ln>
        </p:spPr>
        <p:txBody>
          <a:bodyPr>
            <a:spAutoFit/>
          </a:bodyPr>
          <a:lstStyle/>
          <a:p>
            <a:pPr>
              <a:lnSpc>
                <a:spcPct val="130000"/>
              </a:lnSpc>
            </a:pPr>
            <a:r>
              <a:rPr lang="en-US" sz="1600">
                <a:solidFill>
                  <a:srgbClr val="333399"/>
                </a:solidFill>
              </a:rPr>
              <a:t> 	               Alpha =        0.05</a:t>
            </a:r>
          </a:p>
          <a:p>
            <a:pPr>
              <a:lnSpc>
                <a:spcPct val="130000"/>
              </a:lnSpc>
            </a:pPr>
            <a:r>
              <a:rPr lang="en-US" sz="1600">
                <a:solidFill>
                  <a:srgbClr val="333399"/>
                </a:solidFill>
              </a:rPr>
              <a:t> 	               Model =      Oneway</a:t>
            </a:r>
          </a:p>
          <a:p>
            <a:pPr>
              <a:lnSpc>
                <a:spcPct val="130000"/>
              </a:lnSpc>
            </a:pPr>
            <a:r>
              <a:rPr lang="en-US" sz="1600">
                <a:solidFill>
                  <a:srgbClr val="333399"/>
                </a:solidFill>
              </a:rPr>
              <a:t>            Number of groups =            4</a:t>
            </a:r>
          </a:p>
          <a:p>
            <a:pPr>
              <a:lnSpc>
                <a:spcPct val="130000"/>
              </a:lnSpc>
            </a:pPr>
            <a:r>
              <a:rPr lang="en-US" sz="1600">
                <a:solidFill>
                  <a:srgbClr val="333399"/>
                </a:solidFill>
              </a:rPr>
              <a:t>                 Within cell S.D. =        1.5</a:t>
            </a:r>
          </a:p>
          <a:p>
            <a:pPr>
              <a:lnSpc>
                <a:spcPct val="130000"/>
              </a:lnSpc>
            </a:pPr>
            <a:r>
              <a:rPr lang="en-US" sz="1600">
                <a:solidFill>
                  <a:srgbClr val="333399"/>
                </a:solidFill>
              </a:rPr>
              <a:t>                          Mean(01) =        7.0</a:t>
            </a:r>
          </a:p>
          <a:p>
            <a:pPr>
              <a:lnSpc>
                <a:spcPct val="130000"/>
              </a:lnSpc>
            </a:pPr>
            <a:r>
              <a:rPr lang="en-US" sz="1600">
                <a:solidFill>
                  <a:srgbClr val="333399"/>
                </a:solidFill>
              </a:rPr>
              <a:t>                          Mean(02) =        8.0</a:t>
            </a:r>
          </a:p>
          <a:p>
            <a:pPr>
              <a:lnSpc>
                <a:spcPct val="130000"/>
              </a:lnSpc>
            </a:pPr>
            <a:r>
              <a:rPr lang="en-US" sz="1600">
                <a:solidFill>
                  <a:srgbClr val="333399"/>
                </a:solidFill>
              </a:rPr>
              <a:t>                          Mean(03) =        9.0</a:t>
            </a:r>
          </a:p>
          <a:p>
            <a:pPr>
              <a:lnSpc>
                <a:spcPct val="130000"/>
              </a:lnSpc>
            </a:pPr>
            <a:r>
              <a:rPr lang="en-US" sz="1600">
                <a:solidFill>
                  <a:srgbClr val="333399"/>
                </a:solidFill>
              </a:rPr>
              <a:t>                          Mean(04) =       10.0</a:t>
            </a:r>
          </a:p>
          <a:p>
            <a:pPr>
              <a:lnSpc>
                <a:spcPct val="130000"/>
              </a:lnSpc>
            </a:pPr>
            <a:r>
              <a:rPr lang="en-US" sz="1600">
                <a:solidFill>
                  <a:srgbClr val="333399"/>
                </a:solidFill>
              </a:rPr>
              <a:t>                         Effect Size =        0.745</a:t>
            </a:r>
          </a:p>
          <a:p>
            <a:pPr>
              <a:lnSpc>
                <a:spcPct val="130000"/>
              </a:lnSpc>
            </a:pPr>
            <a:r>
              <a:rPr lang="en-US" sz="1600">
                <a:solidFill>
                  <a:srgbClr val="333399"/>
                </a:solidFill>
              </a:rPr>
              <a:t>    Noncentrality parameter =        2.222 * sample size</a:t>
            </a:r>
          </a:p>
          <a:p>
            <a:pPr>
              <a:lnSpc>
                <a:spcPct val="130000"/>
              </a:lnSpc>
            </a:pPr>
            <a:r>
              <a:rPr lang="en-US" sz="1600">
                <a:solidFill>
                  <a:srgbClr val="333399"/>
                </a:solidFill>
              </a:rPr>
              <a:t>                 SAMPLE SIZE   POWER</a:t>
            </a:r>
          </a:p>
          <a:p>
            <a:pPr>
              <a:lnSpc>
                <a:spcPct val="130000"/>
              </a:lnSpc>
            </a:pPr>
            <a:r>
              <a:rPr lang="en-US" sz="1600">
                <a:solidFill>
                  <a:srgbClr val="333399"/>
                </a:solidFill>
              </a:rPr>
              <a:t>                          (per cell)</a:t>
            </a:r>
          </a:p>
          <a:p>
            <a:pPr>
              <a:lnSpc>
                <a:spcPct val="130000"/>
              </a:lnSpc>
            </a:pPr>
            <a:r>
              <a:rPr lang="en-US" sz="1600">
                <a:solidFill>
                  <a:srgbClr val="333399"/>
                </a:solidFill>
              </a:rPr>
              <a:t>                                3          0.373</a:t>
            </a:r>
          </a:p>
          <a:p>
            <a:pPr>
              <a:lnSpc>
                <a:spcPct val="130000"/>
              </a:lnSpc>
            </a:pPr>
            <a:r>
              <a:rPr lang="en-US" sz="1600">
                <a:solidFill>
                  <a:srgbClr val="333399"/>
                </a:solidFill>
              </a:rPr>
              <a:t>                                4          0.551</a:t>
            </a:r>
          </a:p>
          <a:p>
            <a:pPr>
              <a:lnSpc>
                <a:spcPct val="130000"/>
              </a:lnSpc>
            </a:pPr>
            <a:r>
              <a:rPr lang="en-US" sz="1600">
                <a:solidFill>
                  <a:srgbClr val="333399"/>
                </a:solidFill>
              </a:rPr>
              <a:t>                                5          0.695</a:t>
            </a:r>
          </a:p>
          <a:p>
            <a:pPr>
              <a:lnSpc>
                <a:spcPct val="130000"/>
              </a:lnSpc>
            </a:pPr>
            <a:r>
              <a:rPr lang="en-US" sz="1600">
                <a:solidFill>
                  <a:srgbClr val="333399"/>
                </a:solidFill>
              </a:rPr>
              <a:t>                                6          0.802</a:t>
            </a:r>
          </a:p>
          <a:p>
            <a:pPr>
              <a:lnSpc>
                <a:spcPct val="130000"/>
              </a:lnSpc>
            </a:pPr>
            <a:r>
              <a:rPr lang="en-US" sz="1600">
                <a:solidFill>
                  <a:srgbClr val="333399"/>
                </a:solidFill>
              </a:rPr>
              <a:t>                                7          0.876</a:t>
            </a:r>
          </a:p>
          <a:p>
            <a:pPr>
              <a:lnSpc>
                <a:spcPct val="130000"/>
              </a:lnSpc>
            </a:pPr>
            <a:r>
              <a:rPr lang="en-US" sz="1600">
                <a:solidFill>
                  <a:srgbClr val="333399"/>
                </a:solidFill>
              </a:rPr>
              <a:t>                                8          0.925</a:t>
            </a:r>
          </a:p>
        </p:txBody>
      </p:sp>
      <p:sp>
        <p:nvSpPr>
          <p:cNvPr id="119812" name="Text Box 5"/>
          <p:cNvSpPr txBox="1">
            <a:spLocks noChangeArrowheads="1"/>
          </p:cNvSpPr>
          <p:nvPr/>
        </p:nvSpPr>
        <p:spPr bwMode="auto">
          <a:xfrm>
            <a:off x="228600" y="1447800"/>
            <a:ext cx="4283075" cy="2397125"/>
          </a:xfrm>
          <a:prstGeom prst="rect">
            <a:avLst/>
          </a:prstGeom>
          <a:noFill/>
          <a:ln w="9525">
            <a:noFill/>
            <a:miter lim="800000"/>
            <a:headEnd/>
            <a:tailEnd/>
          </a:ln>
        </p:spPr>
        <p:txBody>
          <a:bodyPr>
            <a:spAutoFit/>
          </a:bodyPr>
          <a:lstStyle/>
          <a:p>
            <a:pPr>
              <a:lnSpc>
                <a:spcPct val="140000"/>
              </a:lnSpc>
            </a:pPr>
            <a:r>
              <a:rPr lang="en-US" sz="1800"/>
              <a:t>If we anticipated a gradual decrease of seedling length for increasing amounts of nematodes in the pots and would consider gradual changes of 1 mm on average to be important enough to be reported in a scientific journal…</a:t>
            </a:r>
          </a:p>
        </p:txBody>
      </p:sp>
      <p:sp>
        <p:nvSpPr>
          <p:cNvPr id="119813" name="Line 6"/>
          <p:cNvSpPr>
            <a:spLocks noChangeShapeType="1"/>
          </p:cNvSpPr>
          <p:nvPr/>
        </p:nvSpPr>
        <p:spPr bwMode="auto">
          <a:xfrm>
            <a:off x="4419600" y="2895600"/>
            <a:ext cx="838200" cy="0"/>
          </a:xfrm>
          <a:prstGeom prst="line">
            <a:avLst/>
          </a:prstGeom>
          <a:noFill/>
          <a:ln w="38100">
            <a:solidFill>
              <a:schemeClr val="tx1"/>
            </a:solidFill>
            <a:round/>
            <a:headEnd/>
            <a:tailEnd type="triangle" w="med" len="med"/>
          </a:ln>
        </p:spPr>
        <p:txBody>
          <a:bodyPr/>
          <a:lstStyle/>
          <a:p>
            <a:endParaRPr lang="en-US"/>
          </a:p>
        </p:txBody>
      </p:sp>
      <p:sp>
        <p:nvSpPr>
          <p:cNvPr id="119814" name="Text Box 7"/>
          <p:cNvSpPr txBox="1">
            <a:spLocks noChangeArrowheads="1"/>
          </p:cNvSpPr>
          <p:nvPr/>
        </p:nvSpPr>
        <p:spPr bwMode="auto">
          <a:xfrm>
            <a:off x="228600" y="4522788"/>
            <a:ext cx="4283075" cy="2012950"/>
          </a:xfrm>
          <a:prstGeom prst="rect">
            <a:avLst/>
          </a:prstGeom>
          <a:noFill/>
          <a:ln w="9525">
            <a:noFill/>
            <a:miter lim="800000"/>
            <a:headEnd/>
            <a:tailEnd/>
          </a:ln>
        </p:spPr>
        <p:txBody>
          <a:bodyPr>
            <a:spAutoFit/>
          </a:bodyPr>
          <a:lstStyle/>
          <a:p>
            <a:pPr>
              <a:lnSpc>
                <a:spcPct val="140000"/>
              </a:lnSpc>
            </a:pPr>
            <a:r>
              <a:rPr lang="en-US" sz="1800"/>
              <a:t>…then we would reach a power of 80% or more when using six pots or more for each condition. </a:t>
            </a:r>
          </a:p>
          <a:p>
            <a:pPr>
              <a:lnSpc>
                <a:spcPct val="140000"/>
              </a:lnSpc>
            </a:pPr>
            <a:r>
              <a:rPr lang="en-US" sz="1800"/>
              <a:t>(Four pots per condition would only bring a power of 55%.)</a:t>
            </a:r>
          </a:p>
        </p:txBody>
      </p:sp>
      <p:sp>
        <p:nvSpPr>
          <p:cNvPr id="119815" name="Line 8"/>
          <p:cNvSpPr>
            <a:spLocks noChangeShapeType="1"/>
          </p:cNvSpPr>
          <p:nvPr/>
        </p:nvSpPr>
        <p:spPr bwMode="auto">
          <a:xfrm>
            <a:off x="4419600" y="5638800"/>
            <a:ext cx="838200" cy="0"/>
          </a:xfrm>
          <a:prstGeom prst="line">
            <a:avLst/>
          </a:prstGeom>
          <a:noFill/>
          <a:ln w="38100">
            <a:solidFill>
              <a:schemeClr val="tx1"/>
            </a:solidFill>
            <a:round/>
            <a:headEnd/>
            <a:tailEnd type="triangle" w="med" len="med"/>
          </a:ln>
        </p:spPr>
        <p:txBody>
          <a:bodyPr/>
          <a:lstStyle/>
          <a:p>
            <a:endParaRPr lang="en-US"/>
          </a:p>
        </p:txBody>
      </p:sp>
      <p:sp>
        <p:nvSpPr>
          <p:cNvPr id="119816" name="Rectangle 9"/>
          <p:cNvSpPr>
            <a:spLocks noChangeArrowheads="1"/>
          </p:cNvSpPr>
          <p:nvPr/>
        </p:nvSpPr>
        <p:spPr bwMode="auto">
          <a:xfrm>
            <a:off x="4902200" y="1752600"/>
            <a:ext cx="2590800" cy="228600"/>
          </a:xfrm>
          <a:prstGeom prst="rect">
            <a:avLst/>
          </a:prstGeom>
          <a:noFill/>
          <a:ln w="28575">
            <a:solidFill>
              <a:schemeClr val="tx1"/>
            </a:solidFill>
            <a:miter lim="800000"/>
            <a:headEnd/>
            <a:tailEnd/>
          </a:ln>
        </p:spPr>
        <p:txBody>
          <a:bodyPr wrap="none" anchor="ctr"/>
          <a:lstStyle/>
          <a:p>
            <a:endParaRPr lang="en-US" sz="1800"/>
          </a:p>
        </p:txBody>
      </p:sp>
      <p:sp>
        <p:nvSpPr>
          <p:cNvPr id="119817" name="Text Box 10"/>
          <p:cNvSpPr txBox="1">
            <a:spLocks noChangeArrowheads="1"/>
          </p:cNvSpPr>
          <p:nvPr/>
        </p:nvSpPr>
        <p:spPr bwMode="auto">
          <a:xfrm>
            <a:off x="7477125" y="1662113"/>
            <a:ext cx="1047750" cy="366712"/>
          </a:xfrm>
          <a:prstGeom prst="rect">
            <a:avLst/>
          </a:prstGeom>
          <a:noFill/>
          <a:ln w="9525">
            <a:noFill/>
            <a:miter lim="800000"/>
            <a:headEnd/>
            <a:tailEnd/>
          </a:ln>
        </p:spPr>
        <p:txBody>
          <a:bodyPr wrap="none">
            <a:spAutoFit/>
          </a:bodyPr>
          <a:lstStyle/>
          <a:p>
            <a:r>
              <a:rPr lang="en-US" sz="1800"/>
              <a:t>guessed</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p:cNvSpPr>
            <a:spLocks noGrp="1" noChangeArrowheads="1"/>
          </p:cNvSpPr>
          <p:nvPr>
            <p:ph type="title" sz="quarter"/>
          </p:nvPr>
        </p:nvSpPr>
        <p:spPr/>
        <p:txBody>
          <a:bodyPr/>
          <a:lstStyle/>
          <a:p>
            <a:pPr eaLnBrk="1" hangingPunct="1"/>
            <a:r>
              <a:rPr lang="en-US" sz="2400" b="1" smtClean="0">
                <a:solidFill>
                  <a:srgbClr val="333399"/>
                </a:solidFill>
                <a:ea typeface="ＭＳ Ｐゴシック"/>
                <a:cs typeface="ＭＳ Ｐゴシック"/>
              </a:rPr>
              <a:t>Systat: Power analysis</a:t>
            </a:r>
          </a:p>
        </p:txBody>
      </p:sp>
      <p:pic>
        <p:nvPicPr>
          <p:cNvPr id="121858" name="Picture 3"/>
          <p:cNvPicPr>
            <a:picLocks noChangeAspect="1" noChangeArrowheads="1"/>
          </p:cNvPicPr>
          <p:nvPr/>
        </p:nvPicPr>
        <p:blipFill>
          <a:blip r:embed="rId3"/>
          <a:srcRect l="14572" t="15215" r="1071" b="10286"/>
          <a:stretch>
            <a:fillRect/>
          </a:stretch>
        </p:blipFill>
        <p:spPr bwMode="auto">
          <a:xfrm>
            <a:off x="7537450" y="152400"/>
            <a:ext cx="1454150" cy="1284288"/>
          </a:xfrm>
          <a:prstGeom prst="rect">
            <a:avLst/>
          </a:prstGeom>
          <a:noFill/>
          <a:ln w="9525">
            <a:noFill/>
            <a:miter lim="800000"/>
            <a:headEnd/>
            <a:tailEnd/>
          </a:ln>
        </p:spPr>
      </p:pic>
      <p:sp>
        <p:nvSpPr>
          <p:cNvPr id="121859" name="Text Box 4"/>
          <p:cNvSpPr txBox="1">
            <a:spLocks noChangeArrowheads="1"/>
          </p:cNvSpPr>
          <p:nvPr/>
        </p:nvSpPr>
        <p:spPr bwMode="auto">
          <a:xfrm>
            <a:off x="4038600" y="631825"/>
            <a:ext cx="4953000" cy="5846763"/>
          </a:xfrm>
          <a:prstGeom prst="rect">
            <a:avLst/>
          </a:prstGeom>
          <a:noFill/>
          <a:ln w="9525">
            <a:noFill/>
            <a:miter lim="800000"/>
            <a:headEnd/>
            <a:tailEnd/>
          </a:ln>
        </p:spPr>
        <p:txBody>
          <a:bodyPr>
            <a:spAutoFit/>
          </a:bodyPr>
          <a:lstStyle/>
          <a:p>
            <a:pPr>
              <a:lnSpc>
                <a:spcPct val="140000"/>
              </a:lnSpc>
            </a:pPr>
            <a:r>
              <a:rPr lang="en-US" sz="1600">
                <a:solidFill>
                  <a:srgbClr val="333399"/>
                </a:solidFill>
              </a:rPr>
              <a:t>                              Alpha =        0.05</a:t>
            </a:r>
          </a:p>
          <a:p>
            <a:pPr>
              <a:lnSpc>
                <a:spcPct val="140000"/>
              </a:lnSpc>
            </a:pPr>
            <a:r>
              <a:rPr lang="en-US" sz="1600">
                <a:solidFill>
                  <a:srgbClr val="333399"/>
                </a:solidFill>
              </a:rPr>
              <a:t>                             Power =        0.80</a:t>
            </a:r>
          </a:p>
          <a:p>
            <a:pPr>
              <a:lnSpc>
                <a:spcPct val="140000"/>
              </a:lnSpc>
            </a:pPr>
            <a:r>
              <a:rPr lang="en-US" sz="1600">
                <a:solidFill>
                  <a:srgbClr val="333399"/>
                </a:solidFill>
              </a:rPr>
              <a:t>                             Model =      One-way</a:t>
            </a:r>
          </a:p>
          <a:p>
            <a:pPr>
              <a:lnSpc>
                <a:spcPct val="140000"/>
              </a:lnSpc>
            </a:pPr>
            <a:r>
              <a:rPr lang="en-US" sz="1600">
                <a:solidFill>
                  <a:srgbClr val="333399"/>
                </a:solidFill>
              </a:rPr>
              <a:t>          Number of groups =            4</a:t>
            </a:r>
          </a:p>
          <a:p>
            <a:pPr>
              <a:lnSpc>
                <a:spcPct val="140000"/>
              </a:lnSpc>
            </a:pPr>
            <a:r>
              <a:rPr lang="en-US" sz="1600">
                <a:solidFill>
                  <a:srgbClr val="333399"/>
                </a:solidFill>
              </a:rPr>
              <a:t>                 Within cell S.D. =        1.7</a:t>
            </a:r>
          </a:p>
          <a:p>
            <a:pPr>
              <a:lnSpc>
                <a:spcPct val="140000"/>
              </a:lnSpc>
            </a:pPr>
            <a:r>
              <a:rPr lang="en-US" sz="1600">
                <a:solidFill>
                  <a:srgbClr val="333399"/>
                </a:solidFill>
              </a:rPr>
              <a:t>                          Mean(01) =        6.0</a:t>
            </a:r>
          </a:p>
          <a:p>
            <a:pPr>
              <a:lnSpc>
                <a:spcPct val="140000"/>
              </a:lnSpc>
            </a:pPr>
            <a:r>
              <a:rPr lang="en-US" sz="1600">
                <a:solidFill>
                  <a:srgbClr val="333399"/>
                </a:solidFill>
              </a:rPr>
              <a:t>                          Mean(02) =        6.0</a:t>
            </a:r>
          </a:p>
          <a:p>
            <a:pPr>
              <a:lnSpc>
                <a:spcPct val="140000"/>
              </a:lnSpc>
            </a:pPr>
            <a:r>
              <a:rPr lang="en-US" sz="1600">
                <a:solidFill>
                  <a:srgbClr val="333399"/>
                </a:solidFill>
              </a:rPr>
              <a:t>                          Mean(03) =       10.0</a:t>
            </a:r>
          </a:p>
          <a:p>
            <a:pPr>
              <a:lnSpc>
                <a:spcPct val="140000"/>
              </a:lnSpc>
            </a:pPr>
            <a:r>
              <a:rPr lang="en-US" sz="1600">
                <a:solidFill>
                  <a:srgbClr val="333399"/>
                </a:solidFill>
              </a:rPr>
              <a:t>                          Mean(04) =       10.0</a:t>
            </a:r>
          </a:p>
          <a:p>
            <a:pPr>
              <a:lnSpc>
                <a:spcPct val="140000"/>
              </a:lnSpc>
            </a:pPr>
            <a:r>
              <a:rPr lang="en-US" sz="1600">
                <a:solidFill>
                  <a:srgbClr val="333399"/>
                </a:solidFill>
              </a:rPr>
              <a:t>                         Effect size =        1.176</a:t>
            </a:r>
          </a:p>
          <a:p>
            <a:pPr>
              <a:lnSpc>
                <a:spcPct val="140000"/>
              </a:lnSpc>
            </a:pPr>
            <a:r>
              <a:rPr lang="en-US" sz="1600">
                <a:solidFill>
                  <a:srgbClr val="333399"/>
                </a:solidFill>
              </a:rPr>
              <a:t>   Noncentrality parameter =        5.536 * sample size</a:t>
            </a:r>
          </a:p>
          <a:p>
            <a:pPr>
              <a:lnSpc>
                <a:spcPct val="140000"/>
              </a:lnSpc>
            </a:pPr>
            <a:r>
              <a:rPr lang="en-US" sz="1600">
                <a:solidFill>
                  <a:srgbClr val="333399"/>
                </a:solidFill>
              </a:rPr>
              <a:t>                 SAMPLE SIZE   POWER</a:t>
            </a:r>
          </a:p>
          <a:p>
            <a:pPr>
              <a:lnSpc>
                <a:spcPct val="110000"/>
              </a:lnSpc>
            </a:pPr>
            <a:r>
              <a:rPr lang="en-US" sz="1600">
                <a:solidFill>
                  <a:srgbClr val="333399"/>
                </a:solidFill>
              </a:rPr>
              <a:t>                          (per cell)</a:t>
            </a:r>
          </a:p>
          <a:p>
            <a:pPr>
              <a:lnSpc>
                <a:spcPct val="140000"/>
              </a:lnSpc>
            </a:pPr>
            <a:r>
              <a:rPr lang="en-US" sz="1600">
                <a:solidFill>
                  <a:srgbClr val="333399"/>
                </a:solidFill>
              </a:rPr>
              <a:t>                                2          0.394</a:t>
            </a:r>
          </a:p>
          <a:p>
            <a:pPr>
              <a:lnSpc>
                <a:spcPct val="140000"/>
              </a:lnSpc>
            </a:pPr>
            <a:r>
              <a:rPr lang="en-US" sz="1600">
                <a:solidFill>
                  <a:srgbClr val="333399"/>
                </a:solidFill>
              </a:rPr>
              <a:t>                                3          0.766</a:t>
            </a:r>
          </a:p>
          <a:p>
            <a:pPr>
              <a:lnSpc>
                <a:spcPct val="140000"/>
              </a:lnSpc>
            </a:pPr>
            <a:r>
              <a:rPr lang="en-US" sz="1600">
                <a:solidFill>
                  <a:srgbClr val="333399"/>
                </a:solidFill>
              </a:rPr>
              <a:t>                                4          0.931</a:t>
            </a:r>
          </a:p>
          <a:p>
            <a:pPr>
              <a:lnSpc>
                <a:spcPct val="140000"/>
              </a:lnSpc>
            </a:pPr>
            <a:r>
              <a:rPr lang="en-US" sz="1600">
                <a:solidFill>
                  <a:srgbClr val="333399"/>
                </a:solidFill>
              </a:rPr>
              <a:t>                 Total sample size = 16 </a:t>
            </a:r>
          </a:p>
        </p:txBody>
      </p:sp>
      <p:sp>
        <p:nvSpPr>
          <p:cNvPr id="121860" name="Text Box 5"/>
          <p:cNvSpPr txBox="1">
            <a:spLocks noChangeArrowheads="1"/>
          </p:cNvSpPr>
          <p:nvPr/>
        </p:nvSpPr>
        <p:spPr bwMode="auto">
          <a:xfrm>
            <a:off x="228600" y="1806575"/>
            <a:ext cx="4283075" cy="2155825"/>
          </a:xfrm>
          <a:prstGeom prst="rect">
            <a:avLst/>
          </a:prstGeom>
          <a:noFill/>
          <a:ln w="9525">
            <a:noFill/>
            <a:miter lim="800000"/>
            <a:headEnd/>
            <a:tailEnd/>
          </a:ln>
        </p:spPr>
        <p:txBody>
          <a:bodyPr>
            <a:spAutoFit/>
          </a:bodyPr>
          <a:lstStyle/>
          <a:p>
            <a:pPr>
              <a:lnSpc>
                <a:spcPct val="150000"/>
              </a:lnSpc>
            </a:pPr>
            <a:r>
              <a:rPr lang="en-US" sz="1800"/>
              <a:t>If we anticipated that only large amounts of nematodes in the pots would lead to substantially shorter seedling lengths and would consider step changes of 4 mm on average an important effect… </a:t>
            </a:r>
          </a:p>
        </p:txBody>
      </p:sp>
      <p:sp>
        <p:nvSpPr>
          <p:cNvPr id="121861" name="Line 6"/>
          <p:cNvSpPr>
            <a:spLocks noChangeShapeType="1"/>
          </p:cNvSpPr>
          <p:nvPr/>
        </p:nvSpPr>
        <p:spPr bwMode="auto">
          <a:xfrm>
            <a:off x="4419600" y="3048000"/>
            <a:ext cx="838200" cy="0"/>
          </a:xfrm>
          <a:prstGeom prst="line">
            <a:avLst/>
          </a:prstGeom>
          <a:noFill/>
          <a:ln w="38100">
            <a:solidFill>
              <a:schemeClr val="tx1"/>
            </a:solidFill>
            <a:round/>
            <a:headEnd/>
            <a:tailEnd type="triangle" w="med" len="med"/>
          </a:ln>
        </p:spPr>
        <p:txBody>
          <a:bodyPr/>
          <a:lstStyle/>
          <a:p>
            <a:endParaRPr lang="en-US"/>
          </a:p>
        </p:txBody>
      </p:sp>
      <p:sp>
        <p:nvSpPr>
          <p:cNvPr id="121862" name="Text Box 7"/>
          <p:cNvSpPr txBox="1">
            <a:spLocks noChangeArrowheads="1"/>
          </p:cNvSpPr>
          <p:nvPr/>
        </p:nvSpPr>
        <p:spPr bwMode="auto">
          <a:xfrm>
            <a:off x="228600" y="4848225"/>
            <a:ext cx="4283075" cy="1628775"/>
          </a:xfrm>
          <a:prstGeom prst="rect">
            <a:avLst/>
          </a:prstGeom>
          <a:noFill/>
          <a:ln w="9525">
            <a:noFill/>
            <a:miter lim="800000"/>
            <a:headEnd/>
            <a:tailEnd/>
          </a:ln>
        </p:spPr>
        <p:txBody>
          <a:bodyPr>
            <a:spAutoFit/>
          </a:bodyPr>
          <a:lstStyle/>
          <a:p>
            <a:pPr>
              <a:lnSpc>
                <a:spcPct val="140000"/>
              </a:lnSpc>
            </a:pPr>
            <a:r>
              <a:rPr lang="en-US" sz="1800"/>
              <a:t>…then we would reach a power of 80% or more when using four pots or more in each group (three pots per condition might be close enough though).</a:t>
            </a:r>
          </a:p>
        </p:txBody>
      </p:sp>
      <p:sp>
        <p:nvSpPr>
          <p:cNvPr id="121863" name="Line 8"/>
          <p:cNvSpPr>
            <a:spLocks noChangeShapeType="1"/>
          </p:cNvSpPr>
          <p:nvPr/>
        </p:nvSpPr>
        <p:spPr bwMode="auto">
          <a:xfrm>
            <a:off x="4419600" y="6019800"/>
            <a:ext cx="838200" cy="0"/>
          </a:xfrm>
          <a:prstGeom prst="line">
            <a:avLst/>
          </a:prstGeom>
          <a:noFill/>
          <a:ln w="38100">
            <a:solidFill>
              <a:schemeClr val="tx1"/>
            </a:solidFill>
            <a:round/>
            <a:headEnd/>
            <a:tailEnd type="triangle" w="med" len="med"/>
          </a:ln>
        </p:spPr>
        <p:txBody>
          <a:bodyPr/>
          <a:lstStyle/>
          <a:p>
            <a:endParaRPr lang="en-US"/>
          </a:p>
        </p:txBody>
      </p:sp>
      <p:sp>
        <p:nvSpPr>
          <p:cNvPr id="121864" name="Rectangle 9"/>
          <p:cNvSpPr>
            <a:spLocks noChangeArrowheads="1"/>
          </p:cNvSpPr>
          <p:nvPr/>
        </p:nvSpPr>
        <p:spPr bwMode="auto">
          <a:xfrm>
            <a:off x="5000625" y="2136775"/>
            <a:ext cx="2590800" cy="228600"/>
          </a:xfrm>
          <a:prstGeom prst="rect">
            <a:avLst/>
          </a:prstGeom>
          <a:noFill/>
          <a:ln w="28575">
            <a:solidFill>
              <a:schemeClr val="tx1"/>
            </a:solidFill>
            <a:miter lim="800000"/>
            <a:headEnd/>
            <a:tailEnd/>
          </a:ln>
        </p:spPr>
        <p:txBody>
          <a:bodyPr wrap="none" anchor="ctr"/>
          <a:lstStyle/>
          <a:p>
            <a:endParaRPr lang="en-US" sz="1800"/>
          </a:p>
        </p:txBody>
      </p:sp>
      <p:sp>
        <p:nvSpPr>
          <p:cNvPr id="121865" name="Text Box 10"/>
          <p:cNvSpPr txBox="1">
            <a:spLocks noChangeArrowheads="1"/>
          </p:cNvSpPr>
          <p:nvPr/>
        </p:nvSpPr>
        <p:spPr bwMode="auto">
          <a:xfrm>
            <a:off x="7575550" y="2046288"/>
            <a:ext cx="1047750" cy="366712"/>
          </a:xfrm>
          <a:prstGeom prst="rect">
            <a:avLst/>
          </a:prstGeom>
          <a:noFill/>
          <a:ln w="9525">
            <a:noFill/>
            <a:miter lim="800000"/>
            <a:headEnd/>
            <a:tailEnd/>
          </a:ln>
        </p:spPr>
        <p:txBody>
          <a:bodyPr wrap="none">
            <a:spAutoFit/>
          </a:bodyPr>
          <a:lstStyle/>
          <a:p>
            <a:r>
              <a:rPr lang="en-US" sz="1800"/>
              <a:t>guessed</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algn="ctr"/>
            <a:r>
              <a:rPr lang="en-US" sz="4400" b="1" smtClean="0">
                <a:ea typeface="ＭＳ Ｐゴシック"/>
                <a:cs typeface="ＭＳ Ｐゴシック"/>
              </a:rPr>
              <a:t>Alternate Slides</a:t>
            </a:r>
          </a:p>
        </p:txBody>
      </p:sp>
      <p:sp>
        <p:nvSpPr>
          <p:cNvPr id="126979" name="Rectangle 3"/>
          <p:cNvSpPr>
            <a:spLocks noGrp="1" noChangeArrowheads="1"/>
          </p:cNvSpPr>
          <p:nvPr>
            <p:ph type="body" idx="1"/>
          </p:nvPr>
        </p:nvSpPr>
        <p:spPr/>
        <p:txBody>
          <a:bodyPr/>
          <a:lstStyle/>
          <a:p>
            <a:pPr algn="ctr">
              <a:buFont typeface="Wingdings" pitchFamily="2" charset="2"/>
              <a:buNone/>
            </a:pPr>
            <a:endParaRPr lang="en-US" b="1" smtClean="0">
              <a:solidFill>
                <a:srgbClr val="CC3300"/>
              </a:solidFill>
              <a:latin typeface="Garamond" pitchFamily="18" charset="0"/>
              <a:ea typeface="ＭＳ Ｐゴシック"/>
              <a:cs typeface="ＭＳ Ｐゴシック"/>
            </a:endParaRPr>
          </a:p>
          <a:p>
            <a:pPr algn="ctr">
              <a:buFont typeface="Wingdings" pitchFamily="2" charset="2"/>
              <a:buNone/>
            </a:pPr>
            <a:endParaRPr lang="en-US" b="1" smtClean="0">
              <a:solidFill>
                <a:srgbClr val="CC3300"/>
              </a:solidFill>
              <a:latin typeface="Garamond" pitchFamily="18" charset="0"/>
              <a:ea typeface="ＭＳ Ｐゴシック"/>
              <a:cs typeface="ＭＳ Ｐゴシック"/>
            </a:endParaRPr>
          </a:p>
          <a:p>
            <a:pPr algn="ctr">
              <a:buFont typeface="Wingdings" pitchFamily="2" charset="2"/>
              <a:buNone/>
            </a:pPr>
            <a:endParaRPr lang="en-US" b="1" smtClean="0">
              <a:solidFill>
                <a:srgbClr val="CC3300"/>
              </a:solidFill>
              <a:latin typeface="Garamond" pitchFamily="18" charset="0"/>
              <a:ea typeface="ＭＳ Ｐゴシック"/>
              <a:cs typeface="ＭＳ Ｐゴシック"/>
            </a:endParaRPr>
          </a:p>
          <a:p>
            <a:pPr algn="ctr">
              <a:buFont typeface="Wingdings" pitchFamily="2" charset="2"/>
              <a:buNone/>
            </a:pPr>
            <a:r>
              <a:rPr lang="en-US" sz="3000" b="1" smtClean="0">
                <a:solidFill>
                  <a:srgbClr val="CC3300"/>
                </a:solidFill>
                <a:latin typeface="Garamond" pitchFamily="18" charset="0"/>
                <a:ea typeface="ＭＳ Ｐゴシック"/>
                <a:cs typeface="ＭＳ Ｐゴシック"/>
              </a:rPr>
              <a:t>The following slides offer alternate software output data and examples for this presentation.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p:cNvSpPr>
            <a:spLocks noGrp="1" noChangeArrowheads="1"/>
          </p:cNvSpPr>
          <p:nvPr>
            <p:ph type="title" idx="4294967295"/>
          </p:nvPr>
        </p:nvSpPr>
        <p:spPr>
          <a:xfrm>
            <a:off x="771525" y="228600"/>
            <a:ext cx="6492875" cy="533400"/>
          </a:xfrm>
        </p:spPr>
        <p:txBody>
          <a:bodyPr/>
          <a:lstStyle/>
          <a:p>
            <a:pPr eaLnBrk="1" hangingPunct="1"/>
            <a:r>
              <a:rPr lang="en-US" sz="1800" b="1" i="1" smtClean="0">
                <a:solidFill>
                  <a:schemeClr val="tx1"/>
                </a:solidFill>
                <a:latin typeface="Arial" charset="0"/>
                <a:ea typeface="ＭＳ Ｐゴシック"/>
                <a:cs typeface="ＭＳ Ｐゴシック"/>
              </a:rPr>
              <a:t>JMP</a:t>
            </a:r>
            <a:r>
              <a:rPr lang="en-US" sz="1800" b="1" smtClean="0">
                <a:solidFill>
                  <a:schemeClr val="tx1"/>
                </a:solidFill>
                <a:latin typeface="Arial" charset="0"/>
                <a:ea typeface="ＭＳ Ｐゴシック"/>
                <a:cs typeface="ＭＳ Ｐゴシック"/>
              </a:rPr>
              <a:t> output for the one-way ANOVA</a:t>
            </a:r>
          </a:p>
        </p:txBody>
      </p:sp>
      <p:pic>
        <p:nvPicPr>
          <p:cNvPr id="129027" name="Picture 5"/>
          <p:cNvPicPr>
            <a:picLocks noChangeAspect="1" noChangeArrowheads="1"/>
          </p:cNvPicPr>
          <p:nvPr/>
        </p:nvPicPr>
        <p:blipFill>
          <a:blip r:embed="rId3"/>
          <a:srcRect l="14476" t="15208" r="1108" b="10341"/>
          <a:stretch>
            <a:fillRect/>
          </a:stretch>
        </p:blipFill>
        <p:spPr bwMode="auto">
          <a:xfrm>
            <a:off x="7620000" y="76200"/>
            <a:ext cx="1447800" cy="1276350"/>
          </a:xfrm>
          <a:prstGeom prst="rect">
            <a:avLst/>
          </a:prstGeom>
          <a:noFill/>
          <a:ln w="9525">
            <a:noFill/>
            <a:miter lim="800000"/>
            <a:headEnd/>
            <a:tailEnd/>
          </a:ln>
        </p:spPr>
      </p:pic>
      <p:sp>
        <p:nvSpPr>
          <p:cNvPr id="129028" name="Text Box 6"/>
          <p:cNvSpPr txBox="1">
            <a:spLocks noChangeArrowheads="1"/>
          </p:cNvSpPr>
          <p:nvPr/>
        </p:nvSpPr>
        <p:spPr bwMode="auto">
          <a:xfrm>
            <a:off x="739775" y="3733800"/>
            <a:ext cx="7947025" cy="2654300"/>
          </a:xfrm>
          <a:prstGeom prst="rect">
            <a:avLst/>
          </a:prstGeom>
          <a:noFill/>
          <a:ln w="9525">
            <a:noFill/>
            <a:miter lim="800000"/>
            <a:headEnd/>
            <a:tailEnd/>
          </a:ln>
        </p:spPr>
        <p:txBody>
          <a:bodyPr>
            <a:spAutoFit/>
          </a:bodyPr>
          <a:lstStyle/>
          <a:p>
            <a:pPr>
              <a:lnSpc>
                <a:spcPct val="170000"/>
              </a:lnSpc>
            </a:pPr>
            <a:r>
              <a:rPr lang="en-US" sz="1800">
                <a:solidFill>
                  <a:srgbClr val="000000"/>
                </a:solidFill>
              </a:rPr>
              <a:t>Here, the calculated F-value (12.08) is larger than F</a:t>
            </a:r>
            <a:r>
              <a:rPr lang="en-US" sz="1800" baseline="-25000">
                <a:solidFill>
                  <a:srgbClr val="000000"/>
                </a:solidFill>
              </a:rPr>
              <a:t>critical</a:t>
            </a:r>
            <a:r>
              <a:rPr lang="en-US" sz="1800">
                <a:solidFill>
                  <a:srgbClr val="000000"/>
                </a:solidFill>
              </a:rPr>
              <a:t> (3.49) for </a:t>
            </a:r>
            <a:r>
              <a:rPr lang="en-US" sz="1800" i="1">
                <a:solidFill>
                  <a:srgbClr val="000000"/>
                </a:solidFill>
                <a:latin typeface="Symbol" pitchFamily="18" charset="2"/>
              </a:rPr>
              <a:t>a</a:t>
            </a:r>
            <a:r>
              <a:rPr lang="en-US" sz="1800">
                <a:solidFill>
                  <a:srgbClr val="000000"/>
                </a:solidFill>
              </a:rPr>
              <a:t> = 0.05.</a:t>
            </a:r>
          </a:p>
          <a:p>
            <a:pPr>
              <a:lnSpc>
                <a:spcPct val="170000"/>
              </a:lnSpc>
              <a:spcAft>
                <a:spcPts val="1800"/>
              </a:spcAft>
            </a:pPr>
            <a:r>
              <a:rPr lang="en-US" sz="1800">
                <a:solidFill>
                  <a:srgbClr val="000000"/>
                </a:solidFill>
              </a:rPr>
              <a:t>Thus, the test is significant at </a:t>
            </a:r>
            <a:r>
              <a:rPr lang="en-US" sz="1800" i="1">
                <a:solidFill>
                  <a:srgbClr val="000000"/>
                </a:solidFill>
                <a:latin typeface="Symbol" pitchFamily="18" charset="2"/>
              </a:rPr>
              <a:t>a</a:t>
            </a:r>
            <a:r>
              <a:rPr lang="en-US" sz="1800">
                <a:solidFill>
                  <a:srgbClr val="000000"/>
                </a:solidFill>
              </a:rPr>
              <a:t> of 5% </a:t>
            </a:r>
            <a:r>
              <a:rPr lang="en-US" sz="1800">
                <a:solidFill>
                  <a:srgbClr val="000000"/>
                </a:solidFill>
                <a:sym typeface="Wingdings" pitchFamily="2" charset="2"/>
              </a:rPr>
              <a:t> Not all mean seedling lengths are the same; the number of nematodes is an influential factor.</a:t>
            </a:r>
          </a:p>
          <a:p>
            <a:pPr>
              <a:lnSpc>
                <a:spcPct val="170000"/>
              </a:lnSpc>
            </a:pPr>
            <a:r>
              <a:rPr lang="en-US" sz="1800">
                <a:solidFill>
                  <a:srgbClr val="000000"/>
                </a:solidFill>
              </a:rPr>
              <a:t>The </a:t>
            </a:r>
            <a:r>
              <a:rPr lang="en-US" sz="1800" b="1">
                <a:solidFill>
                  <a:srgbClr val="000000"/>
                </a:solidFill>
              </a:rPr>
              <a:t>ANOVA</a:t>
            </a:r>
            <a:r>
              <a:rPr lang="en-US" sz="1800">
                <a:solidFill>
                  <a:srgbClr val="000000"/>
                </a:solidFill>
              </a:rPr>
              <a:t> found that the amount of nematodes in pots significantly impacts seedling growth.</a:t>
            </a:r>
          </a:p>
        </p:txBody>
      </p:sp>
      <p:pic>
        <p:nvPicPr>
          <p:cNvPr id="129029" name="Picture 6"/>
          <p:cNvPicPr>
            <a:picLocks noChangeAspect="1"/>
          </p:cNvPicPr>
          <p:nvPr/>
        </p:nvPicPr>
        <p:blipFill>
          <a:blip r:embed="rId4"/>
          <a:srcRect/>
          <a:stretch>
            <a:fillRect/>
          </a:stretch>
        </p:blipFill>
        <p:spPr bwMode="auto">
          <a:xfrm>
            <a:off x="1314450" y="2438400"/>
            <a:ext cx="7404100" cy="1263650"/>
          </a:xfrm>
          <a:prstGeom prst="rect">
            <a:avLst/>
          </a:prstGeom>
          <a:noFill/>
          <a:ln w="9525">
            <a:noFill/>
            <a:miter lim="800000"/>
            <a:headEnd/>
            <a:tailEnd/>
          </a:ln>
        </p:spPr>
      </p:pic>
      <p:pic>
        <p:nvPicPr>
          <p:cNvPr id="129030" name="Picture 7"/>
          <p:cNvPicPr>
            <a:picLocks noChangeAspect="1"/>
          </p:cNvPicPr>
          <p:nvPr/>
        </p:nvPicPr>
        <p:blipFill>
          <a:blip r:embed="rId5"/>
          <a:srcRect/>
          <a:stretch>
            <a:fillRect/>
          </a:stretch>
        </p:blipFill>
        <p:spPr bwMode="auto">
          <a:xfrm>
            <a:off x="762000" y="609600"/>
            <a:ext cx="6856413" cy="1319213"/>
          </a:xfrm>
          <a:prstGeom prst="rect">
            <a:avLst/>
          </a:prstGeom>
          <a:noFill/>
          <a:ln w="9525">
            <a:noFill/>
            <a:miter lim="800000"/>
            <a:headEnd/>
            <a:tailEnd/>
          </a:ln>
        </p:spPr>
      </p:pic>
      <p:sp>
        <p:nvSpPr>
          <p:cNvPr id="129031" name="Text Box 4"/>
          <p:cNvSpPr txBox="1">
            <a:spLocks noChangeArrowheads="1"/>
          </p:cNvSpPr>
          <p:nvPr/>
        </p:nvSpPr>
        <p:spPr bwMode="auto">
          <a:xfrm>
            <a:off x="144463" y="2952750"/>
            <a:ext cx="1262062" cy="517525"/>
          </a:xfrm>
          <a:prstGeom prst="rect">
            <a:avLst/>
          </a:prstGeom>
          <a:noFill/>
          <a:ln w="9525">
            <a:noFill/>
            <a:miter lim="800000"/>
            <a:headEnd/>
            <a:tailEnd/>
          </a:ln>
        </p:spPr>
        <p:txBody>
          <a:bodyPr wrap="none">
            <a:spAutoFit/>
          </a:bodyPr>
          <a:lstStyle/>
          <a:p>
            <a:pPr algn="r" defTabSz="457200"/>
            <a:r>
              <a:rPr lang="en-US" sz="1400" b="1" i="1"/>
              <a:t>numerator</a:t>
            </a:r>
          </a:p>
          <a:p>
            <a:pPr algn="r" defTabSz="457200"/>
            <a:r>
              <a:rPr lang="en-US" sz="1400" b="1" i="1"/>
              <a:t>denominator</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74" name="Picture 3"/>
          <p:cNvPicPr>
            <a:picLocks noChangeAspect="1" noChangeArrowheads="1"/>
          </p:cNvPicPr>
          <p:nvPr/>
        </p:nvPicPr>
        <p:blipFill>
          <a:blip r:embed="rId4"/>
          <a:srcRect/>
          <a:stretch>
            <a:fillRect/>
          </a:stretch>
        </p:blipFill>
        <p:spPr bwMode="auto">
          <a:xfrm>
            <a:off x="7543800" y="152400"/>
            <a:ext cx="1447800" cy="1276350"/>
          </a:xfrm>
          <a:prstGeom prst="rect">
            <a:avLst/>
          </a:prstGeom>
          <a:noFill/>
          <a:ln w="9525">
            <a:noFill/>
            <a:miter lim="800000"/>
            <a:headEnd/>
            <a:tailEnd/>
          </a:ln>
        </p:spPr>
      </p:pic>
      <p:sp>
        <p:nvSpPr>
          <p:cNvPr id="131075" name="Text Box 4"/>
          <p:cNvSpPr txBox="1">
            <a:spLocks noChangeArrowheads="1"/>
          </p:cNvSpPr>
          <p:nvPr/>
        </p:nvSpPr>
        <p:spPr bwMode="auto">
          <a:xfrm>
            <a:off x="593725" y="284163"/>
            <a:ext cx="784225" cy="461962"/>
          </a:xfrm>
          <a:prstGeom prst="rect">
            <a:avLst/>
          </a:prstGeom>
          <a:noFill/>
          <a:ln w="9525">
            <a:noFill/>
            <a:miter lim="800000"/>
            <a:headEnd/>
            <a:tailEnd/>
          </a:ln>
        </p:spPr>
        <p:txBody>
          <a:bodyPr wrap="none">
            <a:spAutoFit/>
          </a:bodyPr>
          <a:lstStyle/>
          <a:p>
            <a:r>
              <a:rPr lang="en-US" b="1">
                <a:solidFill>
                  <a:srgbClr val="333399"/>
                </a:solidFill>
                <a:latin typeface="Garamond" pitchFamily="18" charset="0"/>
              </a:rPr>
              <a:t>JMP</a:t>
            </a:r>
          </a:p>
        </p:txBody>
      </p:sp>
      <p:pic>
        <p:nvPicPr>
          <p:cNvPr id="131076" name="Picture 5"/>
          <p:cNvPicPr>
            <a:picLocks noChangeAspect="1"/>
          </p:cNvPicPr>
          <p:nvPr/>
        </p:nvPicPr>
        <p:blipFill>
          <a:blip r:embed="rId5"/>
          <a:srcRect/>
          <a:stretch>
            <a:fillRect/>
          </a:stretch>
        </p:blipFill>
        <p:spPr bwMode="auto">
          <a:xfrm>
            <a:off x="1296988" y="234950"/>
            <a:ext cx="6235700" cy="1422400"/>
          </a:xfrm>
          <a:prstGeom prst="rect">
            <a:avLst/>
          </a:prstGeom>
          <a:noFill/>
          <a:ln w="9525">
            <a:noFill/>
            <a:miter lim="800000"/>
            <a:headEnd/>
            <a:tailEnd/>
          </a:ln>
        </p:spPr>
      </p:pic>
      <p:graphicFrame>
        <p:nvGraphicFramePr>
          <p:cNvPr id="131077" name="AutoShape 5"/>
          <p:cNvGraphicFramePr>
            <a:graphicFrameLocks noChangeAspect="1"/>
          </p:cNvGraphicFramePr>
          <p:nvPr/>
        </p:nvGraphicFramePr>
        <p:xfrm>
          <a:off x="850900" y="2151063"/>
          <a:ext cx="7620000" cy="2911475"/>
        </p:xfrm>
        <a:graphic>
          <a:graphicData uri="http://schemas.openxmlformats.org/presentationml/2006/ole">
            <p:oleObj spid="_x0000_s131077" name="Document" r:id="rId6" imgW="0" imgH="0" progId="Word.Document.12">
              <p:link updateAutomatic="1"/>
            </p:oleObj>
          </a:graphicData>
        </a:graphic>
      </p:graphicFrame>
      <p:sp>
        <p:nvSpPr>
          <p:cNvPr id="131078" name="TextBox 7"/>
          <p:cNvSpPr txBox="1">
            <a:spLocks noChangeArrowheads="1"/>
          </p:cNvSpPr>
          <p:nvPr/>
        </p:nvSpPr>
        <p:spPr bwMode="auto">
          <a:xfrm>
            <a:off x="865188" y="5351463"/>
            <a:ext cx="7226300" cy="915987"/>
          </a:xfrm>
          <a:prstGeom prst="rect">
            <a:avLst/>
          </a:prstGeom>
          <a:noFill/>
          <a:ln w="9525">
            <a:noFill/>
            <a:miter lim="800000"/>
            <a:headEnd/>
            <a:tailEnd/>
          </a:ln>
        </p:spPr>
        <p:txBody>
          <a:bodyPr>
            <a:spAutoFit/>
          </a:bodyPr>
          <a:lstStyle/>
          <a:p>
            <a:pPr defTabSz="457200"/>
            <a:r>
              <a:rPr lang="en-US" sz="1800"/>
              <a:t>The </a:t>
            </a:r>
            <a:r>
              <a:rPr lang="en-US" sz="1800">
                <a:solidFill>
                  <a:srgbClr val="000090"/>
                </a:solidFill>
              </a:rPr>
              <a:t>Bonferroni procedure</a:t>
            </a:r>
            <a:r>
              <a:rPr lang="en-US" sz="1800"/>
              <a:t> adjusts the chosen </a:t>
            </a:r>
            <a:r>
              <a:rPr lang="en-US" sz="1800" i="1"/>
              <a:t>experiment wise </a:t>
            </a:r>
            <a:r>
              <a:rPr lang="en-US" sz="1800"/>
              <a:t>significance level </a:t>
            </a:r>
            <a:r>
              <a:rPr lang="en-US" sz="1800" i="1"/>
              <a:t>α</a:t>
            </a:r>
            <a:r>
              <a:rPr lang="en-US" sz="1800"/>
              <a:t> by dividing it by the number of comparisons. </a:t>
            </a:r>
            <a:br>
              <a:rPr lang="en-US" sz="1800"/>
            </a:br>
            <a:r>
              <a:rPr lang="en-US" sz="1800"/>
              <a:t>Here the </a:t>
            </a:r>
            <a:r>
              <a:rPr lang="en-US" sz="1800" i="1"/>
              <a:t>comparison wise </a:t>
            </a:r>
            <a:r>
              <a:rPr lang="en-US" sz="1800"/>
              <a:t>level of </a:t>
            </a:r>
            <a:r>
              <a:rPr lang="en-US" sz="1800" i="1"/>
              <a:t>α</a:t>
            </a:r>
            <a:r>
              <a:rPr lang="en-US" sz="1800"/>
              <a:t> is 0.05/6 = 0.00833.</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Edge</Template>
  <TotalTime>7466</TotalTime>
  <Words>3288</Words>
  <Application>Microsoft Office PowerPoint</Application>
  <PresentationFormat>On-screen Show (4:3)</PresentationFormat>
  <Paragraphs>433</Paragraphs>
  <Slides>48</Slides>
  <Notes>47</Notes>
  <HiddenSlides>0</HiddenSlides>
  <MMClips>0</MMClips>
  <ScaleCrop>false</ScaleCrop>
  <HeadingPairs>
    <vt:vector size="10" baseType="variant">
      <vt:variant>
        <vt:lpstr>Fonts Used</vt:lpstr>
      </vt:variant>
      <vt:variant>
        <vt:i4>8</vt:i4>
      </vt:variant>
      <vt:variant>
        <vt:lpstr>Design Template</vt:lpstr>
      </vt:variant>
      <vt:variant>
        <vt:i4>4</vt:i4>
      </vt:variant>
      <vt:variant>
        <vt:lpstr>Links</vt:lpstr>
      </vt:variant>
      <vt:variant>
        <vt:i4>1</vt:i4>
      </vt:variant>
      <vt:variant>
        <vt:lpstr>Embedded OLE Servers</vt:lpstr>
      </vt:variant>
      <vt:variant>
        <vt:i4>2</vt:i4>
      </vt:variant>
      <vt:variant>
        <vt:lpstr>Slide Titles</vt:lpstr>
      </vt:variant>
      <vt:variant>
        <vt:i4>48</vt:i4>
      </vt:variant>
    </vt:vector>
  </HeadingPairs>
  <TitlesOfParts>
    <vt:vector size="63" baseType="lpstr">
      <vt:lpstr>Arial</vt:lpstr>
      <vt:lpstr>ＭＳ Ｐゴシック</vt:lpstr>
      <vt:lpstr>Garamond</vt:lpstr>
      <vt:lpstr>Wingdings</vt:lpstr>
      <vt:lpstr>Calibri</vt:lpstr>
      <vt:lpstr>Times</vt:lpstr>
      <vt:lpstr>Symbol</vt:lpstr>
      <vt:lpstr>Times New Roman</vt:lpstr>
      <vt:lpstr>Edge</vt:lpstr>
      <vt:lpstr>Office Theme</vt:lpstr>
      <vt:lpstr>Edge</vt:lpstr>
      <vt:lpstr>Office Theme</vt:lpstr>
      <vt:lpstr>???</vt:lpstr>
      <vt:lpstr>Worksheet</vt:lpstr>
      <vt:lpstr>Equation</vt:lpstr>
      <vt:lpstr>One-Way Analysis of Variance</vt:lpstr>
      <vt:lpstr>One-Way ANOVA 12.1 Inference for one-way ANOVA</vt:lpstr>
      <vt:lpstr>Objectives </vt:lpstr>
      <vt:lpstr>The idea of ANOVA</vt:lpstr>
      <vt:lpstr>Comparing means</vt:lpstr>
      <vt:lpstr>Two-sample t statistic</vt:lpstr>
      <vt:lpstr>Slide 7</vt:lpstr>
      <vt:lpstr>Nematodes and plant growth</vt:lpstr>
      <vt:lpstr>The ANOVA model</vt:lpstr>
      <vt:lpstr>Testing hypotheses in one-way ANOVA</vt:lpstr>
      <vt:lpstr>Slide 11</vt:lpstr>
      <vt:lpstr>Checking our assumptions</vt:lpstr>
      <vt:lpstr>Do nematodes affect plant growth?</vt:lpstr>
      <vt:lpstr>Smoking influence on sleep</vt:lpstr>
      <vt:lpstr>Slide 15</vt:lpstr>
      <vt:lpstr>Excel output for the one-way ANOVA</vt:lpstr>
      <vt:lpstr>Slide 17</vt:lpstr>
      <vt:lpstr>Using Table E</vt:lpstr>
      <vt:lpstr>Slide 19</vt:lpstr>
      <vt:lpstr>Slide 20</vt:lpstr>
      <vt:lpstr>Yogurt preparation and taste</vt:lpstr>
      <vt:lpstr>Slide 22</vt:lpstr>
      <vt:lpstr>Computation details</vt:lpstr>
      <vt:lpstr>One-Way ANOVA 12.2 Comparing the Means</vt:lpstr>
      <vt:lpstr>Objectives</vt:lpstr>
      <vt:lpstr>Slide 26</vt:lpstr>
      <vt:lpstr>Slide 27</vt:lpstr>
      <vt:lpstr>Contrasts: planned comparisons </vt:lpstr>
      <vt:lpstr>Slide 29</vt:lpstr>
      <vt:lpstr>Slide 30</vt:lpstr>
      <vt:lpstr>Nematodes and plant growth</vt:lpstr>
      <vt:lpstr>Nematodes: planned comparison</vt:lpstr>
      <vt:lpstr>Slide 33</vt:lpstr>
      <vt:lpstr>Multiple comparisons</vt:lpstr>
      <vt:lpstr>The Bonferroni procedure</vt:lpstr>
      <vt:lpstr>Simultaneous confidence intervals</vt:lpstr>
      <vt:lpstr>Slide 37</vt:lpstr>
      <vt:lpstr>Slide 38</vt:lpstr>
      <vt:lpstr>Slide 39</vt:lpstr>
      <vt:lpstr>Slide 40</vt:lpstr>
      <vt:lpstr>Slide 41</vt:lpstr>
      <vt:lpstr>Power</vt:lpstr>
      <vt:lpstr>Power computations</vt:lpstr>
      <vt:lpstr>Systat: Power analysis</vt:lpstr>
      <vt:lpstr>Systat: Power analysis</vt:lpstr>
      <vt:lpstr>Alternate Slides</vt:lpstr>
      <vt:lpstr>JMP output for the one-way ANOVA</vt:lpstr>
      <vt:lpstr>Slide 48</vt:lpstr>
    </vt:vector>
  </TitlesOfParts>
  <Company>UCI</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Brigitte Baldi</dc:creator>
  <cp:lastModifiedBy>ckaplan</cp:lastModifiedBy>
  <cp:revision>618</cp:revision>
  <cp:lastPrinted>2003-07-12T15:26:38Z</cp:lastPrinted>
  <dcterms:created xsi:type="dcterms:W3CDTF">2010-08-06T16:37:40Z</dcterms:created>
  <dcterms:modified xsi:type="dcterms:W3CDTF">2010-11-24T18:11:06Z</dcterms:modified>
</cp:coreProperties>
</file>